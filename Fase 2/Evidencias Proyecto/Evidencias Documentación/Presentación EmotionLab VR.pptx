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embeddedFontLst>
    <p:embeddedFont>
      <p:font typeface="Barlow Condensed"/>
      <p:regular r:id="rId17"/>
      <p:bold r:id="rId18"/>
      <p:italic r:id="rId19"/>
      <p:boldItalic r:id="rId20"/>
    </p:embeddedFont>
    <p:embeddedFont>
      <p:font typeface="Barlow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Condensed-boldItalic.fntdata"/><Relationship Id="rId11" Type="http://schemas.openxmlformats.org/officeDocument/2006/relationships/slide" Target="slides/slide7.xml"/><Relationship Id="rId22" Type="http://schemas.openxmlformats.org/officeDocument/2006/relationships/font" Target="fonts/Barlow-bold.fntdata"/><Relationship Id="rId10" Type="http://schemas.openxmlformats.org/officeDocument/2006/relationships/slide" Target="slides/slide6.xml"/><Relationship Id="rId21" Type="http://schemas.openxmlformats.org/officeDocument/2006/relationships/font" Target="fonts/Barlow-regular.fntdata"/><Relationship Id="rId13" Type="http://schemas.openxmlformats.org/officeDocument/2006/relationships/slide" Target="slides/slide9.xml"/><Relationship Id="rId24" Type="http://schemas.openxmlformats.org/officeDocument/2006/relationships/font" Target="fonts/Barlow-boldItalic.fntdata"/><Relationship Id="rId12" Type="http://schemas.openxmlformats.org/officeDocument/2006/relationships/slide" Target="slides/slide8.xml"/><Relationship Id="rId23" Type="http://schemas.openxmlformats.org/officeDocument/2006/relationships/font" Target="fonts/Barlow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BarlowCondense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BarlowCondensed-italic.fntdata"/><Relationship Id="rId6" Type="http://schemas.openxmlformats.org/officeDocument/2006/relationships/slide" Target="slides/slide2.xml"/><Relationship Id="rId18" Type="http://schemas.openxmlformats.org/officeDocument/2006/relationships/font" Target="fonts/BarlowCondense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Buenos días. Presentamos EmotionLab, un proyecto CITT de Duoc UC dirigido a colegios de enseñanza media.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251ef2b21077464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h251ef2b21077464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52" name="Google Shape;52;h251ef2b21077464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51ef2b21077464c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h251ef2b21077464c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73" name="Google Shape;73;h251ef2b21077464c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EmotionLab es un espacio seguro para practicar presentaciones y, al mismo tiempo, la fuente de evidencia que el colegio necesita.</a:t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Así vive la sesión un estudiante: sala de espera, respiración, dos escenarios de dificultad creciente y un cierre con grounding.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Durante toda la sesión la aplicación captura telemetría, y la acompañamos con encuestas antes y después.</a:t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datos pasan por un equipo de IA que los procesa y genera insights agregados, nunca individuales.</a:t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resultado llega al psicopedagogo y al docente como un dashboard digerible: del dato a la información.</a:t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Qué gana el colegio y qué ganan los estudiantes.</a:t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Hoy tenemos un prototipo funcional listo para desplegarse en colegios.</a:t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piloto es acotado para el colegio: 20 estudiantes, dos sesiones por semana, un mes.</a:t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952500"/>
            <a:ext cx="133350" cy="419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276350" y="955328"/>
            <a:ext cx="1317546" cy="451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Barlow Condense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DUOC UC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664619" y="984945"/>
            <a:ext cx="2132008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PROYECTO CITT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500" y="3294906"/>
            <a:ext cx="7124700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250"/>
              <a:buFont typeface="Barlow Condensed"/>
              <a:buNone/>
            </a:pPr>
            <a:r>
              <a:rPr b="0" i="0" lang="en-US" sz="22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PROYECTO DE CONTINUIDAD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52500" y="4004518"/>
            <a:ext cx="7124700" cy="129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Barlow Condensed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52500" y="5638949"/>
            <a:ext cx="6475200" cy="1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2700"/>
              <a:buFont typeface="Barlow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52500" y="8950672"/>
            <a:ext cx="179263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EXPERIENCIA VR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039368" y="8950672"/>
            <a:ext cx="1795582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ANÁLISIS CON 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128915" y="8950672"/>
            <a:ext cx="2352362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DASHBOARD DOCENTE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191500" y="0"/>
            <a:ext cx="10096500" cy="10287000"/>
          </a:xfrm>
          <a:prstGeom prst="rect">
            <a:avLst/>
          </a:prstGeom>
          <a:solidFill>
            <a:srgbClr val="7F7F7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 title="Gemini_Generated_Image_jkdjqdjkdjqdjkdj.jpg"/>
          <p:cNvPicPr preferRelativeResize="0"/>
          <p:nvPr/>
        </p:nvPicPr>
        <p:blipFill rotWithShape="1">
          <a:blip r:embed="rId3">
            <a:alphaModFix/>
          </a:blip>
          <a:srcRect b="0" l="32359" r="0" t="0"/>
          <a:stretch/>
        </p:blipFill>
        <p:spPr>
          <a:xfrm>
            <a:off x="8191500" y="2300"/>
            <a:ext cx="12467651" cy="10287000"/>
          </a:xfrm>
          <a:prstGeom prst="rect">
            <a:avLst/>
          </a:prstGeom>
          <a:gradFill>
            <a:gsLst>
              <a:gs pos="0">
                <a:srgbClr val="002A5C">
                  <a:alpha val="87843"/>
                </a:srgbClr>
              </a:gs>
              <a:gs pos="30000">
                <a:srgbClr val="002A5C">
                  <a:alpha val="12157"/>
                </a:srgbClr>
              </a:gs>
              <a:gs pos="55000">
                <a:srgbClr val="002A5C">
                  <a:alpha val="0"/>
                </a:srgbClr>
              </a:gs>
              <a:gs pos="100000">
                <a:srgbClr val="002A5C">
                  <a:alpha val="0"/>
                </a:srgbClr>
              </a:gs>
            </a:gsLst>
            <a:lin ang="0" scaled="0"/>
          </a:gradFill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7200" y="0"/>
            <a:ext cx="10575551" cy="1029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6061085" y="914400"/>
            <a:ext cx="1401857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52500" y="2222153"/>
            <a:ext cx="79629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necesita el colegio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52500" y="3496121"/>
            <a:ext cx="745617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Presentar frente al curso es donde más estudiantes se bloquean.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52500" y="4829621"/>
            <a:ext cx="745617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equipo educativo lo sabe, pero no tiene cómo medirlo ni cómo mostrar que una intervención funcionó.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44000" y="2222153"/>
            <a:ext cx="8191500" cy="208285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534525" y="2593628"/>
            <a:ext cx="815149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534525" y="3110805"/>
            <a:ext cx="7632763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exponerse al curso completo.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44000" y="4647902"/>
            <a:ext cx="8191500" cy="208285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534525" y="5019377"/>
            <a:ext cx="815149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MEDICIÓN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534525" y="5536555"/>
            <a:ext cx="7632763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regulación emocional se evalúa por percepción, no por evidencia.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0" y="7073652"/>
            <a:ext cx="8191500" cy="208285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534525" y="7445127"/>
            <a:ext cx="815149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SEGUIMIENTO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534525" y="7962305"/>
            <a:ext cx="7632763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hay registro comparable entre el inicio y el final del año.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952500" y="1526828"/>
            <a:ext cx="16383000" cy="96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52500" y="953839"/>
            <a:ext cx="9540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219200" y="914400"/>
            <a:ext cx="171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6061085" y="914400"/>
            <a:ext cx="1401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52500" y="1986500"/>
            <a:ext cx="8191500" cy="2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lang="en-US" sz="6600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 de las emociones no reguladas en el aprendizaje 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52500" y="5186052"/>
            <a:ext cx="74562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El aprendizaje es un proceso cognitivo y emocional. Emociones como la ansiedad o el miedo elevan el cortisol y bloquean la atención, la memoria y el rendimiento." (Bueno, 2021; Milicic &amp; Marchant, 2020).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64150" y="7506000"/>
            <a:ext cx="7632900" cy="15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3000"/>
              <a:buFont typeface="Barlow"/>
              <a:buNone/>
            </a:pPr>
            <a:r>
              <a:rPr lang="en-US" sz="2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exposición académica (hablar en público, evaluaciones) dispara hiperactivación emocional y ansiedad en adolescentes, anulando sus funciones ejecutivas en momentos críticos.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144000" y="222215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405800" y="2376600"/>
            <a:ext cx="389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Bloqueo Cognitivo y ansiedad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534525" y="3110805"/>
            <a:ext cx="763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exponerse al curso completo.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0" y="4647902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534525" y="5019377"/>
            <a:ext cx="815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MEDICIÓN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534525" y="5536555"/>
            <a:ext cx="763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regulación emocional se evalúa por percepción, no por evidencia.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144000" y="7073652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534525" y="7445127"/>
            <a:ext cx="815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SEGUIMIENTO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534525" y="7962305"/>
            <a:ext cx="763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hay registro comparable entre el inicio y el final del año.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952500" y="1526828"/>
            <a:ext cx="16383000" cy="96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952500" y="953839"/>
            <a:ext cx="9540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219200" y="914400"/>
            <a:ext cx="171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6061085" y="914400"/>
            <a:ext cx="1401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80850" y="1966925"/>
            <a:ext cx="16926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lang="en-US" sz="6400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 de las emociones no reguladas en el aprendizaje 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52500" y="3106138"/>
            <a:ext cx="16383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El aprendizaje es un proceso cognitivo y emocional. Emociones como la ansiedad o el miedo elevan el cortisol y bloquean la atención, la memoria y el rendimiento." (Bueno, 2021; Milicic &amp; Marchant, 2020).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31575" y="4294600"/>
            <a:ext cx="16926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3000"/>
              <a:buFont typeface="Barlow"/>
              <a:buNone/>
            </a:pPr>
            <a:r>
              <a:rPr lang="en-US" sz="2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exposición académica (hablar en público, evaluaciones) dispara hiperactivación emocional y ansiedad en adolescentes, anulando sus funciones ejecutivas en momentos críticos.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21250" y="567085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80850" y="5670850"/>
            <a:ext cx="389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BLOQUEO COGNITIVO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95350" y="6162138"/>
            <a:ext cx="74433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lang="en-US" sz="24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Exposiciones o evaluaciones disparan ansiedad y miedo al ridículo.</a:t>
            </a:r>
            <a:endParaRPr sz="24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lang="en-US" sz="24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Anula la concentración y la memoria en momentos críticos.</a:t>
            </a:r>
            <a:endParaRPr sz="24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017450" y="567085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277050" y="5670850"/>
            <a:ext cx="389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EVALUACIÓN INVISIBLE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391550" y="6162138"/>
            <a:ext cx="74433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El bienestar emocional se evalúa por intuición o percepción.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El colegio no tiene métricas reales para detectar o prevenir el estrés.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48250" y="820410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307850" y="8204100"/>
            <a:ext cx="5950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 SIN RED DE SEGURIDAD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22350" y="8695388"/>
            <a:ext cx="74433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exponiéndose al juicio del curso completo.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El estudiante prefiere no participar para proteger su autoestima.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952500" y="1526828"/>
            <a:ext cx="16383000" cy="9600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952500" y="953839"/>
            <a:ext cx="9540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219200" y="914400"/>
            <a:ext cx="171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6110347" y="914400"/>
            <a:ext cx="1347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SOLUCIÓN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52500" y="2374553"/>
            <a:ext cx="148782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es EmotionLab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52500" y="3648521"/>
            <a:ext cx="139314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9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3450"/>
              <a:buFont typeface="Barlow"/>
              <a:buNone/>
            </a:pPr>
            <a:r>
              <a:rPr b="0" i="0" lang="en-US" sz="345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Una plataforma de realidad virtual donde el estudiante practica presentar en un entorno seguro, mientras la aplicación registra cómo responde emocionalmente.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952500" y="7014567"/>
            <a:ext cx="16383000" cy="2510400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952500" y="7014567"/>
            <a:ext cx="5448300" cy="25104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333500" y="7433667"/>
            <a:ext cx="5154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4800"/>
              <a:buFont typeface="Barlow Condensed"/>
              <a:buNone/>
            </a:pPr>
            <a:r>
              <a:rPr b="0" i="0" lang="en-US" sz="4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333500" y="8214717"/>
            <a:ext cx="48270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Practica sin exponerse: la audiencia es virtual y la dificultad es graduada.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19850" y="7014567"/>
            <a:ext cx="5448300" cy="25104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800850" y="7433667"/>
            <a:ext cx="5154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4800"/>
              <a:buFont typeface="Barlow Condensed"/>
              <a:buNone/>
            </a:pPr>
            <a:r>
              <a:rPr b="0" i="0" lang="en-US" sz="4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00850" y="8214717"/>
            <a:ext cx="48270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Aprende a regularse: respiración guiada y grounding integrados en la sesión.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1887200" y="7014567"/>
            <a:ext cx="5448300" cy="25104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2268200" y="7433667"/>
            <a:ext cx="5154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4800"/>
              <a:buFont typeface="Barlow Condensed"/>
              <a:buNone/>
            </a:pPr>
            <a:r>
              <a:rPr b="0" i="0" lang="en-US" sz="4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268200" y="8214717"/>
            <a:ext cx="4827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Deja evidencia: el colegio recibe un registro anonimizado del curso.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5704641" y="914400"/>
            <a:ext cx="179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EXPERIENCIA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 sesión del estudiante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952500" y="5780484"/>
            <a:ext cx="16383000" cy="3744516"/>
          </a:xfrm>
          <a:prstGeom prst="rect">
            <a:avLst/>
          </a:prstGeom>
          <a:solidFill>
            <a:srgbClr val="C9CED6"/>
          </a:solidFill>
          <a:ln cap="flat" cmpd="sng" w="9525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962025" y="5790009"/>
            <a:ext cx="3257550" cy="372546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2668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2668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Sala de espera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266825" y="7230070"/>
            <a:ext cx="2727389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Primer registro del estado emocional antes de empezar.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238625" y="5790009"/>
            <a:ext cx="3257550" cy="372546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5434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434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Respiración guiada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43425" y="7230070"/>
            <a:ext cx="2727389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Ejercicio de regulación previo a cada presentación.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7515225" y="5790009"/>
            <a:ext cx="3257550" cy="3725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78200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8200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Escenario 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820025" y="7230070"/>
            <a:ext cx="2727389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Primera presentación, con audiencia reducida.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0791825" y="5790009"/>
            <a:ext cx="3257550" cy="3725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10966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10966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Escenario 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096625" y="7230070"/>
            <a:ext cx="2727389" cy="1904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Segunda presentación, con mayor exigencia. Va precedida de su propia respiración guiada.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4068425" y="5790009"/>
            <a:ext cx="3257550" cy="372546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43732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43732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Cierre y grounding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4373225" y="7230078"/>
            <a:ext cx="2727300" cy="19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Vuelta a la calma y </a:t>
            </a:r>
            <a:r>
              <a:rPr lang="en-US" sz="2100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registro </a:t>
            </a: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del estado emocional. </a:t>
            </a:r>
            <a:r>
              <a:rPr lang="en-US" sz="2100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Gamificación de principio a fin.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6578114" y="914400"/>
            <a:ext cx="83358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captura la plataforma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952500" y="3191321"/>
            <a:ext cx="12753975" cy="10513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52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850"/>
              <a:buFont typeface="Barlow"/>
              <a:buNone/>
            </a:pPr>
            <a:r>
              <a:rPr b="0" i="0" lang="en-US" sz="285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Dos fuentes que se leen juntas: lo que el estudiante hace y lo que el estudiante reporta.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952500" y="6001941"/>
            <a:ext cx="7924800" cy="3523059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419225" y="6468666"/>
            <a:ext cx="769048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DURANTE LA SESIÓN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419225" y="7004893"/>
            <a:ext cx="769048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900"/>
              <a:buFont typeface="Barlow Condensed"/>
              <a:buNone/>
            </a:pPr>
            <a:r>
              <a:rPr b="0" i="0" lang="en-US" sz="39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Telemetría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419225" y="7740104"/>
            <a:ext cx="7201091" cy="13181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895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Decisiones, tiempos de respuesta y patrones de interacción registrados automáticamente en cada escenario.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410700" y="6001941"/>
            <a:ext cx="7924800" cy="3523059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9877425" y="6468666"/>
            <a:ext cx="769048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ANTES Y DESPUÉS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877425" y="7004893"/>
            <a:ext cx="769048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900"/>
              <a:buFont typeface="Barlow Condensed"/>
              <a:buNone/>
            </a:pPr>
            <a:r>
              <a:rPr b="0" i="0" lang="en-US" sz="39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Encuestas pre y post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877425" y="7740104"/>
            <a:ext cx="7201091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895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estudiante reporta su estado al entrar y al salir, lo que permite contrastar percepción con conducta.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3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6203364" y="914400"/>
            <a:ext cx="120833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ANÁLISIS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952500" y="3497163"/>
            <a:ext cx="9953625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Procesamiento con IA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952500" y="4733032"/>
            <a:ext cx="9320213" cy="1657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3150"/>
              <a:buFont typeface="Barlow"/>
              <a:buNone/>
            </a:pPr>
            <a:r>
              <a:rPr b="0" i="0" lang="en-US" sz="315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Un equipo de inteligencia artificial ordena los datos de todas las sesiones y los convierte en insights </a:t>
            </a:r>
            <a:r>
              <a:rPr lang="en-US" sz="3150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amables de entender para el equipo educacional</a:t>
            </a:r>
            <a:r>
              <a:rPr b="0" i="0" lang="en-US" sz="315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952500" y="6657677"/>
            <a:ext cx="9320213" cy="9447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098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Nada se atribuye a un estudiante en particular: el resultado es siempre anonimizado.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049000" y="2774752"/>
            <a:ext cx="6286500" cy="5511998"/>
          </a:xfrm>
          <a:prstGeom prst="rect">
            <a:avLst/>
          </a:prstGeom>
          <a:noFill/>
          <a:ln cap="flat" cmpd="sng" w="9525">
            <a:solidFill>
              <a:srgbClr val="4A6C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1515725" y="3279577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1515725" y="3729038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Telemetría de los escenarios y respuestas de las encuestas.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1515725" y="4894659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1515725" y="5344120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Agrupa, anonimiza y detecta tendencias entre sesiones.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1515725" y="6509742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1515725" y="6959203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Insights listos para leer sin conocimiento técnico.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5915382" y="914400"/>
            <a:ext cx="156213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Del dato a la información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952500" y="3191321"/>
            <a:ext cx="13620750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52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850"/>
              <a:buFont typeface="Barlow"/>
              <a:buNone/>
            </a:pPr>
            <a:r>
              <a:rPr b="0" i="0" lang="en-US" sz="285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psicopedagogo y el docente abren un panel y entienden al curso en minutos.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52500" y="6062067"/>
            <a:ext cx="16383000" cy="3462933"/>
          </a:xfrm>
          <a:prstGeom prst="rect">
            <a:avLst/>
          </a:prstGeom>
          <a:solidFill>
            <a:srgbClr val="C9CED6"/>
          </a:solidFill>
          <a:ln cap="flat" cmpd="sng" w="9525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962025" y="6071592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1419225" y="6490692"/>
            <a:ext cx="30301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912739" y="6490692"/>
            <a:ext cx="6967472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Cómo respondió el curso en cada escenario de la sesión.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9153525" y="6071592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9610725" y="6490692"/>
            <a:ext cx="350193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0151418" y="6490692"/>
            <a:ext cx="6918878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Qué cambió entre la encuesta previa y la posterior.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962025" y="7803059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419225" y="8222159"/>
            <a:ext cx="35212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961852" y="8222159"/>
            <a:ext cx="6916885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Qué tendencias se repiten entre una sesión y la siguiente.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9153525" y="7803059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9610725" y="8222159"/>
            <a:ext cx="35450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0155734" y="8222159"/>
            <a:ext cx="6914433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Dónde conviene concentrar el trabajo de orientación.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6284178" y="914400"/>
            <a:ext cx="1127522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952500" y="2069750"/>
            <a:ext cx="163830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logra el colegio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952500" y="5931694"/>
            <a:ext cx="7924800" cy="28575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952500" y="6303169"/>
            <a:ext cx="871728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EL ESTABLECIMIENTO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952500" y="6915596"/>
            <a:ext cx="81625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Evidencia anonimizada para justificar y evaluar sus intervenciones de orientación.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952500" y="8085088"/>
            <a:ext cx="8162544" cy="1478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 programa diferenciador de habilidades socioemocionales, sin carga adicional para los docentes.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9410700" y="5931694"/>
            <a:ext cx="7924800" cy="28575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9410700" y="6303169"/>
            <a:ext cx="871728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LOS ESTUDIANTES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410700" y="6915596"/>
            <a:ext cx="81625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 lugar seguro para practicar presentaciones tantas veces como necesiten.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410700" y="8085088"/>
            <a:ext cx="81625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Herramientas concretas de regulación que pueden usar fuera del visor.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3D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16406515" y="914400"/>
            <a:ext cx="100518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ESTADO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952500" y="3928170"/>
            <a:ext cx="995362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250"/>
              <a:buFont typeface="Barlow Condensed"/>
              <a:buNone/>
            </a:pPr>
            <a:r>
              <a:rPr b="0" i="0" lang="en-US" sz="22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ESTADO ACTUAL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952500" y="4599682"/>
            <a:ext cx="9953625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2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Barlow Condensed"/>
              <a:buNone/>
            </a:pPr>
            <a:r>
              <a:rPr b="1" i="0" lang="en-US" sz="85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Prototipo funcional</a:t>
            </a:r>
            <a:endParaRPr b="0" i="0" sz="8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952500" y="6066532"/>
            <a:ext cx="932021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Listo para desplegarse en colegios, con respaldo institucional de Duoc UC como proyecto CITT.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11049000" y="2774752"/>
            <a:ext cx="6286500" cy="5511998"/>
          </a:xfrm>
          <a:prstGeom prst="rect">
            <a:avLst/>
          </a:prstGeom>
          <a:noFill/>
          <a:ln cap="flat" cmpd="sng" w="9525">
            <a:solidFill>
              <a:srgbClr val="4A6C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11515725" y="3279577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1515725" y="3729038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Experiencia VR completa, con sus dos escenarios y ejercicios de regulación.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1515725" y="4894659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1515725" y="5344120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Captura de datos, procesamiento con IA y dashboard anonimizado.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1515725" y="6509742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SIGUIENTE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1515725" y="6959203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Validación en terreno con un establecimiento.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6454735" y="914400"/>
            <a:ext cx="95696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Plan de piloto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952500" y="3534221"/>
            <a:ext cx="16383000" cy="3121968"/>
          </a:xfrm>
          <a:prstGeom prst="rect">
            <a:avLst/>
          </a:prstGeom>
          <a:solidFill>
            <a:srgbClr val="C9CED6"/>
          </a:solidFill>
          <a:ln cap="flat" cmpd="sng" w="9525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962025" y="3543746"/>
            <a:ext cx="5441900" cy="31029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1419225" y="4039046"/>
            <a:ext cx="4980250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9450"/>
              <a:buFont typeface="Barlow Condensed"/>
              <a:buNone/>
            </a:pPr>
            <a:r>
              <a:rPr b="1" i="0" lang="en-US" sz="94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419225" y="5328642"/>
            <a:ext cx="4663325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estudiantes de enseñanza media facilitados por el establecimiento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422975" y="3543746"/>
            <a:ext cx="5441900" cy="31029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6880175" y="4039046"/>
            <a:ext cx="4980250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9450"/>
              <a:buFont typeface="Barlow Condensed"/>
              <a:buNone/>
            </a:pPr>
            <a:r>
              <a:rPr b="1" i="0" lang="en-US" sz="94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880175" y="5328642"/>
            <a:ext cx="4663325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sesiones por semana de pruebas e intervención con VR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1883926" y="3543746"/>
            <a:ext cx="5441900" cy="31029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12341126" y="4039046"/>
            <a:ext cx="4980250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99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9450"/>
              <a:buFont typeface="Barlow Condensed"/>
              <a:buNone/>
            </a:pPr>
            <a:r>
              <a:rPr b="1" i="0" lang="en-US" sz="94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2341126" y="5328642"/>
            <a:ext cx="4663325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mes de duración, con toma de datos en cada sesión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952500" y="7113389"/>
            <a:ext cx="13735050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24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Un compromiso acotado para el colegio y suficiente para entregar el primer informe con evidencia real.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