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10287000" cx="18288000"/>
  <p:notesSz cx="10287000" cy="18288000"/>
  <p:embeddedFontLst>
    <p:embeddedFont>
      <p:font typeface="Barlow Condensed"/>
      <p:regular r:id="rId17"/>
      <p:bold r:id="rId18"/>
      <p:italic r:id="rId19"/>
      <p:boldItalic r:id="rId20"/>
    </p:embeddedFont>
    <p:embeddedFont>
      <p:font typeface="Barlow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arlowCondensed-boldItalic.fntdata"/><Relationship Id="rId11" Type="http://schemas.openxmlformats.org/officeDocument/2006/relationships/slide" Target="slides/slide7.xml"/><Relationship Id="rId22" Type="http://schemas.openxmlformats.org/officeDocument/2006/relationships/font" Target="fonts/Barlow-bold.fntdata"/><Relationship Id="rId10" Type="http://schemas.openxmlformats.org/officeDocument/2006/relationships/slide" Target="slides/slide6.xml"/><Relationship Id="rId21" Type="http://schemas.openxmlformats.org/officeDocument/2006/relationships/font" Target="fonts/Barlow-regular.fntdata"/><Relationship Id="rId13" Type="http://schemas.openxmlformats.org/officeDocument/2006/relationships/slide" Target="slides/slide9.xml"/><Relationship Id="rId24" Type="http://schemas.openxmlformats.org/officeDocument/2006/relationships/font" Target="fonts/Barlow-boldItalic.fntdata"/><Relationship Id="rId12" Type="http://schemas.openxmlformats.org/officeDocument/2006/relationships/slide" Target="slides/slide8.xml"/><Relationship Id="rId23" Type="http://schemas.openxmlformats.org/officeDocument/2006/relationships/font" Target="fonts/Barlow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BarlowCondensed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BarlowCondensed-italic.fntdata"/><Relationship Id="rId6" Type="http://schemas.openxmlformats.org/officeDocument/2006/relationships/slide" Target="slides/slide2.xml"/><Relationship Id="rId18" Type="http://schemas.openxmlformats.org/officeDocument/2006/relationships/font" Target="fonts/BarlowCondensed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Buenos días. Presentamos EmotionLab, un proyecto CITT de Duoc UC dirigido a colegios de enseñanza media.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punto de partida es una necesidad concreta del colegio: los estudiantes se bloquean al presentar y el equipo no tiene con qué medirlo.</a:t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h251ef2b21077464c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h251ef2b21077464c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punto de partida es una necesidad concreta del colegio: los estudiantes se bloquean al presentar y el equipo no tiene con qué medirlo.</a:t>
            </a:r>
            <a:endParaRPr/>
          </a:p>
        </p:txBody>
      </p:sp>
      <p:sp>
        <p:nvSpPr>
          <p:cNvPr id="52" name="Google Shape;52;h251ef2b21077464c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h251ef2b21077464c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h251ef2b21077464c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punto de partida es una necesidad concreta del colegio: los estudiantes se bloquean al presentar y el equipo no tiene con qué medirlo.</a:t>
            </a:r>
            <a:endParaRPr/>
          </a:p>
        </p:txBody>
      </p:sp>
      <p:sp>
        <p:nvSpPr>
          <p:cNvPr id="73" name="Google Shape;73;h251ef2b21077464c_0_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EmotionLab es un espacio seguro para practicar presentaciones y, al mismo tiempo, la fuente de evidencia que el colegio necesita.</a:t>
            </a:r>
            <a:endParaRPr/>
          </a:p>
        </p:txBody>
      </p:sp>
      <p:sp>
        <p:nvSpPr>
          <p:cNvPr id="94" name="Google Shape;94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Así vive la sesión un estudiante: sala de espera, respiración, dos escenarios de dificultad creciente y un cierre con grounding.</a:t>
            </a:r>
            <a:endParaRPr/>
          </a:p>
        </p:txBody>
      </p:sp>
      <p:sp>
        <p:nvSpPr>
          <p:cNvPr id="115" name="Google Shape;11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Durante toda la sesión la aplicación captura telemetría, y la acompañamos con encuestas antes y después.</a:t>
            </a:r>
            <a:endParaRPr/>
          </a:p>
        </p:txBody>
      </p:sp>
      <p:sp>
        <p:nvSpPr>
          <p:cNvPr id="146" name="Google Shape;14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Los datos pasan por un equipo de IA que los procesa y genera insights agregados, nunca individuales.</a:t>
            </a:r>
            <a:endParaRPr/>
          </a:p>
        </p:txBody>
      </p:sp>
      <p:sp>
        <p:nvSpPr>
          <p:cNvPr id="165" name="Google Shape;16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resultado llega al psicopedagogo y al docente como un dashboard digerible: del dato a la información.</a:t>
            </a:r>
            <a:endParaRPr/>
          </a:p>
        </p:txBody>
      </p:sp>
      <p:sp>
        <p:nvSpPr>
          <p:cNvPr id="184" name="Google Shape;18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Qué gana el colegio y qué ganan los estudiantes.</a:t>
            </a:r>
            <a:endParaRPr/>
          </a:p>
        </p:txBody>
      </p:sp>
      <p:sp>
        <p:nvSpPr>
          <p:cNvPr id="208" name="Google Shape;20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Hoy tenemos un prototipo funcional listo para desplegarse en colegios.</a:t>
            </a:r>
            <a:endParaRPr/>
          </a:p>
        </p:txBody>
      </p:sp>
      <p:sp>
        <p:nvSpPr>
          <p:cNvPr id="226" name="Google Shape;22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piloto es acotado para el colegio: 20 estudiantes, dos sesiones por semana, un mes.</a:t>
            </a:r>
            <a:endParaRPr/>
          </a:p>
        </p:txBody>
      </p:sp>
      <p:sp>
        <p:nvSpPr>
          <p:cNvPr id="245" name="Google Shape;24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A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52500" y="952500"/>
            <a:ext cx="133350" cy="4191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276350" y="955328"/>
            <a:ext cx="1317546" cy="4513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Barlow Condensed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DUOC UC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2664619" y="984945"/>
            <a:ext cx="2132008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93A8C4"/>
                </a:solidFill>
                <a:latin typeface="Barlow"/>
                <a:ea typeface="Barlow"/>
                <a:cs typeface="Barlow"/>
                <a:sym typeface="Barlow"/>
              </a:rPr>
              <a:t>PROYECTO CITT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952500" y="3294906"/>
            <a:ext cx="7124700" cy="4810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2250"/>
              <a:buFont typeface="Barlow Condensed"/>
              <a:buNone/>
            </a:pPr>
            <a:r>
              <a:rPr b="0" i="0" lang="en-US" sz="225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PROYECTO DE CONTINUIDAD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952500" y="4004518"/>
            <a:ext cx="7124700" cy="12915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8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0"/>
              <a:buFont typeface="Barlow Condensed"/>
              <a:buNone/>
            </a:pPr>
            <a:r>
              <a:rPr b="1" i="0" lang="en-US" sz="10500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EmotionLab</a:t>
            </a:r>
            <a:endParaRPr b="0" i="0" sz="10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952500" y="5638949"/>
            <a:ext cx="6475200" cy="14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023"/>
              </a:lnSpc>
              <a:spcBef>
                <a:spcPts val="0"/>
              </a:spcBef>
              <a:spcAft>
                <a:spcPts val="0"/>
              </a:spcAft>
              <a:buClr>
                <a:srgbClr val="CFDAEA"/>
              </a:buClr>
              <a:buSzPts val="2700"/>
              <a:buFont typeface="Barlow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952500" y="8950672"/>
            <a:ext cx="1792635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93A8C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EXPERIENCIA VR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039368" y="8950672"/>
            <a:ext cx="1795582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93A8C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ANÁLISIS CON IA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128915" y="8950672"/>
            <a:ext cx="2352362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93A8C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DASHBOARD DOCENTE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8191500" y="0"/>
            <a:ext cx="10096500" cy="10287000"/>
          </a:xfrm>
          <a:prstGeom prst="rect">
            <a:avLst/>
          </a:prstGeom>
          <a:solidFill>
            <a:srgbClr val="7F7F7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" name="Google Shape;26;p3" title="Gemini_Generated_Image_jkdjqdjkdjqdjkdj.jpg"/>
          <p:cNvPicPr preferRelativeResize="0"/>
          <p:nvPr/>
        </p:nvPicPr>
        <p:blipFill rotWithShape="1">
          <a:blip r:embed="rId3">
            <a:alphaModFix/>
          </a:blip>
          <a:srcRect b="0" l="32359" r="0" t="0"/>
          <a:stretch/>
        </p:blipFill>
        <p:spPr>
          <a:xfrm>
            <a:off x="8191500" y="2300"/>
            <a:ext cx="12467651" cy="10287000"/>
          </a:xfrm>
          <a:prstGeom prst="rect">
            <a:avLst/>
          </a:prstGeom>
          <a:gradFill>
            <a:gsLst>
              <a:gs pos="0">
                <a:srgbClr val="002A5C">
                  <a:alpha val="87843"/>
                </a:srgbClr>
              </a:gs>
              <a:gs pos="30000">
                <a:srgbClr val="002A5C">
                  <a:alpha val="12157"/>
                </a:srgbClr>
              </a:gs>
              <a:gs pos="55000">
                <a:srgbClr val="002A5C">
                  <a:alpha val="0"/>
                </a:srgbClr>
              </a:gs>
              <a:gs pos="100000">
                <a:srgbClr val="002A5C">
                  <a:alpha val="0"/>
                </a:srgbClr>
              </a:gs>
            </a:gsLst>
            <a:lin ang="0" scaled="0"/>
          </a:gradFill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7200" y="0"/>
            <a:ext cx="10575551" cy="1029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952500" y="1526828"/>
            <a:ext cx="16383000" cy="9525"/>
          </a:xfrm>
          <a:prstGeom prst="rect">
            <a:avLst/>
          </a:prstGeom>
          <a:solidFill>
            <a:srgbClr val="C9CE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952500" y="953839"/>
            <a:ext cx="95250" cy="3048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1219200" y="914400"/>
            <a:ext cx="1713890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EMOTIONLAB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6061085" y="914400"/>
            <a:ext cx="1401857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6B74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PROBLEMA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952500" y="2222153"/>
            <a:ext cx="7962900" cy="8929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4679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6600"/>
              <a:buFont typeface="Barlow Condensed"/>
              <a:buNone/>
            </a:pPr>
            <a:r>
              <a:rPr b="1" i="0" lang="en-US" sz="66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Qué necesita el colegio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952500" y="3496121"/>
            <a:ext cx="745617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"/>
              <a:buNone/>
            </a:pPr>
            <a:r>
              <a:rPr b="0" i="0" lang="en-US" sz="30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Presentar frente al curso es donde más estudiantes se bloquean.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952500" y="4829621"/>
            <a:ext cx="745617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3000"/>
              <a:buFont typeface="Barlow"/>
              <a:buNone/>
            </a:pPr>
            <a:r>
              <a:rPr b="0" i="0" lang="en-US" sz="30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El equipo educativo lo sabe, pero no tiene cómo medirlo ni cómo mostrar que una intervención funcionó.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9144000" y="2222153"/>
            <a:ext cx="8191500" cy="2082850"/>
          </a:xfrm>
          <a:prstGeom prst="rect">
            <a:avLst/>
          </a:prstGeom>
          <a:noFill/>
          <a:ln cap="flat" cmpd="sng" w="9525">
            <a:solidFill>
              <a:srgbClr val="002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9534525" y="2593628"/>
            <a:ext cx="8151495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PRÁCTICA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9534525" y="3110805"/>
            <a:ext cx="7632763" cy="8608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La única forma de practicar es exponerse al curso completo.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9144000" y="4647902"/>
            <a:ext cx="8191500" cy="2082850"/>
          </a:xfrm>
          <a:prstGeom prst="rect">
            <a:avLst/>
          </a:prstGeom>
          <a:noFill/>
          <a:ln cap="flat" cmpd="sng" w="9525">
            <a:solidFill>
              <a:srgbClr val="002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9534525" y="5019377"/>
            <a:ext cx="8151495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MEDICIÓN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9534525" y="5536555"/>
            <a:ext cx="7632763" cy="8608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La regulación emocional se evalúa por percepción, no por evidencia.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9144000" y="7073652"/>
            <a:ext cx="8191500" cy="2082850"/>
          </a:xfrm>
          <a:prstGeom prst="rect">
            <a:avLst/>
          </a:prstGeom>
          <a:noFill/>
          <a:ln cap="flat" cmpd="sng" w="9525">
            <a:solidFill>
              <a:srgbClr val="002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9534525" y="7445127"/>
            <a:ext cx="8151495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SEGUIMIENTO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9534525" y="7962305"/>
            <a:ext cx="7632763" cy="8608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No hay registro comparable entre el inicio y el final del año.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952500" y="1526828"/>
            <a:ext cx="16383000" cy="9600"/>
          </a:xfrm>
          <a:prstGeom prst="rect">
            <a:avLst/>
          </a:prstGeom>
          <a:solidFill>
            <a:srgbClr val="C9CE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952500" y="953839"/>
            <a:ext cx="95400" cy="3048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1219200" y="914400"/>
            <a:ext cx="17139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EMOTIONLAB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16061085" y="914400"/>
            <a:ext cx="14019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6B74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PROBLEMA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952500" y="1986500"/>
            <a:ext cx="8191500" cy="26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4679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6600"/>
              <a:buFont typeface="Barlow Condensed"/>
              <a:buNone/>
            </a:pPr>
            <a:r>
              <a:rPr b="1" lang="en-US" sz="6600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Impacto de las emociones no reguladas en el aprendizaje 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952500" y="5186052"/>
            <a:ext cx="7456200" cy="17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just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"/>
              <a:buNone/>
            </a:pPr>
            <a:r>
              <a:rPr lang="en-US" sz="24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El aprendizaje es un proceso cognitivo y emocional. Emociones como la ansiedad o el miedo elevan el cortisol y bloquean la atención, la memoria y el rendimiento." (Bueno, 2021; Milicic &amp; Marchant, 2020).</a:t>
            </a:r>
            <a:endParaRPr b="0" i="0" sz="2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864150" y="7506000"/>
            <a:ext cx="7632900" cy="15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just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3000"/>
              <a:buFont typeface="Barlow"/>
              <a:buNone/>
            </a:pPr>
            <a:r>
              <a:rPr lang="en-US" sz="2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La exposición académica (hablar en público, evaluaciones) dispara hiperactivación emocional y ansiedad en adolescentes, anulando sus funciones ejecutivas en momentos críticos.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9144000" y="2222153"/>
            <a:ext cx="8191500" cy="2082900"/>
          </a:xfrm>
          <a:prstGeom prst="rect">
            <a:avLst/>
          </a:prstGeom>
          <a:noFill/>
          <a:ln cap="flat" cmpd="sng" w="9525">
            <a:solidFill>
              <a:srgbClr val="002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9405800" y="2376600"/>
            <a:ext cx="38949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950"/>
              <a:buFont typeface="Barlow Condensed"/>
              <a:buNone/>
            </a:pPr>
            <a:r>
              <a:rPr lang="en-US" sz="2750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Bloqueo Cognitivo y ansiedad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9534525" y="3110805"/>
            <a:ext cx="76329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La única forma de practicar es exponerse al curso completo.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9144000" y="4647902"/>
            <a:ext cx="8191500" cy="2082900"/>
          </a:xfrm>
          <a:prstGeom prst="rect">
            <a:avLst/>
          </a:prstGeom>
          <a:noFill/>
          <a:ln cap="flat" cmpd="sng" w="9525">
            <a:solidFill>
              <a:srgbClr val="002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9534525" y="5019377"/>
            <a:ext cx="8151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MEDICIÓN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9534525" y="5536555"/>
            <a:ext cx="76329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La regulación emocional se evalúa por percepción, no por evidencia.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9144000" y="7073652"/>
            <a:ext cx="8191500" cy="2082900"/>
          </a:xfrm>
          <a:prstGeom prst="rect">
            <a:avLst/>
          </a:prstGeom>
          <a:noFill/>
          <a:ln cap="flat" cmpd="sng" w="9525">
            <a:solidFill>
              <a:srgbClr val="002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9534525" y="7445127"/>
            <a:ext cx="8151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SEGUIMIENTO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9534525" y="7962305"/>
            <a:ext cx="76329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No hay registro comparable entre el inicio y el final del año.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/>
          <p:nvPr/>
        </p:nvSpPr>
        <p:spPr>
          <a:xfrm>
            <a:off x="952500" y="1526828"/>
            <a:ext cx="16383000" cy="9600"/>
          </a:xfrm>
          <a:prstGeom prst="rect">
            <a:avLst/>
          </a:prstGeom>
          <a:solidFill>
            <a:srgbClr val="C9CE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952500" y="953839"/>
            <a:ext cx="95400" cy="3048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1219200" y="914400"/>
            <a:ext cx="17139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EMOTIONLAB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16061085" y="914400"/>
            <a:ext cx="14019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6B74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PROBLEMA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680850" y="1966925"/>
            <a:ext cx="169263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4679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6600"/>
              <a:buFont typeface="Barlow Condensed"/>
              <a:buNone/>
            </a:pPr>
            <a:r>
              <a:rPr b="1" lang="en-US" sz="6400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Impacto de las emociones no reguladas en el aprendizaje 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952500" y="3106138"/>
            <a:ext cx="163830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just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"/>
              <a:buNone/>
            </a:pPr>
            <a:r>
              <a:rPr lang="en-US" sz="24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El aprendizaje es un proceso cognitivo y emocional. Emociones como la ansiedad o el miedo elevan el cortisol y bloquean la atención, la memoria y el rendimiento." (Bueno, 2021; Milicic &amp; Marchant, 2020).</a:t>
            </a:r>
            <a:endParaRPr b="0" i="0" sz="2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631575" y="4294600"/>
            <a:ext cx="169263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just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3000"/>
              <a:buFont typeface="Barlow"/>
              <a:buNone/>
            </a:pPr>
            <a:r>
              <a:rPr lang="en-US" sz="28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La exposición académica (hablar en público, evaluaciones) dispara hiperactivación emocional y ansiedad en adolescentes, anulando sus funciones ejecutivas en momentos críticos.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421250" y="5670853"/>
            <a:ext cx="8191500" cy="2082900"/>
          </a:xfrm>
          <a:prstGeom prst="rect">
            <a:avLst/>
          </a:prstGeom>
          <a:noFill/>
          <a:ln cap="flat" cmpd="sng" w="9525">
            <a:solidFill>
              <a:srgbClr val="002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680850" y="5670850"/>
            <a:ext cx="38949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950"/>
              <a:buFont typeface="Barlow Condensed"/>
              <a:buNone/>
            </a:pPr>
            <a:r>
              <a:rPr lang="en-US" sz="2750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BLOQUEO COGNITIVO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795350" y="6162138"/>
            <a:ext cx="7443300" cy="14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400"/>
              <a:buFont typeface="Barlow"/>
              <a:buNone/>
            </a:pPr>
            <a:r>
              <a:rPr b="1" lang="en-US" sz="24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Causa:</a:t>
            </a:r>
            <a:r>
              <a:rPr lang="en-US" sz="2400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 Exposiciones o evaluaciones disparan ansiedad y miedo al ridículo.</a:t>
            </a:r>
            <a:endParaRPr sz="2400">
              <a:solidFill>
                <a:srgbClr val="1D1F2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400"/>
              <a:buFont typeface="Barlow"/>
              <a:buNone/>
            </a:pPr>
            <a:r>
              <a:rPr b="1" lang="en-US" sz="24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Efecto:</a:t>
            </a:r>
            <a:r>
              <a:rPr lang="en-US" sz="2400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 Anula la concentración y la memoria en momentos críticos.</a:t>
            </a:r>
            <a:endParaRPr sz="2400">
              <a:solidFill>
                <a:srgbClr val="1D1F2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9017450" y="5670853"/>
            <a:ext cx="8191500" cy="2082900"/>
          </a:xfrm>
          <a:prstGeom prst="rect">
            <a:avLst/>
          </a:prstGeom>
          <a:noFill/>
          <a:ln cap="flat" cmpd="sng" w="9525">
            <a:solidFill>
              <a:srgbClr val="002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9277050" y="5670850"/>
            <a:ext cx="38949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950"/>
              <a:buFont typeface="Barlow Condensed"/>
              <a:buNone/>
            </a:pPr>
            <a:r>
              <a:rPr lang="en-US" sz="2750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EVALUACIÓN INVISIBLE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9391550" y="6162138"/>
            <a:ext cx="7443300" cy="14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400"/>
              <a:buFont typeface="Barlow"/>
              <a:buNone/>
            </a:pPr>
            <a:r>
              <a:rPr b="1" lang="en-US" sz="24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Causa:</a:t>
            </a:r>
            <a:r>
              <a:rPr lang="en-US"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El bienestar emocional se evalúa por intuición o percepción.</a:t>
            </a:r>
            <a:endParaRPr sz="24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400"/>
              <a:buFont typeface="Barlow"/>
              <a:buNone/>
            </a:pPr>
            <a:r>
              <a:rPr b="1" lang="en-US" sz="24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Efecto:</a:t>
            </a:r>
            <a:r>
              <a:rPr lang="en-US"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El colegio no tiene métricas reales para detectar o prevenir el estrés.</a:t>
            </a:r>
            <a:endParaRPr sz="24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5048250" y="8204103"/>
            <a:ext cx="8191500" cy="2082900"/>
          </a:xfrm>
          <a:prstGeom prst="rect">
            <a:avLst/>
          </a:prstGeom>
          <a:noFill/>
          <a:ln cap="flat" cmpd="sng" w="9525">
            <a:solidFill>
              <a:srgbClr val="002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5307850" y="8204100"/>
            <a:ext cx="59505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950"/>
              <a:buFont typeface="Barlow Condensed"/>
              <a:buNone/>
            </a:pPr>
            <a:r>
              <a:rPr lang="en-US" sz="2750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PRÁCTICA SIN RED DE SEGURIDAD</a:t>
            </a:r>
            <a:endParaRPr b="0" i="0" sz="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5422350" y="8695388"/>
            <a:ext cx="7443300" cy="14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400"/>
              <a:buFont typeface="Barlow"/>
              <a:buNone/>
            </a:pPr>
            <a:r>
              <a:rPr b="1" lang="en-US" sz="24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Causa:</a:t>
            </a:r>
            <a:r>
              <a:rPr lang="en-US"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La única forma de practicar es exponiéndose al juicio del curso completo.</a:t>
            </a:r>
            <a:endParaRPr sz="24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400"/>
              <a:buFont typeface="Barlow"/>
              <a:buNone/>
            </a:pPr>
            <a:r>
              <a:rPr b="1" lang="en-US" sz="2400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Efecto:</a:t>
            </a:r>
            <a:r>
              <a:rPr lang="en-US"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El estudiante prefiere no participar para proteger su autoestima.</a:t>
            </a:r>
            <a:endParaRPr sz="24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A5C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/>
          <p:nvPr/>
        </p:nvSpPr>
        <p:spPr>
          <a:xfrm>
            <a:off x="952500" y="1526828"/>
            <a:ext cx="16383000" cy="9600"/>
          </a:xfrm>
          <a:prstGeom prst="rect">
            <a:avLst/>
          </a:prstGeom>
          <a:solidFill>
            <a:srgbClr val="2C51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952500" y="953839"/>
            <a:ext cx="95400" cy="3048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1219200" y="914400"/>
            <a:ext cx="17139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EMOTIONLAB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16110347" y="914400"/>
            <a:ext cx="1347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93A8C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SOLUCIÓN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952500" y="2374553"/>
            <a:ext cx="14878200" cy="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46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Barlow Condensed"/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Qué es EmotionLab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952500" y="3648521"/>
            <a:ext cx="13931400" cy="18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909"/>
              </a:lnSpc>
              <a:spcBef>
                <a:spcPts val="0"/>
              </a:spcBef>
              <a:spcAft>
                <a:spcPts val="0"/>
              </a:spcAft>
              <a:buClr>
                <a:srgbClr val="E3EAF4"/>
              </a:buClr>
              <a:buSzPts val="3450"/>
              <a:buFont typeface="Barlow"/>
              <a:buNone/>
            </a:pPr>
            <a:r>
              <a:rPr b="0" i="0" lang="en-US" sz="3450" u="none" cap="none" strike="noStrike">
                <a:solidFill>
                  <a:srgbClr val="E3EAF4"/>
                </a:solidFill>
                <a:latin typeface="Barlow"/>
                <a:ea typeface="Barlow"/>
                <a:cs typeface="Barlow"/>
                <a:sym typeface="Barlow"/>
              </a:rPr>
              <a:t>Una plataforma de realidad virtual donde el estudiante practica presentar en un entorno seguro, mientras la aplicación registra cómo responde emocionalmente.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952500" y="7014567"/>
            <a:ext cx="16383000" cy="2510400"/>
          </a:xfrm>
          <a:prstGeom prst="rect">
            <a:avLst/>
          </a:prstGeom>
          <a:solidFill>
            <a:srgbClr val="2C51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952500" y="7014567"/>
            <a:ext cx="5448300" cy="2510400"/>
          </a:xfrm>
          <a:prstGeom prst="rect">
            <a:avLst/>
          </a:prstGeom>
          <a:solidFill>
            <a:srgbClr val="002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1333500" y="7433667"/>
            <a:ext cx="51549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117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4800"/>
              <a:buFont typeface="Barlow Condensed"/>
              <a:buNone/>
            </a:pPr>
            <a:r>
              <a:rPr b="0" i="0" lang="en-US" sz="48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01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1333500" y="8214717"/>
            <a:ext cx="4827000" cy="12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E3EAF4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E3EAF4"/>
                </a:solidFill>
                <a:latin typeface="Barlow"/>
                <a:ea typeface="Barlow"/>
                <a:cs typeface="Barlow"/>
                <a:sym typeface="Barlow"/>
              </a:rPr>
              <a:t>Practica sin exponerse: la audiencia es virtual y la dificultad es graduada.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6419850" y="7014567"/>
            <a:ext cx="5448300" cy="2510400"/>
          </a:xfrm>
          <a:prstGeom prst="rect">
            <a:avLst/>
          </a:prstGeom>
          <a:solidFill>
            <a:srgbClr val="002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6800850" y="7433667"/>
            <a:ext cx="51549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117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4800"/>
              <a:buFont typeface="Barlow Condensed"/>
              <a:buNone/>
            </a:pPr>
            <a:r>
              <a:rPr b="0" i="0" lang="en-US" sz="48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6800850" y="8214717"/>
            <a:ext cx="4827000" cy="12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E3EAF4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E3EAF4"/>
                </a:solidFill>
                <a:latin typeface="Barlow"/>
                <a:ea typeface="Barlow"/>
                <a:cs typeface="Barlow"/>
                <a:sym typeface="Barlow"/>
              </a:rPr>
              <a:t>Aprende a regularse: respiración guiada y grounding integrados en la sesión.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11887200" y="7014567"/>
            <a:ext cx="5448300" cy="2510400"/>
          </a:xfrm>
          <a:prstGeom prst="rect">
            <a:avLst/>
          </a:prstGeom>
          <a:solidFill>
            <a:srgbClr val="002A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12268200" y="7433667"/>
            <a:ext cx="51549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117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4800"/>
              <a:buFont typeface="Barlow Condensed"/>
              <a:buNone/>
            </a:pPr>
            <a:r>
              <a:rPr b="0" i="0" lang="en-US" sz="48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03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12268200" y="8214717"/>
            <a:ext cx="48270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E3EAF4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E3EAF4"/>
                </a:solidFill>
                <a:latin typeface="Barlow"/>
                <a:ea typeface="Barlow"/>
                <a:cs typeface="Barlow"/>
                <a:sym typeface="Barlow"/>
              </a:rPr>
              <a:t>Deja evidencia: el colegio recibe un registro anonimizado del curso.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"/>
          <p:cNvSpPr/>
          <p:nvPr/>
        </p:nvSpPr>
        <p:spPr>
          <a:xfrm>
            <a:off x="952500" y="1526828"/>
            <a:ext cx="16383000" cy="9525"/>
          </a:xfrm>
          <a:prstGeom prst="rect">
            <a:avLst/>
          </a:prstGeom>
          <a:solidFill>
            <a:srgbClr val="C9CE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"/>
          <p:cNvSpPr/>
          <p:nvPr/>
        </p:nvSpPr>
        <p:spPr>
          <a:xfrm>
            <a:off x="952500" y="953839"/>
            <a:ext cx="95250" cy="3048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"/>
          <p:cNvSpPr/>
          <p:nvPr/>
        </p:nvSpPr>
        <p:spPr>
          <a:xfrm>
            <a:off x="1219200" y="914400"/>
            <a:ext cx="1713890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EMOTIONLAB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15704641" y="914400"/>
            <a:ext cx="17940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6B74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EXPERIENCIA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952500" y="2069753"/>
            <a:ext cx="18021300" cy="8929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4679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6600"/>
              <a:buFont typeface="Barlow Condensed"/>
              <a:buNone/>
            </a:pPr>
            <a:r>
              <a:rPr b="1" i="0" lang="en-US" sz="66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La sesión del estudiante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952500" y="5780484"/>
            <a:ext cx="16383000" cy="3744516"/>
          </a:xfrm>
          <a:prstGeom prst="rect">
            <a:avLst/>
          </a:prstGeom>
          <a:solidFill>
            <a:srgbClr val="C9CED6"/>
          </a:solidFill>
          <a:ln cap="flat" cmpd="sng" w="9525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"/>
          <p:cNvSpPr/>
          <p:nvPr/>
        </p:nvSpPr>
        <p:spPr>
          <a:xfrm>
            <a:off x="962025" y="5790009"/>
            <a:ext cx="3257550" cy="3725466"/>
          </a:xfrm>
          <a:prstGeom prst="rect">
            <a:avLst/>
          </a:prstGeom>
          <a:solidFill>
            <a:srgbClr val="F2F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1266825" y="6171009"/>
            <a:ext cx="291274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800"/>
              <a:buFont typeface="Barlow Condensed"/>
              <a:buNone/>
            </a:pPr>
            <a:r>
              <a:rPr b="0" i="0" lang="en-US" sz="18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PASO 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1266825" y="6677620"/>
            <a:ext cx="29127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667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3000"/>
              <a:buFont typeface="Barlow Condensed"/>
              <a:buNone/>
            </a:pPr>
            <a:r>
              <a:rPr b="0" i="0" lang="en-US" sz="30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Sala de espera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1266825" y="7230070"/>
            <a:ext cx="2727389" cy="11578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294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Primer registro del estado emocional antes de empezar.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4238625" y="5790009"/>
            <a:ext cx="3257550" cy="3725466"/>
          </a:xfrm>
          <a:prstGeom prst="rect">
            <a:avLst/>
          </a:prstGeom>
          <a:solidFill>
            <a:srgbClr val="F2F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4543425" y="6171009"/>
            <a:ext cx="291274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800"/>
              <a:buFont typeface="Barlow Condensed"/>
              <a:buNone/>
            </a:pPr>
            <a:r>
              <a:rPr b="0" i="0" lang="en-US" sz="18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PASO 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4543425" y="6677620"/>
            <a:ext cx="29127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667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3000"/>
              <a:buFont typeface="Barlow Condensed"/>
              <a:buNone/>
            </a:pPr>
            <a:r>
              <a:rPr b="0" i="0" lang="en-US" sz="30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Respiración guiada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4543425" y="7230070"/>
            <a:ext cx="2727389" cy="11578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294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Ejercicio de regulación previo a cada presentación.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7515225" y="5790009"/>
            <a:ext cx="3257550" cy="37254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7820025" y="6171009"/>
            <a:ext cx="291274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800"/>
              <a:buFont typeface="Barlow Condensed"/>
              <a:buNone/>
            </a:pPr>
            <a:r>
              <a:rPr b="0" i="0" lang="en-US" sz="18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PASO 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7820025" y="6677620"/>
            <a:ext cx="29127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667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3000"/>
              <a:buFont typeface="Barlow Condensed"/>
              <a:buNone/>
            </a:pPr>
            <a:r>
              <a:rPr b="0" i="0" lang="en-US" sz="30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Escenario 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7820025" y="7230070"/>
            <a:ext cx="2727389" cy="11578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294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Primera presentación, con audiencia reducida.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10791825" y="5790009"/>
            <a:ext cx="3257550" cy="37254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11096625" y="6171009"/>
            <a:ext cx="291274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800"/>
              <a:buFont typeface="Barlow Condensed"/>
              <a:buNone/>
            </a:pPr>
            <a:r>
              <a:rPr b="0" i="0" lang="en-US" sz="18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PASO 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11096625" y="6677620"/>
            <a:ext cx="29127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667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3000"/>
              <a:buFont typeface="Barlow Condensed"/>
              <a:buNone/>
            </a:pPr>
            <a:r>
              <a:rPr b="0" i="0" lang="en-US" sz="30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Escenario 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11096625" y="7230070"/>
            <a:ext cx="2727389" cy="19044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294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Segunda presentación, con mayor exigencia. Va precedida de su propia respiración guiada.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14068425" y="5790009"/>
            <a:ext cx="3257550" cy="3725466"/>
          </a:xfrm>
          <a:prstGeom prst="rect">
            <a:avLst/>
          </a:prstGeom>
          <a:solidFill>
            <a:srgbClr val="F2F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14373225" y="6171009"/>
            <a:ext cx="291274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800"/>
              <a:buFont typeface="Barlow Condensed"/>
              <a:buNone/>
            </a:pPr>
            <a:r>
              <a:rPr b="0" i="0" lang="en-US" sz="18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PASO 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14373225" y="6677620"/>
            <a:ext cx="29127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667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3000"/>
              <a:buFont typeface="Barlow Condensed"/>
              <a:buNone/>
            </a:pPr>
            <a:r>
              <a:rPr b="0" i="0" lang="en-US" sz="30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Cierre y grounding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14373225" y="7230078"/>
            <a:ext cx="2727300" cy="19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294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Vuelta a la calma y </a:t>
            </a:r>
            <a:r>
              <a:rPr lang="en-US" sz="2100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registro </a:t>
            </a:r>
            <a:r>
              <a:rPr b="0" i="0" lang="en-US" sz="21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del estado emocional. </a:t>
            </a:r>
            <a:r>
              <a:rPr lang="en-US" sz="2100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Gamificación de principio a fin.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/>
          <p:nvPr/>
        </p:nvSpPr>
        <p:spPr>
          <a:xfrm>
            <a:off x="952500" y="1526828"/>
            <a:ext cx="16383000" cy="9525"/>
          </a:xfrm>
          <a:prstGeom prst="rect">
            <a:avLst/>
          </a:prstGeom>
          <a:solidFill>
            <a:srgbClr val="C9CE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952500" y="953839"/>
            <a:ext cx="95250" cy="3048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1219200" y="914400"/>
            <a:ext cx="1713890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EMOTIONLAB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16578114" y="914400"/>
            <a:ext cx="833586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6B74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DATOS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952500" y="2069753"/>
            <a:ext cx="18021300" cy="8929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4679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6600"/>
              <a:buFont typeface="Barlow Condensed"/>
              <a:buNone/>
            </a:pPr>
            <a:r>
              <a:rPr b="1" i="0" lang="en-US" sz="66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Qué captura la plataforma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952500" y="3191321"/>
            <a:ext cx="12753975" cy="10513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652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2850"/>
              <a:buFont typeface="Barlow"/>
              <a:buNone/>
            </a:pPr>
            <a:r>
              <a:rPr b="0" i="0" lang="en-US" sz="285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Dos fuentes que se leen juntas: lo que el estudiante hace y lo que el estudiante reporta.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952500" y="6001941"/>
            <a:ext cx="7924800" cy="3523059"/>
          </a:xfrm>
          <a:prstGeom prst="rect">
            <a:avLst/>
          </a:prstGeom>
          <a:noFill/>
          <a:ln cap="flat" cmpd="sng" w="9525">
            <a:solidFill>
              <a:srgbClr val="002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1419225" y="6468666"/>
            <a:ext cx="7690485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DURANTE LA SESIÓN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1419225" y="7004893"/>
            <a:ext cx="7690485" cy="5828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258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3900"/>
              <a:buFont typeface="Barlow Condensed"/>
              <a:buNone/>
            </a:pPr>
            <a:r>
              <a:rPr b="0" i="0" lang="en-US" sz="39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Telemetría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1419225" y="7740104"/>
            <a:ext cx="7201091" cy="13181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895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Decisiones, tiempos de respuesta y patrones de interacción registrados automáticamente en cada escenario.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9410700" y="6001941"/>
            <a:ext cx="7924800" cy="3523059"/>
          </a:xfrm>
          <a:prstGeom prst="rect">
            <a:avLst/>
          </a:prstGeom>
          <a:noFill/>
          <a:ln cap="flat" cmpd="sng" w="9525">
            <a:solidFill>
              <a:srgbClr val="002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9877425" y="6468666"/>
            <a:ext cx="7690485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ANTES Y DESPUÉS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9877425" y="7004893"/>
            <a:ext cx="7690485" cy="5828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258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3900"/>
              <a:buFont typeface="Barlow Condensed"/>
              <a:buNone/>
            </a:pPr>
            <a:r>
              <a:rPr b="0" i="0" lang="en-US" sz="39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Encuestas pre y post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9877425" y="7740104"/>
            <a:ext cx="7201091" cy="89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895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El estudiante reporta su estado al entrar y al salir, lo que permite contrastar percepción con conducta.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B3D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/>
          <p:nvPr/>
        </p:nvSpPr>
        <p:spPr>
          <a:xfrm>
            <a:off x="952500" y="1526828"/>
            <a:ext cx="16383000" cy="9525"/>
          </a:xfrm>
          <a:prstGeom prst="rect">
            <a:avLst/>
          </a:prstGeom>
          <a:solidFill>
            <a:srgbClr val="2C51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"/>
          <p:cNvSpPr/>
          <p:nvPr/>
        </p:nvSpPr>
        <p:spPr>
          <a:xfrm>
            <a:off x="952500" y="953839"/>
            <a:ext cx="95250" cy="3048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"/>
          <p:cNvSpPr/>
          <p:nvPr/>
        </p:nvSpPr>
        <p:spPr>
          <a:xfrm>
            <a:off x="1219200" y="914400"/>
            <a:ext cx="1713890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EMOTIONLAB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16203364" y="914400"/>
            <a:ext cx="1208336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93A8C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ANÁLISIS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952500" y="3497163"/>
            <a:ext cx="9953625" cy="8929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46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Barlow Condensed"/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Procesamiento con IA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952500" y="4733032"/>
            <a:ext cx="9320213" cy="1657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400"/>
              </a:lnSpc>
              <a:spcBef>
                <a:spcPts val="0"/>
              </a:spcBef>
              <a:spcAft>
                <a:spcPts val="0"/>
              </a:spcAft>
              <a:buClr>
                <a:srgbClr val="CFDAEA"/>
              </a:buClr>
              <a:buSzPts val="3150"/>
              <a:buFont typeface="Barlow"/>
              <a:buNone/>
            </a:pPr>
            <a:r>
              <a:rPr b="0" i="0" lang="en-US" sz="3150" u="none" cap="none" strike="noStrike">
                <a:solidFill>
                  <a:srgbClr val="CFDAEA"/>
                </a:solidFill>
                <a:latin typeface="Barlow"/>
                <a:ea typeface="Barlow"/>
                <a:cs typeface="Barlow"/>
                <a:sym typeface="Barlow"/>
              </a:rPr>
              <a:t>Un equipo de inteligencia artificial ordena los datos de todas las sesiones y los convierte en insights </a:t>
            </a:r>
            <a:r>
              <a:rPr lang="en-US" sz="3150">
                <a:solidFill>
                  <a:srgbClr val="CFDAEA"/>
                </a:solidFill>
                <a:latin typeface="Barlow"/>
                <a:ea typeface="Barlow"/>
                <a:cs typeface="Barlow"/>
                <a:sym typeface="Barlow"/>
              </a:rPr>
              <a:t>amables de entender para el equipo educacional</a:t>
            </a:r>
            <a:r>
              <a:rPr b="0" i="0" lang="en-US" sz="3150" u="none" cap="none" strike="noStrike">
                <a:solidFill>
                  <a:srgbClr val="CFDAEA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952500" y="6657677"/>
            <a:ext cx="9320213" cy="9447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098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2550"/>
              <a:buFont typeface="Barlow"/>
              <a:buNone/>
            </a:pPr>
            <a:r>
              <a:rPr b="0" i="0" lang="en-US" sz="2550" u="none" cap="none" strike="noStrike">
                <a:solidFill>
                  <a:srgbClr val="93A8C4"/>
                </a:solidFill>
                <a:latin typeface="Barlow"/>
                <a:ea typeface="Barlow"/>
                <a:cs typeface="Barlow"/>
                <a:sym typeface="Barlow"/>
              </a:rPr>
              <a:t>Nada se atribuye a un estudiante en particular: el resultado es siempre anonimizado.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11049000" y="2774752"/>
            <a:ext cx="6286500" cy="5511998"/>
          </a:xfrm>
          <a:prstGeom prst="rect">
            <a:avLst/>
          </a:prstGeom>
          <a:noFill/>
          <a:ln cap="flat" cmpd="sng" w="9525">
            <a:solidFill>
              <a:srgbClr val="4A6C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11515725" y="3279577"/>
            <a:ext cx="588835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1800"/>
              <a:buFont typeface="Barlow Condensed"/>
              <a:buNone/>
            </a:pPr>
            <a:r>
              <a:rPr b="0" i="0" lang="en-US" sz="1800" u="none" cap="none" strike="noStrike">
                <a:solidFill>
                  <a:srgbClr val="93A8C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ENTRA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11515725" y="3729038"/>
            <a:ext cx="5513642" cy="8608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Telemetría de los escenarios y respuestas de las encuestas.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11515725" y="4894659"/>
            <a:ext cx="588835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1800"/>
              <a:buFont typeface="Barlow Condensed"/>
              <a:buNone/>
            </a:pPr>
            <a:r>
              <a:rPr b="0" i="0" lang="en-US" sz="1800" u="none" cap="none" strike="noStrike">
                <a:solidFill>
                  <a:srgbClr val="93A8C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PROCESA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11515725" y="5344120"/>
            <a:ext cx="5513642" cy="8608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Agrupa, anonimiza y detecta tendencias entre sesiones.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11515725" y="6509742"/>
            <a:ext cx="588835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800"/>
              <a:buFont typeface="Barlow Condensed"/>
              <a:buNone/>
            </a:pPr>
            <a:r>
              <a:rPr b="0" i="0" lang="en-US" sz="18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SALE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11515725" y="6959203"/>
            <a:ext cx="5513642" cy="8608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Insights listos para leer sin conocimiento técnico.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"/>
          <p:cNvSpPr/>
          <p:nvPr/>
        </p:nvSpPr>
        <p:spPr>
          <a:xfrm>
            <a:off x="952500" y="1526828"/>
            <a:ext cx="16383000" cy="9525"/>
          </a:xfrm>
          <a:prstGeom prst="rect">
            <a:avLst/>
          </a:prstGeom>
          <a:solidFill>
            <a:srgbClr val="C9CE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1"/>
          <p:cNvSpPr/>
          <p:nvPr/>
        </p:nvSpPr>
        <p:spPr>
          <a:xfrm>
            <a:off x="952500" y="953839"/>
            <a:ext cx="95250" cy="3048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1"/>
          <p:cNvSpPr/>
          <p:nvPr/>
        </p:nvSpPr>
        <p:spPr>
          <a:xfrm>
            <a:off x="1219200" y="914400"/>
            <a:ext cx="1713890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EMOTIONLAB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15915382" y="914400"/>
            <a:ext cx="1562130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6B74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DASHBOARD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952500" y="2069753"/>
            <a:ext cx="18021300" cy="8929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4679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6600"/>
              <a:buFont typeface="Barlow Condensed"/>
              <a:buNone/>
            </a:pPr>
            <a:r>
              <a:rPr b="1" i="0" lang="en-US" sz="66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Del dato a la información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952500" y="3191321"/>
            <a:ext cx="13620750" cy="5447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652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2850"/>
              <a:buFont typeface="Barlow"/>
              <a:buNone/>
            </a:pPr>
            <a:r>
              <a:rPr b="0" i="0" lang="en-US" sz="285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El psicopedagogo y el docente abren un panel y entienden al curso en minutos.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952500" y="6062067"/>
            <a:ext cx="16383000" cy="3462933"/>
          </a:xfrm>
          <a:prstGeom prst="rect">
            <a:avLst/>
          </a:prstGeom>
          <a:solidFill>
            <a:srgbClr val="C9CED6"/>
          </a:solidFill>
          <a:ln cap="flat" cmpd="sng" w="9525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"/>
          <p:cNvSpPr/>
          <p:nvPr/>
        </p:nvSpPr>
        <p:spPr>
          <a:xfrm>
            <a:off x="962025" y="6071592"/>
            <a:ext cx="8172450" cy="1712416"/>
          </a:xfrm>
          <a:prstGeom prst="rect">
            <a:avLst/>
          </a:prstGeom>
          <a:solidFill>
            <a:srgbClr val="F2F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1"/>
          <p:cNvSpPr/>
          <p:nvPr/>
        </p:nvSpPr>
        <p:spPr>
          <a:xfrm>
            <a:off x="1419225" y="6490692"/>
            <a:ext cx="303014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9512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2550"/>
              <a:buFont typeface="Barlow Condensed"/>
              <a:buNone/>
            </a:pPr>
            <a:r>
              <a:rPr b="0" i="0" lang="en-US" sz="255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01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1912739" y="6490692"/>
            <a:ext cx="6967472" cy="9123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951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"/>
              <a:buNone/>
            </a:pPr>
            <a:r>
              <a:rPr b="0" i="0" lang="en-US" sz="25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Cómo respondió el curso en cada escenario de la sesión.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9153525" y="6071592"/>
            <a:ext cx="8172450" cy="1712416"/>
          </a:xfrm>
          <a:prstGeom prst="rect">
            <a:avLst/>
          </a:prstGeom>
          <a:solidFill>
            <a:srgbClr val="F2F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"/>
          <p:cNvSpPr/>
          <p:nvPr/>
        </p:nvSpPr>
        <p:spPr>
          <a:xfrm>
            <a:off x="9610725" y="6490692"/>
            <a:ext cx="350193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9512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2550"/>
              <a:buFont typeface="Barlow Condensed"/>
              <a:buNone/>
            </a:pPr>
            <a:r>
              <a:rPr b="0" i="0" lang="en-US" sz="255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10151418" y="6490692"/>
            <a:ext cx="6918878" cy="9123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951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"/>
              <a:buNone/>
            </a:pPr>
            <a:r>
              <a:rPr b="0" i="0" lang="en-US" sz="25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Qué cambió entre la encuesta previa y la posterior.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962025" y="7803059"/>
            <a:ext cx="8172450" cy="1712416"/>
          </a:xfrm>
          <a:prstGeom prst="rect">
            <a:avLst/>
          </a:prstGeom>
          <a:solidFill>
            <a:srgbClr val="F2F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"/>
          <p:cNvSpPr/>
          <p:nvPr/>
        </p:nvSpPr>
        <p:spPr>
          <a:xfrm>
            <a:off x="1419225" y="8222159"/>
            <a:ext cx="352127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9512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2550"/>
              <a:buFont typeface="Barlow Condensed"/>
              <a:buNone/>
            </a:pPr>
            <a:r>
              <a:rPr b="0" i="0" lang="en-US" sz="255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03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1961852" y="8222159"/>
            <a:ext cx="6916885" cy="9123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951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"/>
              <a:buNone/>
            </a:pPr>
            <a:r>
              <a:rPr b="0" i="0" lang="en-US" sz="25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Qué tendencias se repiten entre una sesión y la siguiente.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9153525" y="7803059"/>
            <a:ext cx="8172450" cy="1712416"/>
          </a:xfrm>
          <a:prstGeom prst="rect">
            <a:avLst/>
          </a:prstGeom>
          <a:solidFill>
            <a:srgbClr val="F2F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"/>
          <p:cNvSpPr/>
          <p:nvPr/>
        </p:nvSpPr>
        <p:spPr>
          <a:xfrm>
            <a:off x="9610725" y="8222159"/>
            <a:ext cx="354509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9512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2550"/>
              <a:buFont typeface="Barlow Condensed"/>
              <a:buNone/>
            </a:pPr>
            <a:r>
              <a:rPr b="0" i="0" lang="en-US" sz="255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10155734" y="8222159"/>
            <a:ext cx="6914433" cy="9123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951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"/>
              <a:buNone/>
            </a:pPr>
            <a:r>
              <a:rPr b="0" i="0" lang="en-US" sz="25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Dónde conviene concentrar el trabajo de orientación.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A5C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"/>
          <p:cNvSpPr/>
          <p:nvPr/>
        </p:nvSpPr>
        <p:spPr>
          <a:xfrm>
            <a:off x="952500" y="1526828"/>
            <a:ext cx="16383000" cy="9525"/>
          </a:xfrm>
          <a:prstGeom prst="rect">
            <a:avLst/>
          </a:prstGeom>
          <a:solidFill>
            <a:srgbClr val="2C51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952500" y="953839"/>
            <a:ext cx="95250" cy="3048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"/>
          <p:cNvSpPr/>
          <p:nvPr/>
        </p:nvSpPr>
        <p:spPr>
          <a:xfrm>
            <a:off x="1219200" y="914400"/>
            <a:ext cx="1713890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EMOTIONLAB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16284178" y="914400"/>
            <a:ext cx="1127522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93A8C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IMPACTO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952500" y="2069750"/>
            <a:ext cx="16383000" cy="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46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Barlow Condensed"/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Qué logra el colegio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952500" y="5931694"/>
            <a:ext cx="7924800" cy="28575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"/>
          <p:cNvSpPr/>
          <p:nvPr/>
        </p:nvSpPr>
        <p:spPr>
          <a:xfrm>
            <a:off x="952500" y="6303169"/>
            <a:ext cx="8717280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93A8C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PARA EL ESTABLECIMIENTO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952500" y="6915596"/>
            <a:ext cx="8162544" cy="9980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just">
              <a:lnSpc>
                <a:spcPct val="117209"/>
              </a:lnSpc>
              <a:spcBef>
                <a:spcPts val="0"/>
              </a:spcBef>
              <a:spcAft>
                <a:spcPts val="0"/>
              </a:spcAft>
              <a:buClr>
                <a:srgbClr val="E3EAF4"/>
              </a:buClr>
              <a:buSzPts val="2700"/>
              <a:buFont typeface="Barlow"/>
              <a:buNone/>
            </a:pPr>
            <a:r>
              <a:rPr b="0" i="0" lang="en-US" sz="2700" u="none" cap="none" strike="noStrike">
                <a:solidFill>
                  <a:srgbClr val="E3EAF4"/>
                </a:solidFill>
                <a:latin typeface="Barlow"/>
                <a:ea typeface="Barlow"/>
                <a:cs typeface="Barlow"/>
                <a:sym typeface="Barlow"/>
              </a:rPr>
              <a:t>Evidencia anonimizada para justificar y evaluar sus intervenciones de orientación.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952500" y="8085088"/>
            <a:ext cx="8162544" cy="14780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just">
              <a:lnSpc>
                <a:spcPct val="117209"/>
              </a:lnSpc>
              <a:spcBef>
                <a:spcPts val="0"/>
              </a:spcBef>
              <a:spcAft>
                <a:spcPts val="0"/>
              </a:spcAft>
              <a:buClr>
                <a:srgbClr val="E3EAF4"/>
              </a:buClr>
              <a:buSzPts val="2700"/>
              <a:buFont typeface="Barlow"/>
              <a:buNone/>
            </a:pPr>
            <a:r>
              <a:rPr b="0" i="0" lang="en-US" sz="2700" u="none" cap="none" strike="noStrike">
                <a:solidFill>
                  <a:srgbClr val="E3EAF4"/>
                </a:solidFill>
                <a:latin typeface="Barlow"/>
                <a:ea typeface="Barlow"/>
                <a:cs typeface="Barlow"/>
                <a:sym typeface="Barlow"/>
              </a:rPr>
              <a:t>Un programa diferenciador de habilidades socioemocionales, sin carga adicional para los docentes.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9410700" y="5931694"/>
            <a:ext cx="7924800" cy="28575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"/>
          <p:cNvSpPr/>
          <p:nvPr/>
        </p:nvSpPr>
        <p:spPr>
          <a:xfrm>
            <a:off x="9410700" y="6303169"/>
            <a:ext cx="8717280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93A8C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PARA LOS ESTUDIANTES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9410700" y="6915596"/>
            <a:ext cx="8162544" cy="9980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209"/>
              </a:lnSpc>
              <a:spcBef>
                <a:spcPts val="0"/>
              </a:spcBef>
              <a:spcAft>
                <a:spcPts val="0"/>
              </a:spcAft>
              <a:buClr>
                <a:srgbClr val="E3EAF4"/>
              </a:buClr>
              <a:buSzPts val="2700"/>
              <a:buFont typeface="Barlow"/>
              <a:buNone/>
            </a:pPr>
            <a:r>
              <a:rPr b="0" i="0" lang="en-US" sz="2700" u="none" cap="none" strike="noStrike">
                <a:solidFill>
                  <a:srgbClr val="E3EAF4"/>
                </a:solidFill>
                <a:latin typeface="Barlow"/>
                <a:ea typeface="Barlow"/>
                <a:cs typeface="Barlow"/>
                <a:sym typeface="Barlow"/>
              </a:rPr>
              <a:t>Un lugar seguro para practicar presentaciones tantas veces como necesiten.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9410700" y="8085088"/>
            <a:ext cx="8162544" cy="9980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209"/>
              </a:lnSpc>
              <a:spcBef>
                <a:spcPts val="0"/>
              </a:spcBef>
              <a:spcAft>
                <a:spcPts val="0"/>
              </a:spcAft>
              <a:buClr>
                <a:srgbClr val="E3EAF4"/>
              </a:buClr>
              <a:buSzPts val="2700"/>
              <a:buFont typeface="Barlow"/>
              <a:buNone/>
            </a:pPr>
            <a:r>
              <a:rPr b="0" i="0" lang="en-US" sz="2700" u="none" cap="none" strike="noStrike">
                <a:solidFill>
                  <a:srgbClr val="E3EAF4"/>
                </a:solidFill>
                <a:latin typeface="Barlow"/>
                <a:ea typeface="Barlow"/>
                <a:cs typeface="Barlow"/>
                <a:sym typeface="Barlow"/>
              </a:rPr>
              <a:t>Herramientas concretas de regulación que pueden usar fuera del visor.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B3D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"/>
          <p:cNvSpPr/>
          <p:nvPr/>
        </p:nvSpPr>
        <p:spPr>
          <a:xfrm>
            <a:off x="952500" y="1526828"/>
            <a:ext cx="16383000" cy="9525"/>
          </a:xfrm>
          <a:prstGeom prst="rect">
            <a:avLst/>
          </a:prstGeom>
          <a:solidFill>
            <a:srgbClr val="2C51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3"/>
          <p:cNvSpPr/>
          <p:nvPr/>
        </p:nvSpPr>
        <p:spPr>
          <a:xfrm>
            <a:off x="952500" y="953839"/>
            <a:ext cx="95250" cy="3048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3"/>
          <p:cNvSpPr/>
          <p:nvPr/>
        </p:nvSpPr>
        <p:spPr>
          <a:xfrm>
            <a:off x="1219200" y="914400"/>
            <a:ext cx="1713890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EMOTIONLAB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16406515" y="914400"/>
            <a:ext cx="1005185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93A8C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ESTADO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952500" y="3928170"/>
            <a:ext cx="9953625" cy="4810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2250"/>
              <a:buFont typeface="Barlow Condensed"/>
              <a:buNone/>
            </a:pPr>
            <a:r>
              <a:rPr b="0" i="0" lang="en-US" sz="225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ESTADO ACTUAL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952500" y="4599682"/>
            <a:ext cx="9953625" cy="1123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2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50"/>
              <a:buFont typeface="Barlow Condensed"/>
              <a:buNone/>
            </a:pPr>
            <a:r>
              <a:rPr b="1" i="0" lang="en-US" sz="8550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Prototipo funcional</a:t>
            </a:r>
            <a:endParaRPr b="0" i="0" sz="8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952500" y="6066532"/>
            <a:ext cx="9320213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CFDAEA"/>
              </a:buClr>
              <a:buSzPts val="3000"/>
              <a:buFont typeface="Barlow"/>
              <a:buNone/>
            </a:pPr>
            <a:r>
              <a:rPr b="0" i="0" lang="en-US" sz="3000" u="none" cap="none" strike="noStrike">
                <a:solidFill>
                  <a:srgbClr val="CFDAEA"/>
                </a:solidFill>
                <a:latin typeface="Barlow"/>
                <a:ea typeface="Barlow"/>
                <a:cs typeface="Barlow"/>
                <a:sym typeface="Barlow"/>
              </a:rPr>
              <a:t>Listo para desplegarse en colegios, con respaldo institucional de Duoc UC como proyecto CITT.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11049000" y="2774752"/>
            <a:ext cx="6286500" cy="5511998"/>
          </a:xfrm>
          <a:prstGeom prst="rect">
            <a:avLst/>
          </a:prstGeom>
          <a:noFill/>
          <a:ln cap="flat" cmpd="sng" w="9525">
            <a:solidFill>
              <a:srgbClr val="4A6C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3"/>
          <p:cNvSpPr/>
          <p:nvPr/>
        </p:nvSpPr>
        <p:spPr>
          <a:xfrm>
            <a:off x="11515725" y="3279577"/>
            <a:ext cx="588835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1800"/>
              <a:buFont typeface="Barlow Condensed"/>
              <a:buNone/>
            </a:pPr>
            <a:r>
              <a:rPr b="0" i="0" lang="en-US" sz="1800" u="none" cap="none" strike="noStrike">
                <a:solidFill>
                  <a:srgbClr val="93A8C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LISTO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11515725" y="3729038"/>
            <a:ext cx="5513642" cy="8608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Experiencia VR completa, con sus dos escenarios y ejercicios de regulación.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11515725" y="4894659"/>
            <a:ext cx="588835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93A8C4"/>
              </a:buClr>
              <a:buSzPts val="1800"/>
              <a:buFont typeface="Barlow Condensed"/>
              <a:buNone/>
            </a:pPr>
            <a:r>
              <a:rPr b="0" i="0" lang="en-US" sz="1800" u="none" cap="none" strike="noStrike">
                <a:solidFill>
                  <a:srgbClr val="93A8C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LISTO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11515725" y="5344120"/>
            <a:ext cx="5513642" cy="8608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Captura de datos, procesamiento con IA y dashboard anonimizado.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11515725" y="6509742"/>
            <a:ext cx="5888355" cy="3923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1800"/>
              <a:buFont typeface="Barlow Condensed"/>
              <a:buNone/>
            </a:pPr>
            <a:r>
              <a:rPr b="0" i="0" lang="en-US" sz="180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SIGUIENTE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11515725" y="6959203"/>
            <a:ext cx="5513642" cy="8608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Validación en terreno con un establecimiento.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"/>
          <p:cNvSpPr/>
          <p:nvPr/>
        </p:nvSpPr>
        <p:spPr>
          <a:xfrm>
            <a:off x="952500" y="1526828"/>
            <a:ext cx="16383000" cy="9525"/>
          </a:xfrm>
          <a:prstGeom prst="rect">
            <a:avLst/>
          </a:prstGeom>
          <a:solidFill>
            <a:srgbClr val="C9CE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4"/>
          <p:cNvSpPr/>
          <p:nvPr/>
        </p:nvSpPr>
        <p:spPr>
          <a:xfrm>
            <a:off x="952500" y="953839"/>
            <a:ext cx="95250" cy="304800"/>
          </a:xfrm>
          <a:prstGeom prst="rect">
            <a:avLst/>
          </a:prstGeom>
          <a:solidFill>
            <a:srgbClr val="F265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4"/>
          <p:cNvSpPr/>
          <p:nvPr/>
        </p:nvSpPr>
        <p:spPr>
          <a:xfrm>
            <a:off x="1219200" y="914400"/>
            <a:ext cx="1713890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EMOTIONLAB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16454735" y="914400"/>
            <a:ext cx="956965" cy="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480"/>
              </a:buClr>
              <a:buSzPts val="1950"/>
              <a:buFont typeface="Barlow Condensed"/>
              <a:buNone/>
            </a:pPr>
            <a:r>
              <a:rPr b="0" i="0" lang="en-US" sz="1950" u="none" cap="none" strike="noStrike">
                <a:solidFill>
                  <a:srgbClr val="6B74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PILOTO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4"/>
          <p:cNvSpPr/>
          <p:nvPr/>
        </p:nvSpPr>
        <p:spPr>
          <a:xfrm>
            <a:off x="952500" y="2069753"/>
            <a:ext cx="18021300" cy="8929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4679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6600"/>
              <a:buFont typeface="Barlow Condensed"/>
              <a:buNone/>
            </a:pPr>
            <a:r>
              <a:rPr b="1" i="0" lang="en-US" sz="660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Plan de piloto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952500" y="3534221"/>
            <a:ext cx="16383000" cy="3121968"/>
          </a:xfrm>
          <a:prstGeom prst="rect">
            <a:avLst/>
          </a:prstGeom>
          <a:solidFill>
            <a:srgbClr val="C9CED6"/>
          </a:solidFill>
          <a:ln cap="flat" cmpd="sng" w="9525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4"/>
          <p:cNvSpPr/>
          <p:nvPr/>
        </p:nvSpPr>
        <p:spPr>
          <a:xfrm>
            <a:off x="962025" y="3543746"/>
            <a:ext cx="5441900" cy="31029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4"/>
          <p:cNvSpPr/>
          <p:nvPr/>
        </p:nvSpPr>
        <p:spPr>
          <a:xfrm>
            <a:off x="1419225" y="4039046"/>
            <a:ext cx="4980250" cy="11181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099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9450"/>
              <a:buFont typeface="Barlow Condensed"/>
              <a:buNone/>
            </a:pPr>
            <a:r>
              <a:rPr b="1" i="0" lang="en-US" sz="945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20</a:t>
            </a:r>
            <a:endParaRPr b="0" i="0" sz="9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1419225" y="5328642"/>
            <a:ext cx="4663325" cy="8608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estudiantes de enseñanza media facilitados por el establecimiento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6422975" y="3543746"/>
            <a:ext cx="5441900" cy="31029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4"/>
          <p:cNvSpPr/>
          <p:nvPr/>
        </p:nvSpPr>
        <p:spPr>
          <a:xfrm>
            <a:off x="6880175" y="4039046"/>
            <a:ext cx="4980250" cy="11181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099"/>
              </a:lnSpc>
              <a:spcBef>
                <a:spcPts val="0"/>
              </a:spcBef>
              <a:spcAft>
                <a:spcPts val="0"/>
              </a:spcAft>
              <a:buClr>
                <a:srgbClr val="002A5C"/>
              </a:buClr>
              <a:buSzPts val="9450"/>
              <a:buFont typeface="Barlow Condensed"/>
              <a:buNone/>
            </a:pPr>
            <a:r>
              <a:rPr b="1" i="0" lang="en-US" sz="9450" u="none" cap="none" strike="noStrike">
                <a:solidFill>
                  <a:srgbClr val="002A5C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2</a:t>
            </a:r>
            <a:endParaRPr b="0" i="0" sz="9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6880175" y="5328642"/>
            <a:ext cx="4663325" cy="8608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sesiones por semana de pruebas e intervención con VR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11883926" y="3543746"/>
            <a:ext cx="5441900" cy="31029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4"/>
          <p:cNvSpPr/>
          <p:nvPr/>
        </p:nvSpPr>
        <p:spPr>
          <a:xfrm>
            <a:off x="12341126" y="4039046"/>
            <a:ext cx="4980250" cy="11181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5099"/>
              </a:lnSpc>
              <a:spcBef>
                <a:spcPts val="0"/>
              </a:spcBef>
              <a:spcAft>
                <a:spcPts val="0"/>
              </a:spcAft>
              <a:buClr>
                <a:srgbClr val="F26522"/>
              </a:buClr>
              <a:buSzPts val="9450"/>
              <a:buFont typeface="Barlow Condensed"/>
              <a:buNone/>
            </a:pPr>
            <a:r>
              <a:rPr b="1" i="0" lang="en-US" sz="9450" u="none" cap="none" strike="noStrike">
                <a:solidFill>
                  <a:srgbClr val="F265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1</a:t>
            </a:r>
            <a:endParaRPr b="0" i="0" sz="9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12341126" y="5328642"/>
            <a:ext cx="4663325" cy="8608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2400"/>
              <a:buFont typeface="Barlow"/>
              <a:buNone/>
            </a:pPr>
            <a:r>
              <a:rPr b="0" i="0" lang="en-US" sz="240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mes de duración, con toma de datos en cada sesión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952500" y="7113389"/>
            <a:ext cx="13735050" cy="9772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244"/>
              </a:lnSpc>
              <a:spcBef>
                <a:spcPts val="0"/>
              </a:spcBef>
              <a:spcAft>
                <a:spcPts val="0"/>
              </a:spcAft>
              <a:buClr>
                <a:srgbClr val="4A525C"/>
              </a:buClr>
              <a:buSzPts val="2550"/>
              <a:buFont typeface="Barlow"/>
              <a:buNone/>
            </a:pPr>
            <a:r>
              <a:rPr b="0" i="0" lang="en-US" sz="2550" u="none" cap="none" strike="noStrike">
                <a:solidFill>
                  <a:srgbClr val="4A525C"/>
                </a:solidFill>
                <a:latin typeface="Barlow"/>
                <a:ea typeface="Barlow"/>
                <a:cs typeface="Barlow"/>
                <a:sym typeface="Barlow"/>
              </a:rPr>
              <a:t>Un compromiso acotado para el colegio y suficiente para entregar el primer informe con evidencia real.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