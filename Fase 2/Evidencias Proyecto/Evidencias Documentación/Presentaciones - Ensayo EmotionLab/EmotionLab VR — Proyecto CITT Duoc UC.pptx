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embeddedFontLst>
    <p:embeddedFont>
      <p:font typeface="Barlow Condensed"/>
      <p:regular r:id="rId16"/>
      <p:bold r:id="rId17"/>
      <p:italic r:id="rId18"/>
      <p:boldItalic r:id="rId19"/>
    </p:embeddedFont>
    <p:embeddedFont>
      <p:font typeface="Barlow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5bccB/F/RgagfOwvzXCAu73pL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-regular.fntdata"/><Relationship Id="rId11" Type="http://schemas.openxmlformats.org/officeDocument/2006/relationships/slide" Target="slides/slide7.xml"/><Relationship Id="rId22" Type="http://schemas.openxmlformats.org/officeDocument/2006/relationships/font" Target="fonts/Barlow-italic.fntdata"/><Relationship Id="rId10" Type="http://schemas.openxmlformats.org/officeDocument/2006/relationships/slide" Target="slides/slide6.xml"/><Relationship Id="rId21" Type="http://schemas.openxmlformats.org/officeDocument/2006/relationships/font" Target="fonts/Barlow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Barlow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BarlowCondensed-bold.fntdata"/><Relationship Id="rId16" Type="http://schemas.openxmlformats.org/officeDocument/2006/relationships/font" Target="fonts/BarlowCondensed-regular.fntdata"/><Relationship Id="rId5" Type="http://schemas.openxmlformats.org/officeDocument/2006/relationships/slide" Target="slides/slide1.xml"/><Relationship Id="rId19" Type="http://schemas.openxmlformats.org/officeDocument/2006/relationships/font" Target="fonts/BarlowCondensed-boldItalic.fntdata"/><Relationship Id="rId6" Type="http://schemas.openxmlformats.org/officeDocument/2006/relationships/slide" Target="slides/slide2.xml"/><Relationship Id="rId18" Type="http://schemas.openxmlformats.org/officeDocument/2006/relationships/font" Target="fonts/BarlowCondensed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h34614745378d6bcd_0_0:notes"/>
          <p:cNvSpPr/>
          <p:nvPr>
            <p:ph idx="2" type="sldImg"/>
          </p:nvPr>
        </p:nvSpPr>
        <p:spPr>
          <a:xfrm>
            <a:off x="457200" y="762000"/>
            <a:ext cx="3657600" cy="20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h34614745378d6bcd_0_0:notes"/>
          <p:cNvSpPr txBox="1"/>
          <p:nvPr>
            <p:ph idx="1" type="body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Buenos días. Presentamos EmotionLab, un proyecto CITT de Duoc UC dirigido a colegios de enseñanza media.</a:t>
            </a:r>
            <a:endParaRPr/>
          </a:p>
        </p:txBody>
      </p:sp>
      <p:sp>
        <p:nvSpPr>
          <p:cNvPr id="14" name="Google Shape;14;h34614745378d6bcd_0_0:notes"/>
          <p:cNvSpPr txBox="1"/>
          <p:nvPr>
            <p:ph idx="12" type="sldNum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h34614745378d6bcd_0_18:notes"/>
          <p:cNvSpPr/>
          <p:nvPr>
            <p:ph idx="2" type="sldImg"/>
          </p:nvPr>
        </p:nvSpPr>
        <p:spPr>
          <a:xfrm>
            <a:off x="457200" y="762000"/>
            <a:ext cx="3657600" cy="20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h34614745378d6bcd_0_18:notes"/>
          <p:cNvSpPr txBox="1"/>
          <p:nvPr>
            <p:ph idx="1" type="body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punto de partida es una necesidad concreta del colegio: los estudiantes se bloquean al presentar y el equipo no tiene con qué medirlo.</a:t>
            </a:r>
            <a:endParaRPr/>
          </a:p>
        </p:txBody>
      </p:sp>
      <p:sp>
        <p:nvSpPr>
          <p:cNvPr id="31" name="Google Shape;31;h34614745378d6bcd_0_18:notes"/>
          <p:cNvSpPr txBox="1"/>
          <p:nvPr>
            <p:ph idx="12" type="sldNum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punto de partida es una necesidad concreta del colegio: los estudiantes se bloquean al presentar y el equipo no tiene con qué medirlo.</a:t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34614745378d6bcd_0_40:notes"/>
          <p:cNvSpPr/>
          <p:nvPr>
            <p:ph idx="2" type="sldImg"/>
          </p:nvPr>
        </p:nvSpPr>
        <p:spPr>
          <a:xfrm>
            <a:off x="457200" y="762000"/>
            <a:ext cx="3657600" cy="205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h34614745378d6bcd_0_40:notes"/>
          <p:cNvSpPr txBox="1"/>
          <p:nvPr>
            <p:ph idx="1" type="body"/>
          </p:nvPr>
        </p:nvSpPr>
        <p:spPr>
          <a:xfrm>
            <a:off x="457200" y="2933700"/>
            <a:ext cx="36576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EmotionLab es un espacio seguro para practicar presentaciones y, al mismo tiempo, la fuente de evidencia que el colegio necesita.</a:t>
            </a:r>
            <a:endParaRPr/>
          </a:p>
        </p:txBody>
      </p:sp>
      <p:sp>
        <p:nvSpPr>
          <p:cNvPr id="79" name="Google Shape;79;h34614745378d6bcd_0_40:notes"/>
          <p:cNvSpPr txBox="1"/>
          <p:nvPr>
            <p:ph idx="12" type="sldNum"/>
          </p:nvPr>
        </p:nvSpPr>
        <p:spPr>
          <a:xfrm>
            <a:off x="2589742" y="5790142"/>
            <a:ext cx="19812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Así vive la sesión un estudiante: sala de espera, respiración, dos escenarios de dificultad creciente y un cierre con grounding.</a:t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Durante toda la sesión la aplicación captura telemetría, y la acompañamos con encuestas antes y después.</a:t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datos pasan por un equipo de IA que los ordena y los deja como una ficha por ID, sin nombres ni datos personales. La IA no saca conclusiones: quien interpreta y decide qué hacer es el docente o el psicopedagogo.</a:t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resultado llega al psicopedagogo y al docente como un dashboard digerible: una ficha por ID, sin promedios ni tendencias calculadas. Del dato a la información; la decisión pedagógica la toman ellos.</a:t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Qué gana el colegio y qué ganan los estudiantes.</a:t>
            </a:r>
            <a:endParaRPr/>
          </a:p>
        </p:txBody>
      </p:sp>
      <p:sp>
        <p:nvSpPr>
          <p:cNvPr id="210" name="Google Shape;2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Hoy tenemos un prototipo funcional listo para desplegarse en colegios.</a:t>
            </a:r>
            <a:endParaRPr/>
          </a:p>
        </p:txBody>
      </p:sp>
      <p:sp>
        <p:nvSpPr>
          <p:cNvPr id="232" name="Google Shape;23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piloto es acotado para el colegio: 20 estudiantes, dos sesiones por semana, un mes.</a:t>
            </a:r>
            <a:endParaRPr/>
          </a:p>
        </p:txBody>
      </p:sp>
      <p:sp>
        <p:nvSpPr>
          <p:cNvPr id="255" name="Google Shape;25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A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h34614745378d6bcd_0_0"/>
          <p:cNvSpPr/>
          <p:nvPr/>
        </p:nvSpPr>
        <p:spPr>
          <a:xfrm>
            <a:off x="635000" y="635000"/>
            <a:ext cx="89100" cy="2793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h34614745378d6bcd_0_0"/>
          <p:cNvSpPr/>
          <p:nvPr/>
        </p:nvSpPr>
        <p:spPr>
          <a:xfrm>
            <a:off x="850900" y="636885"/>
            <a:ext cx="8784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 Condensed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DUOC UC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h34614745378d6bcd_0_0"/>
          <p:cNvSpPr/>
          <p:nvPr/>
        </p:nvSpPr>
        <p:spPr>
          <a:xfrm>
            <a:off x="1776413" y="656630"/>
            <a:ext cx="1421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93A8C4"/>
                </a:solidFill>
                <a:latin typeface="Barlow"/>
                <a:ea typeface="Barlow"/>
                <a:cs typeface="Barlow"/>
                <a:sym typeface="Barlow"/>
              </a:rPr>
              <a:t>PROYECTO CITT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h34614745378d6bcd_0_0"/>
          <p:cNvSpPr/>
          <p:nvPr/>
        </p:nvSpPr>
        <p:spPr>
          <a:xfrm>
            <a:off x="635000" y="2196604"/>
            <a:ext cx="4749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500"/>
              <a:buFont typeface="Barlow Condensed"/>
              <a:buNone/>
            </a:pPr>
            <a:r>
              <a:rPr b="0" i="0" lang="en-US" sz="15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PROYECTO DE CONTINUIDAD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h34614745378d6bcd_0_0"/>
          <p:cNvSpPr/>
          <p:nvPr/>
        </p:nvSpPr>
        <p:spPr>
          <a:xfrm>
            <a:off x="635000" y="2669679"/>
            <a:ext cx="47499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7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Barlow Condensed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h34614745378d6bcd_0_0"/>
          <p:cNvSpPr/>
          <p:nvPr/>
        </p:nvSpPr>
        <p:spPr>
          <a:xfrm>
            <a:off x="635000" y="3759299"/>
            <a:ext cx="43167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3023"/>
              </a:lnSpc>
              <a:spcBef>
                <a:spcPts val="0"/>
              </a:spcBef>
              <a:spcAft>
                <a:spcPts val="0"/>
              </a:spcAft>
              <a:buClr>
                <a:srgbClr val="CFDAEA"/>
              </a:buClr>
              <a:buSzPts val="1800"/>
              <a:buFont typeface="Barlo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h34614745378d6bcd_0_0"/>
          <p:cNvSpPr/>
          <p:nvPr/>
        </p:nvSpPr>
        <p:spPr>
          <a:xfrm>
            <a:off x="635000" y="5967115"/>
            <a:ext cx="11949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300"/>
              <a:buFont typeface="Barlow Condensed"/>
              <a:buNone/>
            </a:pPr>
            <a:r>
              <a:rPr b="0" i="0" lang="en-US" sz="130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EXPERIENCIA VR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h34614745378d6bcd_0_0"/>
          <p:cNvSpPr/>
          <p:nvPr/>
        </p:nvSpPr>
        <p:spPr>
          <a:xfrm>
            <a:off x="2026245" y="5967115"/>
            <a:ext cx="11970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300"/>
              <a:buFont typeface="Barlow Condensed"/>
              <a:buNone/>
            </a:pPr>
            <a:r>
              <a:rPr b="0" i="0" lang="en-US" sz="130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ANÁLISIS CON 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h34614745378d6bcd_0_0"/>
          <p:cNvSpPr/>
          <p:nvPr/>
        </p:nvSpPr>
        <p:spPr>
          <a:xfrm>
            <a:off x="3419277" y="5967115"/>
            <a:ext cx="15681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300"/>
              <a:buFont typeface="Barlow Condensed"/>
              <a:buNone/>
            </a:pPr>
            <a:r>
              <a:rPr b="0" i="0" lang="en-US" sz="130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DASHBOARD DOCENTE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h34614745378d6bcd_0_0"/>
          <p:cNvSpPr/>
          <p:nvPr/>
        </p:nvSpPr>
        <p:spPr>
          <a:xfrm>
            <a:off x="5461000" y="0"/>
            <a:ext cx="6731100" cy="6858000"/>
          </a:xfrm>
          <a:prstGeom prst="rect">
            <a:avLst/>
          </a:prstGeom>
          <a:solidFill>
            <a:srgbClr val="7F7F7F">
              <a:alpha val="7840"/>
            </a:srgbClr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" name="Google Shape;26;h34614745378d6bcd_0_0" title="Gemini_Generated_Image_jkdjqdjkdjqdjkdj.jpg"/>
          <p:cNvPicPr preferRelativeResize="0"/>
          <p:nvPr/>
        </p:nvPicPr>
        <p:blipFill rotWithShape="1">
          <a:blip r:embed="rId3">
            <a:alphaModFix/>
          </a:blip>
          <a:srcRect b="0" l="32359" r="0" t="0"/>
          <a:stretch/>
        </p:blipFill>
        <p:spPr>
          <a:xfrm>
            <a:off x="5461000" y="1533"/>
            <a:ext cx="8311767" cy="6858000"/>
          </a:xfrm>
          <a:prstGeom prst="rect">
            <a:avLst/>
          </a:prstGeom>
          <a:gradFill>
            <a:gsLst>
              <a:gs pos="0">
                <a:srgbClr val="002A5C">
                  <a:alpha val="87843"/>
                </a:srgbClr>
              </a:gs>
              <a:gs pos="30000">
                <a:srgbClr val="002A5C">
                  <a:alpha val="12157"/>
                </a:srgbClr>
              </a:gs>
              <a:gs pos="55000">
                <a:srgbClr val="002A5C">
                  <a:alpha val="0"/>
                </a:srgbClr>
              </a:gs>
              <a:gs pos="100000">
                <a:srgbClr val="002A5C">
                  <a:alpha val="0"/>
                </a:srgbClr>
              </a:gs>
            </a:gsLst>
            <a:lin ang="0" scaled="0"/>
          </a:gradFill>
          <a:ln>
            <a:noFill/>
          </a:ln>
        </p:spPr>
      </p:pic>
      <p:pic>
        <p:nvPicPr>
          <p:cNvPr id="27" name="Google Shape;27;h34614745378d6bcd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4800" y="0"/>
            <a:ext cx="7050366" cy="6861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h34614745378d6bcd_0_18"/>
          <p:cNvSpPr/>
          <p:nvPr/>
        </p:nvSpPr>
        <p:spPr>
          <a:xfrm>
            <a:off x="635000" y="1017885"/>
            <a:ext cx="10922100" cy="6300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h34614745378d6bcd_0_18"/>
          <p:cNvSpPr/>
          <p:nvPr/>
        </p:nvSpPr>
        <p:spPr>
          <a:xfrm>
            <a:off x="635000" y="635893"/>
            <a:ext cx="63600" cy="2031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h34614745378d6bcd_0_18"/>
          <p:cNvSpPr/>
          <p:nvPr/>
        </p:nvSpPr>
        <p:spPr>
          <a:xfrm>
            <a:off x="812800" y="609600"/>
            <a:ext cx="1142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300"/>
              <a:buFont typeface="Barlow Condensed"/>
              <a:buNone/>
            </a:pPr>
            <a:r>
              <a:rPr b="0" i="0" lang="en-US" sz="13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h34614745378d6bcd_0_18"/>
          <p:cNvSpPr/>
          <p:nvPr/>
        </p:nvSpPr>
        <p:spPr>
          <a:xfrm>
            <a:off x="10707390" y="609600"/>
            <a:ext cx="934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300"/>
              <a:buFont typeface="Barlow Condensed"/>
              <a:buNone/>
            </a:pPr>
            <a:r>
              <a:rPr b="0" i="0" lang="en-US" sz="130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PROBLEMAc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h34614745378d6bcd_0_18"/>
          <p:cNvSpPr/>
          <p:nvPr/>
        </p:nvSpPr>
        <p:spPr>
          <a:xfrm>
            <a:off x="635000" y="1481435"/>
            <a:ext cx="53085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4400"/>
              <a:buFont typeface="Barlow Condensed"/>
              <a:buNone/>
            </a:pPr>
            <a:r>
              <a:rPr b="1" i="0" lang="en-US" sz="44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Qué necesita el colegio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h34614745378d6bcd_0_18"/>
          <p:cNvSpPr/>
          <p:nvPr/>
        </p:nvSpPr>
        <p:spPr>
          <a:xfrm>
            <a:off x="635000" y="2330747"/>
            <a:ext cx="49707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000"/>
              <a:buFont typeface="Barlow"/>
              <a:buNone/>
            </a:pPr>
            <a:r>
              <a:rPr b="0" i="0" lang="en-US" sz="20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Presentar frente al curso es donde más estudiantes se bloquean.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h34614745378d6bcd_0_18"/>
          <p:cNvSpPr/>
          <p:nvPr/>
        </p:nvSpPr>
        <p:spPr>
          <a:xfrm>
            <a:off x="635000" y="3219747"/>
            <a:ext cx="49707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000"/>
              <a:buFont typeface="Barlow"/>
              <a:buNone/>
            </a:pPr>
            <a:r>
              <a:rPr b="0" i="0" lang="en-US" sz="20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El equipo educativo lo sabe, pero no tiene cómo medirlo ni cómo mostrar que una intervención funcionó.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h34614745378d6bcd_0_18"/>
          <p:cNvSpPr/>
          <p:nvPr/>
        </p:nvSpPr>
        <p:spPr>
          <a:xfrm>
            <a:off x="6096000" y="1481435"/>
            <a:ext cx="5460900" cy="1388700"/>
          </a:xfrm>
          <a:prstGeom prst="rect">
            <a:avLst/>
          </a:prstGeom>
          <a:noFill/>
          <a:ln cap="flat" cmpd="sng" w="6350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h34614745378d6bcd_0_18"/>
          <p:cNvSpPr/>
          <p:nvPr/>
        </p:nvSpPr>
        <p:spPr>
          <a:xfrm>
            <a:off x="6356350" y="1729085"/>
            <a:ext cx="5434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300"/>
              <a:buFont typeface="Barlow Condensed"/>
              <a:buNone/>
            </a:pPr>
            <a:r>
              <a:rPr b="0" i="0" lang="en-US" sz="13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PRÁCTICA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h34614745378d6bcd_0_18"/>
          <p:cNvSpPr/>
          <p:nvPr/>
        </p:nvSpPr>
        <p:spPr>
          <a:xfrm>
            <a:off x="6356350" y="2073870"/>
            <a:ext cx="50886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600"/>
              <a:buFont typeface="Barlow"/>
              <a:buNone/>
            </a:pPr>
            <a:r>
              <a:rPr b="0" i="0" lang="en-US" sz="16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La única forma de practicar es exponerse al curso completo.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h34614745378d6bcd_0_18"/>
          <p:cNvSpPr/>
          <p:nvPr/>
        </p:nvSpPr>
        <p:spPr>
          <a:xfrm>
            <a:off x="6096000" y="3098601"/>
            <a:ext cx="5460900" cy="1388700"/>
          </a:xfrm>
          <a:prstGeom prst="rect">
            <a:avLst/>
          </a:prstGeom>
          <a:noFill/>
          <a:ln cap="flat" cmpd="sng" w="6350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h34614745378d6bcd_0_18"/>
          <p:cNvSpPr/>
          <p:nvPr/>
        </p:nvSpPr>
        <p:spPr>
          <a:xfrm>
            <a:off x="6356350" y="3346251"/>
            <a:ext cx="5434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300"/>
              <a:buFont typeface="Barlow Condensed"/>
              <a:buNone/>
            </a:pPr>
            <a:r>
              <a:rPr b="0" i="0" lang="en-US" sz="13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MEDICIÓN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h34614745378d6bcd_0_18"/>
          <p:cNvSpPr/>
          <p:nvPr/>
        </p:nvSpPr>
        <p:spPr>
          <a:xfrm>
            <a:off x="6356350" y="3691037"/>
            <a:ext cx="50886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600"/>
              <a:buFont typeface="Barlow"/>
              <a:buNone/>
            </a:pPr>
            <a:r>
              <a:rPr b="0" i="0" lang="en-US" sz="16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La regulación emocional se evalúa por percepción, no por evidencia.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h34614745378d6bcd_0_18"/>
          <p:cNvSpPr/>
          <p:nvPr/>
        </p:nvSpPr>
        <p:spPr>
          <a:xfrm>
            <a:off x="6096000" y="4715768"/>
            <a:ext cx="5460900" cy="1388700"/>
          </a:xfrm>
          <a:prstGeom prst="rect">
            <a:avLst/>
          </a:prstGeom>
          <a:noFill/>
          <a:ln cap="flat" cmpd="sng" w="6350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h34614745378d6bcd_0_18"/>
          <p:cNvSpPr/>
          <p:nvPr/>
        </p:nvSpPr>
        <p:spPr>
          <a:xfrm>
            <a:off x="6356350" y="4963418"/>
            <a:ext cx="5434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300"/>
              <a:buFont typeface="Barlow Condensed"/>
              <a:buNone/>
            </a:pPr>
            <a:r>
              <a:rPr b="0" i="0" lang="en-US" sz="13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SEGUIMIENTO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h34614745378d6bcd_0_18"/>
          <p:cNvSpPr/>
          <p:nvPr/>
        </p:nvSpPr>
        <p:spPr>
          <a:xfrm>
            <a:off x="6356350" y="5308203"/>
            <a:ext cx="50886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600"/>
              <a:buFont typeface="Barlow"/>
              <a:buNone/>
            </a:pPr>
            <a:r>
              <a:rPr b="0" i="0" lang="en-US" sz="16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No hay registro comparable entre el inicio y el final del año.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812800" y="1158180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Impacto de las emociones no reguladas en el aprendizaje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12800" y="1831280"/>
            <a:ext cx="10566400" cy="1414463"/>
          </a:xfrm>
          <a:prstGeom prst="roundRect">
            <a:avLst>
              <a:gd fmla="val 3591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" name="Google Shape;56;p3"/>
          <p:cNvCxnSpPr/>
          <p:nvPr/>
        </p:nvCxnSpPr>
        <p:spPr>
          <a:xfrm>
            <a:off x="831850" y="1831280"/>
            <a:ext cx="0" cy="1414463"/>
          </a:xfrm>
          <a:prstGeom prst="straightConnector1">
            <a:avLst/>
          </a:prstGeom>
          <a:noFill/>
          <a:ln cap="flat" cmpd="sng" w="38100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3"/>
          <p:cNvSpPr/>
          <p:nvPr/>
        </p:nvSpPr>
        <p:spPr>
          <a:xfrm>
            <a:off x="1104900" y="2059880"/>
            <a:ext cx="5029645" cy="982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1300"/>
              <a:buFont typeface="Barlow"/>
              <a:buNone/>
            </a:pPr>
            <a:r>
              <a:rPr b="0" i="0" lang="en-US" sz="13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«El aprendizaje es un proceso cognitivo y emocional. Emociones como la ansiedad o el miedo elevan el cortisol y bloquean la atención, la memoria y el rendimiento» </a:t>
            </a:r>
            <a:r>
              <a:rPr b="1" i="0" lang="en-US" sz="13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(Bueno, 2021; Milicic &amp; Marchant, 2020)</a:t>
            </a:r>
            <a:r>
              <a:rPr b="0" i="0" lang="en-US" sz="13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242050" y="2059880"/>
            <a:ext cx="5029645" cy="982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1300"/>
              <a:buFont typeface="Barlow"/>
              <a:buNone/>
            </a:pPr>
            <a:r>
              <a:rPr b="0" i="0" lang="en-US" sz="13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La exposición académica (hablar en público, evaluaciones) dispara hiperactivación emocional y ansiedad en adolescentes, </a:t>
            </a:r>
            <a:r>
              <a:rPr b="1" i="0" lang="en-US" sz="13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anulando sus funciones ejecutivas en momentos críticos</a:t>
            </a:r>
            <a:r>
              <a:rPr b="0" i="0" lang="en-US" sz="13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15975" y="3502918"/>
            <a:ext cx="3380284" cy="1870571"/>
          </a:xfrm>
          <a:prstGeom prst="roundRect">
            <a:avLst>
              <a:gd fmla="val 5262" name="adj"/>
            </a:avLst>
          </a:prstGeom>
          <a:solidFill>
            <a:srgbClr val="FFFFFF"/>
          </a:solidFill>
          <a:ln cap="flat" cmpd="sng" w="9525">
            <a:solidFill>
              <a:srgbClr val="DD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073150" y="3760093"/>
            <a:ext cx="2951912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BLOQUEO COGNITIVO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073150" y="4118173"/>
            <a:ext cx="2951912" cy="46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200"/>
              <a:buFont typeface="Barlow"/>
              <a:buNone/>
            </a:pPr>
            <a:r>
              <a:rPr b="1" i="0" lang="en-US" sz="12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Causa:</a:t>
            </a:r>
            <a:r>
              <a:rPr b="0" i="0" lang="en-US" sz="12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Exposiciones o evaluaciones disparan ansiedad y miedo al ridículo.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73150" y="4674394"/>
            <a:ext cx="2951912" cy="46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1200"/>
              <a:buFont typeface="Barlow"/>
              <a:buNone/>
            </a:pPr>
            <a:r>
              <a:rPr b="1" i="0" lang="en-US" sz="12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Efecto:</a:t>
            </a:r>
            <a:r>
              <a:rPr b="0" i="0" lang="en-US" sz="12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 Anula la concentración y la memoria en momentos críticos.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405809" y="3502918"/>
            <a:ext cx="3380383" cy="1870571"/>
          </a:xfrm>
          <a:prstGeom prst="roundRect">
            <a:avLst>
              <a:gd fmla="val 5262" name="adj"/>
            </a:avLst>
          </a:prstGeom>
          <a:solidFill>
            <a:srgbClr val="FFFFFF"/>
          </a:solidFill>
          <a:ln cap="flat" cmpd="sng" w="9525">
            <a:solidFill>
              <a:srgbClr val="DD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662984" y="3760093"/>
            <a:ext cx="2952014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EVALUACIÓN INVISIBLE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662984" y="4118173"/>
            <a:ext cx="2952014" cy="46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200"/>
              <a:buFont typeface="Barlow"/>
              <a:buNone/>
            </a:pPr>
            <a:r>
              <a:rPr b="1" i="0" lang="en-US" sz="12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Causa:</a:t>
            </a:r>
            <a:r>
              <a:rPr b="0" i="0" lang="en-US" sz="12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El bienestar emocional se evalúa por intuición o percepción.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662984" y="4674394"/>
            <a:ext cx="2952014" cy="46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1200"/>
              <a:buFont typeface="Barlow"/>
              <a:buNone/>
            </a:pPr>
            <a:r>
              <a:rPr b="1" i="0" lang="en-US" sz="12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Efecto:</a:t>
            </a:r>
            <a:r>
              <a:rPr b="0" i="0" lang="en-US" sz="12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 El colegio no tiene métricas reales para detectar o prevenir el estrés.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995741" y="3502918"/>
            <a:ext cx="3380284" cy="1870571"/>
          </a:xfrm>
          <a:prstGeom prst="roundRect">
            <a:avLst>
              <a:gd fmla="val 5262" name="adj"/>
            </a:avLst>
          </a:prstGeom>
          <a:solidFill>
            <a:srgbClr val="FFFFFF"/>
          </a:solidFill>
          <a:ln cap="flat" cmpd="sng" w="9525">
            <a:solidFill>
              <a:srgbClr val="DD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8252916" y="3760093"/>
            <a:ext cx="2951912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PRÁCTICA SIN RED DE SEGURIDAD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252916" y="4118173"/>
            <a:ext cx="2951912" cy="46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200"/>
              <a:buFont typeface="Barlow"/>
              <a:buNone/>
            </a:pPr>
            <a:r>
              <a:rPr b="1" i="0" lang="en-US" sz="12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Causa:</a:t>
            </a:r>
            <a:r>
              <a:rPr b="0" i="0" lang="en-US" sz="12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La única forma de practicar es exponiéndose al juicio del curso completo.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252916" y="4674394"/>
            <a:ext cx="2951912" cy="46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1200"/>
              <a:buFont typeface="Barlow"/>
              <a:buNone/>
            </a:pPr>
            <a:r>
              <a:rPr b="1" i="0" lang="en-US" sz="12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Efecto:</a:t>
            </a:r>
            <a:r>
              <a:rPr b="0" i="0" lang="en-US" sz="12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 El estudiante prefiere no participar para proteger su autoestima.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6B7480"/>
                </a:solidFill>
                <a:latin typeface="Barlow"/>
                <a:ea typeface="Barlow"/>
                <a:cs typeface="Barlow"/>
                <a:sym typeface="Barlow"/>
              </a:rPr>
              <a:t>EmotionLab · Proyecto CITT Duoc 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947400" y="6238280"/>
            <a:ext cx="431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6B7480"/>
                </a:solidFill>
                <a:latin typeface="Barlow"/>
                <a:ea typeface="Barlow"/>
                <a:cs typeface="Barlow"/>
                <a:sym typeface="Barlow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35000" y="635893"/>
            <a:ext cx="63600" cy="2031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812800" y="609600"/>
            <a:ext cx="1142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300"/>
              <a:buFont typeface="Barlow Condensed"/>
              <a:buNone/>
            </a:pPr>
            <a:r>
              <a:rPr b="0" i="0" lang="en-US" sz="13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0707390" y="609600"/>
            <a:ext cx="934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300"/>
              <a:buFont typeface="Barlow Condensed"/>
              <a:buNone/>
            </a:pPr>
            <a:r>
              <a:rPr b="0" i="0" lang="en-US" sz="130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PROBLEMA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A5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34614745378d6bcd_0_40"/>
          <p:cNvSpPr/>
          <p:nvPr/>
        </p:nvSpPr>
        <p:spPr>
          <a:xfrm>
            <a:off x="635000" y="1017885"/>
            <a:ext cx="10922100" cy="6300"/>
          </a:xfrm>
          <a:prstGeom prst="rect">
            <a:avLst/>
          </a:prstGeom>
          <a:solidFill>
            <a:srgbClr val="2C518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h34614745378d6bcd_0_40"/>
          <p:cNvSpPr/>
          <p:nvPr/>
        </p:nvSpPr>
        <p:spPr>
          <a:xfrm>
            <a:off x="635000" y="635893"/>
            <a:ext cx="63600" cy="2031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h34614745378d6bcd_0_40"/>
          <p:cNvSpPr/>
          <p:nvPr/>
        </p:nvSpPr>
        <p:spPr>
          <a:xfrm>
            <a:off x="812800" y="609600"/>
            <a:ext cx="1142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Barlow Condensed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h34614745378d6bcd_0_40"/>
          <p:cNvSpPr/>
          <p:nvPr/>
        </p:nvSpPr>
        <p:spPr>
          <a:xfrm>
            <a:off x="10740231" y="609600"/>
            <a:ext cx="898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300"/>
              <a:buFont typeface="Barlow Condensed"/>
              <a:buNone/>
            </a:pPr>
            <a:r>
              <a:rPr b="0" i="0" lang="en-US" sz="130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SOLUCIÓN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h34614745378d6bcd_0_40"/>
          <p:cNvSpPr/>
          <p:nvPr/>
        </p:nvSpPr>
        <p:spPr>
          <a:xfrm>
            <a:off x="635000" y="1583035"/>
            <a:ext cx="99189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Barlow Condensed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Qué es EmotionLab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h34614745378d6bcd_0_40"/>
          <p:cNvSpPr/>
          <p:nvPr/>
        </p:nvSpPr>
        <p:spPr>
          <a:xfrm>
            <a:off x="635000" y="2432347"/>
            <a:ext cx="9287700" cy="12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2909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2300"/>
              <a:buFont typeface="Barlow"/>
              <a:buNone/>
            </a:pPr>
            <a:r>
              <a:rPr b="0" i="0" lang="en-US" sz="23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Una plataforma de realidad virtual donde el estudiante practica presentar en un entorno seguro, mientras la aplicación registra cómo responde emocionalmente.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h34614745378d6bcd_0_40"/>
          <p:cNvSpPr/>
          <p:nvPr/>
        </p:nvSpPr>
        <p:spPr>
          <a:xfrm>
            <a:off x="635000" y="4676378"/>
            <a:ext cx="10922100" cy="1673700"/>
          </a:xfrm>
          <a:prstGeom prst="rect">
            <a:avLst/>
          </a:prstGeom>
          <a:solidFill>
            <a:srgbClr val="2C518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h34614745378d6bcd_0_40"/>
          <p:cNvSpPr/>
          <p:nvPr/>
        </p:nvSpPr>
        <p:spPr>
          <a:xfrm>
            <a:off x="635000" y="4676378"/>
            <a:ext cx="3632100" cy="1673700"/>
          </a:xfrm>
          <a:prstGeom prst="rect">
            <a:avLst/>
          </a:prstGeom>
          <a:solidFill>
            <a:srgbClr val="002A5C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h34614745378d6bcd_0_40"/>
          <p:cNvSpPr/>
          <p:nvPr/>
        </p:nvSpPr>
        <p:spPr>
          <a:xfrm>
            <a:off x="889000" y="4955778"/>
            <a:ext cx="3436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3117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3200"/>
              <a:buFont typeface="Barlow Condensed"/>
              <a:buNone/>
            </a:pPr>
            <a:r>
              <a:rPr b="0" i="0" lang="en-US" sz="32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h34614745378d6bcd_0_40"/>
          <p:cNvSpPr/>
          <p:nvPr/>
        </p:nvSpPr>
        <p:spPr>
          <a:xfrm>
            <a:off x="889000" y="5476478"/>
            <a:ext cx="32181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1600"/>
              <a:buFont typeface="Barlow"/>
              <a:buNone/>
            </a:pPr>
            <a:r>
              <a:rPr b="0" i="0" lang="en-US" sz="16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Practica sin exponerse: la audiencia es virtual y la dificultad es graduada.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h34614745378d6bcd_0_40"/>
          <p:cNvSpPr/>
          <p:nvPr/>
        </p:nvSpPr>
        <p:spPr>
          <a:xfrm>
            <a:off x="4279900" y="4676378"/>
            <a:ext cx="3632100" cy="1673700"/>
          </a:xfrm>
          <a:prstGeom prst="rect">
            <a:avLst/>
          </a:prstGeom>
          <a:solidFill>
            <a:srgbClr val="002A5C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h34614745378d6bcd_0_40"/>
          <p:cNvSpPr/>
          <p:nvPr/>
        </p:nvSpPr>
        <p:spPr>
          <a:xfrm>
            <a:off x="4533900" y="4955778"/>
            <a:ext cx="3436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3117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3200"/>
              <a:buFont typeface="Barlow Condensed"/>
              <a:buNone/>
            </a:pPr>
            <a:r>
              <a:rPr b="0" i="0" lang="en-US" sz="32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h34614745378d6bcd_0_40"/>
          <p:cNvSpPr/>
          <p:nvPr/>
        </p:nvSpPr>
        <p:spPr>
          <a:xfrm>
            <a:off x="4533900" y="5476478"/>
            <a:ext cx="32181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1600"/>
              <a:buFont typeface="Barlow"/>
              <a:buNone/>
            </a:pPr>
            <a:r>
              <a:rPr b="0" i="0" lang="en-US" sz="16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Aprende a regularse: respiración guiada y grounding integrados en la sesión.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h34614745378d6bcd_0_40"/>
          <p:cNvSpPr/>
          <p:nvPr/>
        </p:nvSpPr>
        <p:spPr>
          <a:xfrm>
            <a:off x="7924800" y="4676378"/>
            <a:ext cx="3632100" cy="1673700"/>
          </a:xfrm>
          <a:prstGeom prst="rect">
            <a:avLst/>
          </a:prstGeom>
          <a:solidFill>
            <a:srgbClr val="002A5C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h34614745378d6bcd_0_40"/>
          <p:cNvSpPr/>
          <p:nvPr/>
        </p:nvSpPr>
        <p:spPr>
          <a:xfrm>
            <a:off x="8178800" y="4955778"/>
            <a:ext cx="3436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83117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3200"/>
              <a:buFont typeface="Barlow Condensed"/>
              <a:buNone/>
            </a:pPr>
            <a:r>
              <a:rPr b="0" i="0" lang="en-US" sz="32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h34614745378d6bcd_0_40"/>
          <p:cNvSpPr/>
          <p:nvPr/>
        </p:nvSpPr>
        <p:spPr>
          <a:xfrm>
            <a:off x="8178800" y="5476478"/>
            <a:ext cx="32181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1600"/>
              <a:buFont typeface="Barlow"/>
              <a:buNone/>
            </a:pPr>
            <a:r>
              <a:rPr b="0" i="0" lang="en-US" sz="16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Deja evidencia: el colegio recibe un registro anonimizado del curso.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812800" y="1170880"/>
            <a:ext cx="10883392" cy="53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800"/>
              <a:buFont typeface="Barlow Condensed"/>
              <a:buNone/>
            </a:pPr>
            <a:r>
              <a:rPr b="1" i="0" lang="en-US" sz="38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La sesión del estudiante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815975" y="2036366"/>
            <a:ext cx="1984970" cy="2259211"/>
          </a:xfrm>
          <a:prstGeom prst="roundRect">
            <a:avLst>
              <a:gd fmla="val 4959" name="adj"/>
            </a:avLst>
          </a:prstGeom>
          <a:solidFill>
            <a:srgbClr val="FFFFFF"/>
          </a:solidFill>
          <a:ln cap="flat" cmpd="sng" w="9525">
            <a:solidFill>
              <a:srgbClr val="DD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1022350" y="2242741"/>
            <a:ext cx="279400" cy="279400"/>
          </a:xfrm>
          <a:prstGeom prst="roundRect">
            <a:avLst>
              <a:gd fmla="val 50000" name="adj"/>
            </a:avLst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1138535" y="2266851"/>
            <a:ext cx="9773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Barlow Condensed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390650" y="2275780"/>
            <a:ext cx="45987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 Condensed"/>
              <a:buNone/>
            </a:pPr>
            <a:r>
              <a:rPr b="1" i="0" lang="en-US" sz="120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PASO 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022350" y="2623741"/>
            <a:ext cx="1623020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700"/>
              <a:buFont typeface="Barlow Condensed"/>
              <a:buNone/>
            </a:pPr>
            <a:r>
              <a:rPr b="1" i="0" lang="en-US" sz="17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Sala de espera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022350" y="2984401"/>
            <a:ext cx="1623020" cy="68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Primer registro del estado emocional antes de empezar.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959695" y="2036366"/>
            <a:ext cx="1985070" cy="2259211"/>
          </a:xfrm>
          <a:prstGeom prst="roundRect">
            <a:avLst>
              <a:gd fmla="val 4958" name="adj"/>
            </a:avLst>
          </a:prstGeom>
          <a:solidFill>
            <a:srgbClr val="FFFFFF"/>
          </a:solidFill>
          <a:ln cap="flat" cmpd="sng" w="9525">
            <a:solidFill>
              <a:srgbClr val="DD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3166070" y="2242741"/>
            <a:ext cx="279400" cy="279400"/>
          </a:xfrm>
          <a:prstGeom prst="roundRect">
            <a:avLst>
              <a:gd fmla="val 50000" name="adj"/>
            </a:avLst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3269555" y="2266851"/>
            <a:ext cx="12313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Barlow Condensed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534370" y="2275780"/>
            <a:ext cx="48289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 Condensed"/>
              <a:buNone/>
            </a:pPr>
            <a:r>
              <a:rPr b="1" i="0" lang="en-US" sz="120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PASO 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166070" y="2623741"/>
            <a:ext cx="1623120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700"/>
              <a:buFont typeface="Barlow Condensed"/>
              <a:buNone/>
            </a:pPr>
            <a:r>
              <a:rPr b="1" i="0" lang="en-US" sz="17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Respiración guiada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166070" y="2984401"/>
            <a:ext cx="1623120" cy="68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Ejercicio de regulación previo a cada presentación.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103515" y="2036366"/>
            <a:ext cx="1984970" cy="2259211"/>
          </a:xfrm>
          <a:prstGeom prst="roundRect">
            <a:avLst>
              <a:gd fmla="val 4959" name="adj"/>
            </a:avLst>
          </a:prstGeom>
          <a:solidFill>
            <a:srgbClr val="FFFFFF"/>
          </a:solidFill>
          <a:ln cap="flat" cmpd="sng" w="9525">
            <a:solidFill>
              <a:srgbClr val="DD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5309890" y="2242741"/>
            <a:ext cx="279400" cy="279400"/>
          </a:xfrm>
          <a:prstGeom prst="roundRect">
            <a:avLst>
              <a:gd fmla="val 50000" name="adj"/>
            </a:avLst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5413573" y="2266851"/>
            <a:ext cx="122833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Barlow Condensed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678190" y="2275780"/>
            <a:ext cx="48309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 Condensed"/>
              <a:buNone/>
            </a:pPr>
            <a:r>
              <a:rPr b="1" i="0" lang="en-US" sz="120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PASO 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309890" y="2623741"/>
            <a:ext cx="1623020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700"/>
              <a:buFont typeface="Barlow Condensed"/>
              <a:buNone/>
            </a:pPr>
            <a:r>
              <a:rPr b="1" i="0" lang="en-US" sz="17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Escenario 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309890" y="2984401"/>
            <a:ext cx="1623020" cy="46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Primera presentación, con audiencia reducida.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247235" y="2036366"/>
            <a:ext cx="1985070" cy="2259211"/>
          </a:xfrm>
          <a:prstGeom prst="roundRect">
            <a:avLst>
              <a:gd fmla="val 4958" name="adj"/>
            </a:avLst>
          </a:prstGeom>
          <a:solidFill>
            <a:srgbClr val="FFFFFF"/>
          </a:solidFill>
          <a:ln cap="flat" cmpd="sng" w="9525">
            <a:solidFill>
              <a:srgbClr val="DD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7453610" y="2242741"/>
            <a:ext cx="279400" cy="279400"/>
          </a:xfrm>
          <a:prstGeom prst="roundRect">
            <a:avLst>
              <a:gd fmla="val 50000" name="adj"/>
            </a:avLst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7553325" y="2266851"/>
            <a:ext cx="13077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Barlow Condensed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821910" y="2275780"/>
            <a:ext cx="48805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 Condensed"/>
              <a:buNone/>
            </a:pPr>
            <a:r>
              <a:rPr b="1" i="0" lang="en-US" sz="120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PASO 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7453610" y="2623741"/>
            <a:ext cx="1623120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700"/>
              <a:buFont typeface="Barlow Condensed"/>
              <a:buNone/>
            </a:pPr>
            <a:r>
              <a:rPr b="1" i="0" lang="en-US" sz="17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Escenario 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7453610" y="2984401"/>
            <a:ext cx="1623120" cy="1130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Segunda presentación, con mayor exigencia. Va precedida de su propia respiración guiada.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9391055" y="2036366"/>
            <a:ext cx="1984970" cy="2259211"/>
          </a:xfrm>
          <a:prstGeom prst="roundRect">
            <a:avLst>
              <a:gd fmla="val 4959" name="adj"/>
            </a:avLst>
          </a:prstGeom>
          <a:solidFill>
            <a:srgbClr val="002A5C"/>
          </a:solidFill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9597430" y="2242741"/>
            <a:ext cx="279400" cy="279400"/>
          </a:xfrm>
          <a:prstGeom prst="roundRect">
            <a:avLst>
              <a:gd fmla="val 50000" name="adj"/>
            </a:avLst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9700816" y="2266851"/>
            <a:ext cx="12332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Barlow Condensed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9965730" y="2275780"/>
            <a:ext cx="48339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200"/>
              <a:buFont typeface="Barlow Condensed"/>
              <a:buNone/>
            </a:pPr>
            <a:r>
              <a:rPr b="1" i="0" lang="en-US" sz="120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PASO 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9597430" y="2623741"/>
            <a:ext cx="1623020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Barlow Condensed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Cierre y grounding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9597430" y="2984401"/>
            <a:ext cx="1623020" cy="1130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FDAEA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CFDAEA"/>
                </a:solidFill>
                <a:latin typeface="Barlow"/>
                <a:ea typeface="Barlow"/>
                <a:cs typeface="Barlow"/>
                <a:sym typeface="Barlow"/>
              </a:rPr>
              <a:t>Vuelta a la calma y registro del estado emocional. Gamificación de principio a fin.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6B7480"/>
                </a:solidFill>
                <a:latin typeface="Barlow"/>
                <a:ea typeface="Barlow"/>
                <a:cs typeface="Barlow"/>
                <a:sym typeface="Barlow"/>
              </a:rPr>
              <a:t>EmotionLab · Proyecto CITT Duoc 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0947400" y="6238280"/>
            <a:ext cx="431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6B7480"/>
                </a:solidFill>
                <a:latin typeface="Barlow"/>
                <a:ea typeface="Barlow"/>
                <a:cs typeface="Barlow"/>
                <a:sym typeface="Barlow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35000" y="635893"/>
            <a:ext cx="63600" cy="2031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812800" y="609600"/>
            <a:ext cx="1142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300"/>
              <a:buFont typeface="Barlow Condensed"/>
              <a:buNone/>
            </a:pPr>
            <a:r>
              <a:rPr b="0" i="0" lang="en-US" sz="13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0707390" y="609600"/>
            <a:ext cx="934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300"/>
              <a:buFont typeface="Barlow Condensed"/>
              <a:buNone/>
            </a:pPr>
            <a:r>
              <a:rPr lang="en-US" sz="1300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EXPERIENCIA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812800" y="909241"/>
            <a:ext cx="355600" cy="381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282700" y="812800"/>
            <a:ext cx="41046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300"/>
              <a:buFont typeface="Barlow Condensed"/>
              <a:buNone/>
            </a:pPr>
            <a:r>
              <a:rPr b="1" i="0" lang="en-US" sz="13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12800" y="1170880"/>
            <a:ext cx="10883392" cy="53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800"/>
              <a:buFont typeface="Barlow Condensed"/>
              <a:buNone/>
            </a:pPr>
            <a:r>
              <a:rPr b="1" i="0" lang="en-US" sz="38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Qué captura la plataforma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812800" y="1804591"/>
            <a:ext cx="9156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1600"/>
              <a:buFont typeface="Barlow"/>
              <a:buNone/>
            </a:pPr>
            <a:r>
              <a:rPr b="0" i="0" lang="en-US" sz="16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Dos fuentes que se leen juntas: lo que el estudiante </a:t>
            </a:r>
            <a:r>
              <a:rPr b="1" i="0" lang="en-US" sz="16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hace</a:t>
            </a:r>
            <a:r>
              <a:rPr b="0" i="0" lang="en-US" sz="16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 y lo que el estudiante </a:t>
            </a:r>
            <a:r>
              <a:rPr b="1" i="0" lang="en-US" sz="16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reporta</a:t>
            </a:r>
            <a:r>
              <a:rPr b="0" i="0" lang="en-US" sz="16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12800" y="2505571"/>
            <a:ext cx="5156200" cy="2421136"/>
          </a:xfrm>
          <a:prstGeom prst="roundRect">
            <a:avLst>
              <a:gd fmla="val 5245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" name="Google Shape;148;p6"/>
          <p:cNvCxnSpPr/>
          <p:nvPr/>
        </p:nvCxnSpPr>
        <p:spPr>
          <a:xfrm>
            <a:off x="838200" y="2505571"/>
            <a:ext cx="0" cy="2421136"/>
          </a:xfrm>
          <a:prstGeom prst="straightConnector1">
            <a:avLst/>
          </a:prstGeom>
          <a:noFill/>
          <a:ln cap="flat" cmpd="sng" w="50800">
            <a:solidFill>
              <a:srgbClr val="F265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6"/>
          <p:cNvSpPr/>
          <p:nvPr/>
        </p:nvSpPr>
        <p:spPr>
          <a:xfrm>
            <a:off x="1219200" y="2861171"/>
            <a:ext cx="4526026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300"/>
              <a:buFont typeface="Barlow Condensed"/>
              <a:buNone/>
            </a:pPr>
            <a:r>
              <a:rPr b="1" i="0" lang="en-US" sz="13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DURANTE LA SESIÓN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219200" y="3219252"/>
            <a:ext cx="4526026" cy="421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2600"/>
              <a:buFont typeface="Barlow Condensed"/>
              <a:buNone/>
            </a:pPr>
            <a:r>
              <a:rPr b="1" i="0" lang="en-US" sz="26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Telemetría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219200" y="3742432"/>
            <a:ext cx="4526026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1500"/>
              <a:buFont typeface="Barlow"/>
              <a:buNone/>
            </a:pPr>
            <a:r>
              <a:rPr b="0" i="0" lang="en-US" sz="15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Decisiones, tiempos de respuesta y patrones de interacción registrados automáticamente en cada escenario.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223000" y="2505571"/>
            <a:ext cx="5156200" cy="2421136"/>
          </a:xfrm>
          <a:prstGeom prst="roundRect">
            <a:avLst>
              <a:gd fmla="val 5245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" name="Google Shape;153;p6"/>
          <p:cNvCxnSpPr/>
          <p:nvPr/>
        </p:nvCxnSpPr>
        <p:spPr>
          <a:xfrm>
            <a:off x="6248400" y="2505571"/>
            <a:ext cx="0" cy="2421136"/>
          </a:xfrm>
          <a:prstGeom prst="straightConnector1">
            <a:avLst/>
          </a:prstGeom>
          <a:noFill/>
          <a:ln cap="flat" cmpd="sng" w="50800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6"/>
          <p:cNvSpPr/>
          <p:nvPr/>
        </p:nvSpPr>
        <p:spPr>
          <a:xfrm>
            <a:off x="6629400" y="2861171"/>
            <a:ext cx="4526026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300"/>
              <a:buFont typeface="Barlow Condensed"/>
              <a:buNone/>
            </a:pPr>
            <a:r>
              <a:rPr b="1" i="0" lang="en-US" sz="13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ANTES Y DESPUÉS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629400" y="3219252"/>
            <a:ext cx="4526026" cy="421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2600"/>
              <a:buFont typeface="Barlow Condensed"/>
              <a:buNone/>
            </a:pPr>
            <a:r>
              <a:rPr b="1" i="0" lang="en-US" sz="26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Encuestas pre y post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629400" y="3742432"/>
            <a:ext cx="4526026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1500"/>
              <a:buFont typeface="Barlow"/>
              <a:buNone/>
            </a:pPr>
            <a:r>
              <a:rPr b="0" i="0" lang="en-US" sz="15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El estudiante reporta su estado al entrar y al salir, lo que permite contrastar percepción con conducta.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6B7480"/>
                </a:solidFill>
                <a:latin typeface="Barlow"/>
                <a:ea typeface="Barlow"/>
                <a:cs typeface="Barlow"/>
                <a:sym typeface="Barlow"/>
              </a:rPr>
              <a:t>EmotionLab · Proyecto CITT Duoc 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0947400" y="6238280"/>
            <a:ext cx="431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6B7480"/>
                </a:solidFill>
                <a:latin typeface="Barlow"/>
                <a:ea typeface="Barlow"/>
                <a:cs typeface="Barlow"/>
                <a:sym typeface="Barlow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812800" y="909241"/>
            <a:ext cx="355600" cy="381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1282700" y="812800"/>
            <a:ext cx="570905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300"/>
              <a:buFont typeface="Barlow Condensed"/>
              <a:buNone/>
            </a:pPr>
            <a:r>
              <a:rPr b="1" i="0" lang="en-US" sz="13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ANÁLISIS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812800" y="1170880"/>
            <a:ext cx="10883392" cy="53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800"/>
              <a:buFont typeface="Barlow Condensed"/>
              <a:buNone/>
            </a:pPr>
            <a:r>
              <a:rPr b="1" i="0" lang="en-US" sz="38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Procesamiento con IA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812800" y="1804591"/>
            <a:ext cx="94837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1500"/>
              <a:buFont typeface="Barlow"/>
              <a:buNone/>
            </a:pPr>
            <a:r>
              <a:rPr b="0" i="0" lang="en-US" sz="15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Un equipo de inteligencia artificial ordena los datos de cada sesión y los convierte en una ficha por ID, amable de entender para el equipo educacional.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815975" y="2715816"/>
            <a:ext cx="3113584" cy="1448991"/>
          </a:xfrm>
          <a:prstGeom prst="roundRect">
            <a:avLst>
              <a:gd fmla="val 6793" name="adj"/>
            </a:avLst>
          </a:prstGeom>
          <a:solidFill>
            <a:srgbClr val="FFFFFF"/>
          </a:solidFill>
          <a:ln cap="flat" cmpd="sng" w="9525">
            <a:solidFill>
              <a:srgbClr val="DD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098550" y="2998391"/>
            <a:ext cx="2624887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500"/>
              <a:buFont typeface="Barlow Condensed"/>
              <a:buNone/>
            </a:pPr>
            <a:r>
              <a:rPr b="1" i="0" lang="en-US" sz="15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ENTRA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098550" y="3366691"/>
            <a:ext cx="2624887" cy="5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400"/>
              <a:buFont typeface="Barlow"/>
              <a:buNone/>
            </a:pPr>
            <a:r>
              <a:rPr b="0" i="0" lang="en-US" sz="14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Telemetría de los escenarios y respuestas de las encuestas.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085134" y="3226991"/>
            <a:ext cx="355600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93A8C4"/>
                </a:solidFill>
                <a:latin typeface="Barlow"/>
                <a:ea typeface="Barlow"/>
                <a:cs typeface="Barlow"/>
                <a:sym typeface="Barlow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542334" y="2718991"/>
            <a:ext cx="3107333" cy="1442641"/>
          </a:xfrm>
          <a:prstGeom prst="roundRect">
            <a:avLst>
              <a:gd fmla="val 7043" name="adj"/>
            </a:avLst>
          </a:prstGeom>
          <a:solidFill>
            <a:srgbClr val="002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821734" y="2998391"/>
            <a:ext cx="2624989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500"/>
              <a:buFont typeface="Barlow Condensed"/>
              <a:buNone/>
            </a:pPr>
            <a:r>
              <a:rPr b="1" i="0" lang="en-US" sz="15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PROCESA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821734" y="3366691"/>
            <a:ext cx="2624989" cy="5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Ordena y estructura los datos de cada sesión bajo su ID.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7802066" y="3226991"/>
            <a:ext cx="355600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93A8C4"/>
                </a:solidFill>
                <a:latin typeface="Barlow"/>
                <a:ea typeface="Barlow"/>
                <a:cs typeface="Barlow"/>
                <a:sym typeface="Barlow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8262441" y="2715816"/>
            <a:ext cx="3113584" cy="1448991"/>
          </a:xfrm>
          <a:prstGeom prst="roundRect">
            <a:avLst>
              <a:gd fmla="val 6793" name="adj"/>
            </a:avLst>
          </a:prstGeom>
          <a:solidFill>
            <a:srgbClr val="FFFFFF"/>
          </a:solidFill>
          <a:ln cap="flat" cmpd="sng" w="9525">
            <a:solidFill>
              <a:srgbClr val="DD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8545016" y="2998391"/>
            <a:ext cx="2624887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500"/>
              <a:buFont typeface="Barlow Condensed"/>
              <a:buNone/>
            </a:pPr>
            <a:r>
              <a:rPr b="1" i="0" lang="en-US" sz="15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8545016" y="3366691"/>
            <a:ext cx="2624887" cy="5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400"/>
              <a:buFont typeface="Barlow"/>
              <a:buNone/>
            </a:pPr>
            <a:r>
              <a:rPr b="0" i="0" lang="en-US" sz="14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La ficha de cada ID, lista para leer sin conocimiento técnico.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812800" y="4523581"/>
            <a:ext cx="10566400" cy="853281"/>
          </a:xfrm>
          <a:prstGeom prst="roundRect">
            <a:avLst>
              <a:gd fmla="val 8930" name="adj"/>
            </a:avLst>
          </a:prstGeom>
          <a:solidFill>
            <a:srgbClr val="E3EA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1041400" y="4835922"/>
            <a:ext cx="50800" cy="2286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1206500" y="4701381"/>
            <a:ext cx="10242423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400"/>
              <a:buFont typeface="Barlow"/>
              <a:buNone/>
            </a:pPr>
            <a:r>
              <a:rPr b="0" i="0" lang="en-US" sz="1400" u="none" cap="none" strike="noStrike">
                <a:solidFill>
                  <a:srgbClr val="002A5C"/>
                </a:solidFill>
                <a:latin typeface="Barlow"/>
                <a:ea typeface="Barlow"/>
                <a:cs typeface="Barlow"/>
                <a:sym typeface="Barlow"/>
              </a:rPr>
              <a:t>El estudiante se identifica por un ID, sin nombre ni datos personales. La IA no interpreta ni decide: quien lee la ficha y define la intervención es el docente o el psicopedagogo.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6B7480"/>
                </a:solidFill>
                <a:latin typeface="Barlow"/>
                <a:ea typeface="Barlow"/>
                <a:cs typeface="Barlow"/>
                <a:sym typeface="Barlow"/>
              </a:rPr>
              <a:t>EmotionLab · Proyecto CITT Duoc 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0947400" y="6238280"/>
            <a:ext cx="431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6B7480"/>
                </a:solidFill>
                <a:latin typeface="Barlow"/>
                <a:ea typeface="Barlow"/>
                <a:cs typeface="Barlow"/>
                <a:sym typeface="Barlow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812800" y="909241"/>
            <a:ext cx="355600" cy="381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282700" y="812800"/>
            <a:ext cx="728067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300"/>
              <a:buFont typeface="Barlow Condensed"/>
              <a:buNone/>
            </a:pPr>
            <a:r>
              <a:rPr b="1" i="0" lang="en-US" sz="13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812800" y="1170880"/>
            <a:ext cx="10883392" cy="53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800"/>
              <a:buFont typeface="Barlow Condensed"/>
              <a:buNone/>
            </a:pPr>
            <a:r>
              <a:rPr b="1" i="0" lang="en-US" sz="38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Del dato a la información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12800" y="1804591"/>
            <a:ext cx="9156700" cy="614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1600"/>
              <a:buFont typeface="Barlow"/>
              <a:buNone/>
            </a:pPr>
            <a:r>
              <a:rPr b="0" i="0" lang="en-US" sz="16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El psicopedagogo y el docente abren el panel, revisan la ficha de cada ID y deciden qué hacer con esa información.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812800" y="2749352"/>
            <a:ext cx="5181600" cy="1041400"/>
          </a:xfrm>
          <a:prstGeom prst="roundRect">
            <a:avLst>
              <a:gd fmla="val 975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092200" y="3003352"/>
            <a:ext cx="331688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1550888" y="3003352"/>
            <a:ext cx="4289035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"/>
              <a:buFont typeface="Barlow"/>
              <a:buNone/>
            </a:pPr>
            <a:r>
              <a:rPr b="0" i="0" lang="en-US" sz="15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Cómo respondió cada ID en cada escenario de la sesión.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6197600" y="2749352"/>
            <a:ext cx="5181600" cy="1041400"/>
          </a:xfrm>
          <a:prstGeom prst="roundRect">
            <a:avLst>
              <a:gd fmla="val 975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6477000" y="3003352"/>
            <a:ext cx="390327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994327" y="3003352"/>
            <a:ext cx="4228638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"/>
              <a:buFont typeface="Barlow"/>
              <a:buNone/>
            </a:pPr>
            <a:r>
              <a:rPr b="0" i="0" lang="en-US" sz="15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Qué cambió entre su encuesta previa y la posterior.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812800" y="3993952"/>
            <a:ext cx="5181600" cy="1041400"/>
          </a:xfrm>
          <a:prstGeom prst="roundRect">
            <a:avLst>
              <a:gd fmla="val 975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092200" y="4247952"/>
            <a:ext cx="389533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608733" y="4247952"/>
            <a:ext cx="4229455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"/>
              <a:buFont typeface="Barlow"/>
              <a:buNone/>
            </a:pPr>
            <a:r>
              <a:rPr b="0" i="0" lang="en-US" sz="15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El registro de cada sesión por separado, sin promedios ni agrupaciones.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197600" y="3993952"/>
            <a:ext cx="5181600" cy="1041400"/>
          </a:xfrm>
          <a:prstGeom prst="roundRect">
            <a:avLst>
              <a:gd fmla="val 9756" name="adj"/>
            </a:avLst>
          </a:prstGeom>
          <a:solidFill>
            <a:srgbClr val="002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6477000" y="4247952"/>
            <a:ext cx="407888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011888" y="4247952"/>
            <a:ext cx="4210549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Barlow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El docente o psicopedagogo interpreta la ficha y decide la intervención.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6B7480"/>
                </a:solidFill>
                <a:latin typeface="Barlow"/>
                <a:ea typeface="Barlow"/>
                <a:cs typeface="Barlow"/>
                <a:sym typeface="Barlow"/>
              </a:rPr>
              <a:t>EmotionLab · Proyecto CITT Duoc 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0947400" y="6238280"/>
            <a:ext cx="431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6B7480"/>
                </a:solidFill>
                <a:latin typeface="Barlow"/>
                <a:ea typeface="Barlow"/>
                <a:cs typeface="Barlow"/>
                <a:sym typeface="Barlow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/>
          <p:nvPr/>
        </p:nvSpPr>
        <p:spPr>
          <a:xfrm>
            <a:off x="812800" y="909241"/>
            <a:ext cx="355600" cy="381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1282700" y="812800"/>
            <a:ext cx="542826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300"/>
              <a:buFont typeface="Barlow Condensed"/>
              <a:buNone/>
            </a:pPr>
            <a:r>
              <a:rPr b="1" i="0" lang="en-US" sz="13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IMPACTO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812800" y="1170880"/>
            <a:ext cx="10883392" cy="53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800"/>
              <a:buFont typeface="Barlow Condensed"/>
              <a:buNone/>
            </a:pPr>
            <a:r>
              <a:rPr b="1" i="0" lang="en-US" sz="38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Qué logra el colegio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815975" y="2087166"/>
            <a:ext cx="5149850" cy="2738735"/>
          </a:xfrm>
          <a:prstGeom prst="roundRect">
            <a:avLst>
              <a:gd fmla="val 4521" name="adj"/>
            </a:avLst>
          </a:prstGeom>
          <a:solidFill>
            <a:srgbClr val="FFFFFF"/>
          </a:solidFill>
          <a:ln cap="flat" cmpd="sng" w="9525">
            <a:solidFill>
              <a:srgbClr val="DD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1174750" y="2445941"/>
            <a:ext cx="4565269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PARA EL ESTABLECIMIENTO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1174750" y="2908201"/>
            <a:ext cx="76200" cy="76200"/>
          </a:xfrm>
          <a:prstGeom prst="roundRect">
            <a:avLst>
              <a:gd fmla="val 50000" name="adj"/>
            </a:avLst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1377950" y="2908201"/>
            <a:ext cx="4355973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"/>
              <a:buFont typeface="Barlow"/>
              <a:buNone/>
            </a:pPr>
            <a:r>
              <a:rPr b="0" i="0" lang="en-US" sz="15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Evidencia sin datos personales para justificar y evaluar sus intervenciones de orientación.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174750" y="3638451"/>
            <a:ext cx="76200" cy="76200"/>
          </a:xfrm>
          <a:prstGeom prst="roundRect">
            <a:avLst>
              <a:gd fmla="val 50000" name="adj"/>
            </a:avLst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1377950" y="3638451"/>
            <a:ext cx="4355973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"/>
              <a:buFont typeface="Barlow"/>
              <a:buNone/>
            </a:pPr>
            <a:r>
              <a:rPr b="0" i="0" lang="en-US" sz="15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Un programa diferenciador de habilidades socioemocionales, sin carga adicional para los docentes.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226175" y="2087166"/>
            <a:ext cx="5149850" cy="2738735"/>
          </a:xfrm>
          <a:prstGeom prst="roundRect">
            <a:avLst>
              <a:gd fmla="val 4521" name="adj"/>
            </a:avLst>
          </a:prstGeom>
          <a:solidFill>
            <a:srgbClr val="FFFFFF"/>
          </a:solidFill>
          <a:ln cap="flat" cmpd="sng" w="9525">
            <a:solidFill>
              <a:srgbClr val="DD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6584950" y="2445941"/>
            <a:ext cx="4565269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PARA LOS ESTUDIANTES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584950" y="2908201"/>
            <a:ext cx="76200" cy="76200"/>
          </a:xfrm>
          <a:prstGeom prst="roundRect">
            <a:avLst>
              <a:gd fmla="val 50000" name="adj"/>
            </a:avLst>
          </a:prstGeom>
          <a:solidFill>
            <a:srgbClr val="002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6788150" y="2908201"/>
            <a:ext cx="4355973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"/>
              <a:buFont typeface="Barlow"/>
              <a:buNone/>
            </a:pPr>
            <a:r>
              <a:rPr b="0" i="0" lang="en-US" sz="15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Un lugar seguro para practicar presentaciones tantas veces como necesiten.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584950" y="3638451"/>
            <a:ext cx="76200" cy="76200"/>
          </a:xfrm>
          <a:prstGeom prst="roundRect">
            <a:avLst>
              <a:gd fmla="val 50000" name="adj"/>
            </a:avLst>
          </a:prstGeom>
          <a:solidFill>
            <a:srgbClr val="002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6788150" y="3638451"/>
            <a:ext cx="4355973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"/>
              <a:buFont typeface="Barlow"/>
              <a:buNone/>
            </a:pPr>
            <a:r>
              <a:rPr b="0" i="0" lang="en-US" sz="15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Herramientas concretas de regulación que pueden usar fuera del visor.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6B7480"/>
                </a:solidFill>
                <a:latin typeface="Barlow"/>
                <a:ea typeface="Barlow"/>
                <a:cs typeface="Barlow"/>
                <a:sym typeface="Barlow"/>
              </a:rPr>
              <a:t>EmotionLab · Proyecto CITT Duoc 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0947400" y="6238280"/>
            <a:ext cx="431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6B7480"/>
                </a:solidFill>
                <a:latin typeface="Barlow"/>
                <a:ea typeface="Barlow"/>
                <a:cs typeface="Barlow"/>
                <a:sym typeface="Barlow"/>
              </a:rPr>
              <a:t>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812800" y="909241"/>
            <a:ext cx="355600" cy="381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1282700" y="812800"/>
            <a:ext cx="96649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300"/>
              <a:buFont typeface="Barlow Condensed"/>
              <a:buNone/>
            </a:pPr>
            <a:r>
              <a:rPr b="1" i="0" lang="en-US" sz="13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ESTADO ACTUAL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812800" y="1170880"/>
            <a:ext cx="10883392" cy="53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800"/>
              <a:buFont typeface="Barlow Condensed"/>
              <a:buNone/>
            </a:pPr>
            <a:r>
              <a:rPr b="1" i="0" lang="en-US" sz="38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Prototipo funcional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812800" y="1804591"/>
            <a:ext cx="9156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1600"/>
              <a:buFont typeface="Barlow"/>
              <a:buNone/>
            </a:pPr>
            <a:r>
              <a:rPr b="0" i="0" lang="en-US" sz="16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Listo para desplegarse en colegios, con respaldo institucional de Duoc UC como proyecto CITT.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812800" y="2505571"/>
            <a:ext cx="10566400" cy="827980"/>
          </a:xfrm>
          <a:prstGeom prst="roundRect">
            <a:avLst>
              <a:gd fmla="val 12271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9" name="Google Shape;239;p10"/>
          <p:cNvCxnSpPr/>
          <p:nvPr/>
        </p:nvCxnSpPr>
        <p:spPr>
          <a:xfrm>
            <a:off x="838200" y="2505571"/>
            <a:ext cx="0" cy="827980"/>
          </a:xfrm>
          <a:prstGeom prst="straightConnector1">
            <a:avLst/>
          </a:prstGeom>
          <a:noFill/>
          <a:ln cap="flat" cmpd="sng" w="50800">
            <a:solidFill>
              <a:srgbClr val="F265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0"/>
          <p:cNvSpPr/>
          <p:nvPr/>
        </p:nvSpPr>
        <p:spPr>
          <a:xfrm>
            <a:off x="1168400" y="2759571"/>
            <a:ext cx="1447800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LISTO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2794000" y="2777331"/>
            <a:ext cx="852881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600"/>
              <a:buFont typeface="Barlow"/>
              <a:buNone/>
            </a:pPr>
            <a:r>
              <a:rPr b="0" i="0" lang="en-US" sz="16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Experiencia VR completa, con sus dos escenarios y ejercicios de regulación.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812800" y="3485952"/>
            <a:ext cx="10566400" cy="827980"/>
          </a:xfrm>
          <a:prstGeom prst="roundRect">
            <a:avLst>
              <a:gd fmla="val 12271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3" name="Google Shape;243;p10"/>
          <p:cNvCxnSpPr/>
          <p:nvPr/>
        </p:nvCxnSpPr>
        <p:spPr>
          <a:xfrm>
            <a:off x="838200" y="3485952"/>
            <a:ext cx="0" cy="827980"/>
          </a:xfrm>
          <a:prstGeom prst="straightConnector1">
            <a:avLst/>
          </a:prstGeom>
          <a:noFill/>
          <a:ln cap="flat" cmpd="sng" w="50800">
            <a:solidFill>
              <a:srgbClr val="F265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10"/>
          <p:cNvSpPr/>
          <p:nvPr/>
        </p:nvSpPr>
        <p:spPr>
          <a:xfrm>
            <a:off x="1168400" y="3739952"/>
            <a:ext cx="1447800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LISTO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2794000" y="3757712"/>
            <a:ext cx="852881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600"/>
              <a:buFont typeface="Barlow"/>
              <a:buNone/>
            </a:pPr>
            <a:r>
              <a:rPr b="0" i="0" lang="en-US" sz="16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Captura de datos, procesamiento con IA y dashboard por ID, sin datos personales.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812800" y="4466332"/>
            <a:ext cx="10566400" cy="827980"/>
          </a:xfrm>
          <a:prstGeom prst="roundRect">
            <a:avLst>
              <a:gd fmla="val 12271" name="adj"/>
            </a:avLst>
          </a:prstGeom>
          <a:solidFill>
            <a:srgbClr val="002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" name="Google Shape;247;p10"/>
          <p:cNvCxnSpPr/>
          <p:nvPr/>
        </p:nvCxnSpPr>
        <p:spPr>
          <a:xfrm>
            <a:off x="838200" y="4466332"/>
            <a:ext cx="0" cy="827980"/>
          </a:xfrm>
          <a:prstGeom prst="straightConnector1">
            <a:avLst/>
          </a:prstGeom>
          <a:noFill/>
          <a:ln cap="flat" cmpd="sng" w="50800">
            <a:solidFill>
              <a:srgbClr val="93A8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0"/>
          <p:cNvSpPr/>
          <p:nvPr/>
        </p:nvSpPr>
        <p:spPr>
          <a:xfrm>
            <a:off x="1168400" y="4720332"/>
            <a:ext cx="1447800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SIGUIENTE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2794000" y="4738092"/>
            <a:ext cx="852881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Barlow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Validación en terreno con un establecimiento.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6B7480"/>
                </a:solidFill>
                <a:latin typeface="Barlow"/>
                <a:ea typeface="Barlow"/>
                <a:cs typeface="Barlow"/>
                <a:sym typeface="Barlow"/>
              </a:rPr>
              <a:t>EmotionLab · Proyecto CITT Duoc 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10947400" y="6238280"/>
            <a:ext cx="431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6B7480"/>
                </a:solidFill>
                <a:latin typeface="Barlow"/>
                <a:ea typeface="Barlow"/>
                <a:cs typeface="Barlow"/>
                <a:sym typeface="Barlow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A5C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/>
          <p:nvPr/>
        </p:nvSpPr>
        <p:spPr>
          <a:xfrm>
            <a:off x="812800" y="909241"/>
            <a:ext cx="355600" cy="381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1282700" y="812800"/>
            <a:ext cx="45620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300"/>
              <a:buFont typeface="Barlow Condensed"/>
              <a:buNone/>
            </a:pPr>
            <a:r>
              <a:rPr b="1" i="0" lang="en-US" sz="13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PILOTO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812800" y="1170880"/>
            <a:ext cx="10883392" cy="53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Barlow Condensed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Plan de piloto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812800" y="2083991"/>
            <a:ext cx="3386634" cy="2133600"/>
          </a:xfrm>
          <a:prstGeom prst="roundRect">
            <a:avLst>
              <a:gd fmla="val 5952" name="adj"/>
            </a:avLst>
          </a:prstGeom>
          <a:solidFill>
            <a:srgbClr val="0B3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1117600" y="2388791"/>
            <a:ext cx="286034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7000"/>
              <a:buFont typeface="Barlow Condensed"/>
              <a:buNone/>
            </a:pPr>
            <a:r>
              <a:rPr b="1" i="0" lang="en-US" sz="70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20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1117600" y="3379391"/>
            <a:ext cx="2860345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Barlow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estudiantes de enseñanza media facilitados por el establecimiento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4402634" y="2083991"/>
            <a:ext cx="3386733" cy="2133600"/>
          </a:xfrm>
          <a:prstGeom prst="roundRect">
            <a:avLst>
              <a:gd fmla="val 5952" name="adj"/>
            </a:avLst>
          </a:prstGeom>
          <a:solidFill>
            <a:srgbClr val="0B3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4707434" y="2388791"/>
            <a:ext cx="286044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7000"/>
              <a:buFont typeface="Barlow Condensed"/>
              <a:buNone/>
            </a:pPr>
            <a:r>
              <a:rPr b="1" i="0" lang="en-US" sz="70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4707434" y="3379391"/>
            <a:ext cx="2860447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Barlow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sesiones por semana de pruebas e intervención con VR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7992566" y="2083991"/>
            <a:ext cx="3386634" cy="2133600"/>
          </a:xfrm>
          <a:prstGeom prst="roundRect">
            <a:avLst>
              <a:gd fmla="val 5952" name="adj"/>
            </a:avLst>
          </a:prstGeom>
          <a:solidFill>
            <a:srgbClr val="0B3A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8297366" y="2388791"/>
            <a:ext cx="286034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7000"/>
              <a:buFont typeface="Barlow Condensed"/>
              <a:buNone/>
            </a:pPr>
            <a:r>
              <a:rPr b="1" i="0" lang="en-US" sz="70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8297366" y="3379391"/>
            <a:ext cx="2860345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Barlow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mes de duración, con toma de datos en cada sesión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812800" y="4626471"/>
            <a:ext cx="50800" cy="2794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990600" y="4623991"/>
            <a:ext cx="10700258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DAEA"/>
              </a:buClr>
              <a:buSzPts val="1600"/>
              <a:buFont typeface="Barlow"/>
              <a:buNone/>
            </a:pPr>
            <a:r>
              <a:rPr b="0" i="0" lang="en-US" sz="1600" u="none" cap="none" strike="noStrike">
                <a:solidFill>
                  <a:srgbClr val="CFDAEA"/>
                </a:solidFill>
                <a:latin typeface="Barlow"/>
                <a:ea typeface="Barlow"/>
                <a:cs typeface="Barlow"/>
                <a:sym typeface="Barlow"/>
              </a:rPr>
              <a:t>Un compromiso acotado para el colegio y suficiente para entregar el primer informe con evidencia real.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93A8C4"/>
                </a:solidFill>
                <a:latin typeface="Barlow"/>
                <a:ea typeface="Barlow"/>
                <a:cs typeface="Barlow"/>
                <a:sym typeface="Barlow"/>
              </a:rPr>
              <a:t>EmotionLab · Proyecto CITT Duoc 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10947400" y="6238280"/>
            <a:ext cx="431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93A8C4"/>
                </a:solidFill>
                <a:latin typeface="Barlow"/>
                <a:ea typeface="Barlow"/>
                <a:cs typeface="Barlow"/>
                <a:sym typeface="Barlow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2026-09-21T18:53:26Z</dcterms:created>
  <dc:creator>PptxGenJS</dc:creator>
</cp:coreProperties>
</file>