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y="10287000" cx="18288000"/>
  <p:notesSz cx="10287000" cy="18288000"/>
  <p:embeddedFontLst>
    <p:embeddedFont>
      <p:font typeface="Manrope"/>
      <p:regular r:id="rId15"/>
      <p:bold r:id="rId16"/>
    </p:embeddedFont>
    <p:embeddedFont>
      <p:font typeface="Source Serif 4"/>
      <p:regular r:id="rId17"/>
      <p:bold r:id="rId18"/>
      <p:italic r:id="rId19"/>
      <p:boldItalic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SourceSerif4-boldItalic.fntdata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font" Target="fonts/Manrope-regular.fntdata"/><Relationship Id="rId14" Type="http://schemas.openxmlformats.org/officeDocument/2006/relationships/slide" Target="slides/slide10.xml"/><Relationship Id="rId17" Type="http://schemas.openxmlformats.org/officeDocument/2006/relationships/font" Target="fonts/SourceSerif4-regular.fntdata"/><Relationship Id="rId16" Type="http://schemas.openxmlformats.org/officeDocument/2006/relationships/font" Target="fonts/Manrope-bold.fntdata"/><Relationship Id="rId5" Type="http://schemas.openxmlformats.org/officeDocument/2006/relationships/slide" Target="slides/slide1.xml"/><Relationship Id="rId19" Type="http://schemas.openxmlformats.org/officeDocument/2006/relationships/font" Target="fonts/SourceSerif4-italic.fntdata"/><Relationship Id="rId6" Type="http://schemas.openxmlformats.org/officeDocument/2006/relationships/slide" Target="slides/slide2.xml"/><Relationship Id="rId18" Type="http://schemas.openxmlformats.org/officeDocument/2006/relationships/font" Target="fonts/SourceSerif4-bold.fntdata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Presentación del equipo y del proyecto. Una frase: EmotionLab mide de forma objetiva la respuesta emocional y de atención de estudiantes de Enseñanza Media mediante realidad virtual.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" name="Google Shape;31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Indicador 1: qué es el proyecto y por qué es relevante para el campo laboral de Ingeniería en Informática. Combina realidad virtual, gestión de datos e inteligencia de negocios aplicadas a un problema educativo real.</a:t>
            </a:r>
            <a:endParaRPr/>
          </a:p>
        </p:txBody>
      </p:sp>
      <p:sp>
        <p:nvSpPr>
          <p:cNvPr id="32" name="Google Shape;32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El problema es institucional: los colegios no pueden medir de forma objetiva la respuesta emocional y de atención de sus estudiantes. Hoy dependen de observación subjetiva y encuestas manuales.</a:t>
            </a:r>
            <a:endParaRPr/>
          </a:p>
        </p:txBody>
      </p:sp>
      <p:sp>
        <p:nvSpPr>
          <p:cNvPr id="53" name="Google Shape;53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" name="Google Shape;7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Recorrido de la experiencia en cinco escenarios, desde el check-in inicial hasta el check-in final. Todo lo capturado alimenta el dashboard para los docentes.</a:t>
            </a:r>
            <a:endParaRPr/>
          </a:p>
        </p:txBody>
      </p:sp>
      <p:sp>
        <p:nvSpPr>
          <p:cNvPr id="78" name="Google Shape;78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8" name="Google Shape;10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Indicador 5. Objetivo general y cuatro objetivos específicos. Cada objetivo indica cómo se logra; la suma de los cuatro es el entregable final.</a:t>
            </a:r>
            <a:endParaRPr/>
          </a:p>
        </p:txBody>
      </p:sp>
      <p:sp>
        <p:nvSpPr>
          <p:cNvPr id="109" name="Google Shape;109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7" name="Google Shape;137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Indicadores 2 y 3. Competencias del perfil de egreso que se ponen en práctica y cómo el proyecto conecta con nuestros intereses profesionales.</a:t>
            </a:r>
            <a:endParaRPr/>
          </a:p>
        </p:txBody>
      </p:sp>
      <p:sp>
        <p:nvSpPr>
          <p:cNvPr id="138" name="Google Shape;138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4" name="Google Shape;17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Indicadores 6 y 7. Metodología Kanban con GitHub Projects en tres fases, y línea de tiempo de hitos. Cada hito está asociado a un objetivo específico y tiene una responsable.</a:t>
            </a:r>
            <a:endParaRPr/>
          </a:p>
        </p:txBody>
      </p:sp>
      <p:sp>
        <p:nvSpPr>
          <p:cNvPr id="175" name="Google Shape;175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9" name="Google Shape;229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Indicador 4. Por qué el proyecto es viable en 13 semanas: recursos disponibles y riesgo principal con su mitigación.</a:t>
            </a:r>
            <a:endParaRPr/>
          </a:p>
        </p:txBody>
      </p:sp>
      <p:sp>
        <p:nvSpPr>
          <p:cNvPr id="230" name="Google Shape;230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8" name="Google Shape;25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Indicador 8. Cinco evidencias que demuestran el avance real del proyecto respecto de lo planificado.</a:t>
            </a:r>
            <a:endParaRPr/>
          </a:p>
        </p:txBody>
      </p:sp>
      <p:sp>
        <p:nvSpPr>
          <p:cNvPr id="259" name="Google Shape;259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6" name="Google Shape;28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Cierre: el destinatario final es el colegio y sus docentes. Espacio para preguntas.</a:t>
            </a:r>
            <a:endParaRPr/>
          </a:p>
        </p:txBody>
      </p:sp>
      <p:sp>
        <p:nvSpPr>
          <p:cNvPr id="287" name="Google Shape;287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EDDE9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11396825" y="-1557176"/>
            <a:ext cx="8638852" cy="8638851"/>
          </a:xfrm>
          <a:prstGeom prst="ellipse">
            <a:avLst/>
          </a:prstGeom>
          <a:gradFill>
            <a:gsLst>
              <a:gs pos="0">
                <a:srgbClr val="E82D7D">
                  <a:alpha val="21961"/>
                </a:srgbClr>
              </a:gs>
              <a:gs pos="70000">
                <a:srgbClr val="E82D7D">
                  <a:alpha val="0"/>
                </a:srgbClr>
              </a:gs>
              <a:gs pos="100000">
                <a:srgbClr val="E82D7D">
                  <a:alpha val="0"/>
                </a:srgbClr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12668250" y="2381250"/>
            <a:ext cx="4191000" cy="4191000"/>
          </a:xfrm>
          <a:prstGeom prst="ellipse">
            <a:avLst/>
          </a:prstGeom>
          <a:noFill/>
          <a:ln>
            <a:noFill/>
          </a:ln>
          <a:effectLst>
            <a:outerShdw blurRad="666750" rotWithShape="0" algn="bl" dir="5400000" dist="285750">
              <a:srgbClr val="0F346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8" name="Google Shape;18;p3"/>
          <p:cNvPicPr preferRelativeResize="0"/>
          <p:nvPr/>
        </p:nvPicPr>
        <p:blipFill rotWithShape="1">
          <a:blip r:embed="rId3">
            <a:alphaModFix amt="80000"/>
          </a:blip>
          <a:srcRect b="0" l="0" r="0" t="0"/>
          <a:stretch/>
        </p:blipFill>
        <p:spPr>
          <a:xfrm>
            <a:off x="12668250" y="2381250"/>
            <a:ext cx="4191000" cy="41910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9" name="Google Shape;19;p3"/>
          <p:cNvSpPr/>
          <p:nvPr/>
        </p:nvSpPr>
        <p:spPr>
          <a:xfrm>
            <a:off x="952500" y="1069975"/>
            <a:ext cx="133350" cy="133350"/>
          </a:xfrm>
          <a:prstGeom prst="ellipse">
            <a:avLst/>
          </a:prstGeom>
          <a:solidFill>
            <a:srgbClr val="E8A0B8">
              <a:alpha val="8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3"/>
          <p:cNvSpPr/>
          <p:nvPr/>
        </p:nvSpPr>
        <p:spPr>
          <a:xfrm>
            <a:off x="1295400" y="952500"/>
            <a:ext cx="5070565" cy="406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7F96"/>
              </a:buClr>
              <a:buSzPts val="2100"/>
              <a:buFont typeface="Manrope"/>
              <a:buNone/>
            </a:pPr>
            <a:r>
              <a:rPr b="1" i="0" lang="en-US" sz="2100" u="none" cap="none" strike="noStrike">
                <a:solidFill>
                  <a:srgbClr val="B07F96"/>
                </a:solidFill>
                <a:latin typeface="Manrope"/>
                <a:ea typeface="Manrope"/>
                <a:cs typeface="Manrope"/>
                <a:sym typeface="Manrope"/>
              </a:rPr>
              <a:t>CAPSTONE · SEMANA 4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952500" y="2425298"/>
            <a:ext cx="12363450" cy="141952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1566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11100"/>
              <a:buFont typeface="Source Serif 4"/>
              <a:buNone/>
            </a:pPr>
            <a:r>
              <a:rPr b="0" i="0" lang="en-US" sz="11100" u="none" cap="none" strike="noStrike">
                <a:solidFill>
                  <a:srgbClr val="0F3460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EmotionLab</a:t>
            </a:r>
            <a:endParaRPr b="0" i="0" sz="1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952500" y="4290417"/>
            <a:ext cx="4460763" cy="19050"/>
          </a:xfrm>
          <a:prstGeom prst="rect">
            <a:avLst/>
          </a:prstGeom>
          <a:solidFill>
            <a:srgbClr val="E8A0B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952500" y="4816371"/>
            <a:ext cx="10006965" cy="177313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1200"/>
              </a:lnSpc>
              <a:spcBef>
                <a:spcPts val="0"/>
              </a:spcBef>
              <a:spcAft>
                <a:spcPts val="0"/>
              </a:spcAft>
              <a:buClr>
                <a:srgbClr val="3D4D60"/>
              </a:buClr>
              <a:buSzPts val="3300"/>
              <a:buFont typeface="Manrope"/>
              <a:buNone/>
            </a:pPr>
            <a:r>
              <a:rPr b="0" i="0" lang="en-US" sz="3300" u="none" cap="none" strike="noStrike">
                <a:solidFill>
                  <a:srgbClr val="3D4D60"/>
                </a:solidFill>
                <a:latin typeface="Manrope"/>
                <a:ea typeface="Manrope"/>
                <a:cs typeface="Manrope"/>
                <a:sym typeface="Manrope"/>
              </a:rPr>
              <a:t>Realidad virtual para medir, de forma objetiva, cómo se sienten y cómo atienden los estudiantes en el aula.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3"/>
          <p:cNvSpPr/>
          <p:nvPr/>
        </p:nvSpPr>
        <p:spPr>
          <a:xfrm>
            <a:off x="952500" y="7644304"/>
            <a:ext cx="2677765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7F96"/>
              </a:buClr>
              <a:buSzPts val="1800"/>
              <a:buFont typeface="Manrope"/>
              <a:buNone/>
            </a:pPr>
            <a:r>
              <a:rPr b="1" i="0" lang="en-US" sz="1800" u="none" cap="none" strike="noStrike">
                <a:solidFill>
                  <a:srgbClr val="B07F96"/>
                </a:solidFill>
                <a:latin typeface="Manrope"/>
                <a:ea typeface="Manrope"/>
                <a:cs typeface="Manrope"/>
                <a:sym typeface="Manrope"/>
              </a:rPr>
              <a:t>EQUIPO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3"/>
          <p:cNvSpPr/>
          <p:nvPr/>
        </p:nvSpPr>
        <p:spPr>
          <a:xfrm>
            <a:off x="952500" y="8088804"/>
            <a:ext cx="2677765" cy="431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250"/>
              <a:buFont typeface="Manrope"/>
              <a:buNone/>
            </a:pPr>
            <a:r>
              <a:rPr b="0" i="0" lang="en-US" sz="225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Constanza Quiero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3"/>
          <p:cNvSpPr/>
          <p:nvPr/>
        </p:nvSpPr>
        <p:spPr>
          <a:xfrm>
            <a:off x="952500" y="8615854"/>
            <a:ext cx="2677765" cy="431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250"/>
              <a:buFont typeface="Manrope"/>
              <a:buNone/>
            </a:pPr>
            <a:r>
              <a:rPr b="0" i="0" lang="en-US" sz="225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Katalina Pérez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3"/>
          <p:cNvSpPr/>
          <p:nvPr/>
        </p:nvSpPr>
        <p:spPr>
          <a:xfrm>
            <a:off x="952500" y="9142904"/>
            <a:ext cx="2677765" cy="431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250"/>
              <a:buFont typeface="Manrope"/>
              <a:buNone/>
            </a:pPr>
            <a:r>
              <a:rPr b="0" i="0" lang="en-US" sz="225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Kathleen Ampuero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3"/>
          <p:cNvSpPr/>
          <p:nvPr/>
        </p:nvSpPr>
        <p:spPr>
          <a:xfrm>
            <a:off x="12933264" y="9182100"/>
            <a:ext cx="484246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8F94"/>
              </a:buClr>
              <a:buSzPts val="1950"/>
              <a:buFont typeface="Manrope"/>
              <a:buNone/>
            </a:pPr>
            <a:r>
              <a:rPr b="0" i="0" lang="en-US" sz="1950" u="none" cap="none" strike="noStrike">
                <a:solidFill>
                  <a:srgbClr val="8B8F94"/>
                </a:solidFill>
                <a:latin typeface="Manrope"/>
                <a:ea typeface="Manrope"/>
                <a:cs typeface="Manrope"/>
                <a:sym typeface="Manrope"/>
              </a:rPr>
              <a:t>Duoc UC · Ingeniería en Informática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4"/>
          <p:cNvSpPr/>
          <p:nvPr/>
        </p:nvSpPr>
        <p:spPr>
          <a:xfrm>
            <a:off x="952500" y="1066800"/>
            <a:ext cx="114300" cy="114300"/>
          </a:xfrm>
          <a:prstGeom prst="ellipse">
            <a:avLst/>
          </a:prstGeom>
          <a:solidFill>
            <a:srgbClr val="C594AA">
              <a:alpha val="83137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4"/>
          <p:cNvSpPr/>
          <p:nvPr/>
        </p:nvSpPr>
        <p:spPr>
          <a:xfrm>
            <a:off x="1276350" y="952500"/>
            <a:ext cx="6409829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594AA"/>
              </a:buClr>
              <a:buSzPts val="1950"/>
              <a:buFont typeface="Manrope"/>
              <a:buNone/>
            </a:pPr>
            <a:r>
              <a:rPr b="1" i="0" lang="en-US" sz="1950" u="none" cap="none" strike="noStrike">
                <a:solidFill>
                  <a:srgbClr val="C594AA"/>
                </a:solidFill>
                <a:latin typeface="Manrope"/>
                <a:ea typeface="Manrope"/>
                <a:cs typeface="Manrope"/>
                <a:sym typeface="Manrope"/>
              </a:rPr>
              <a:t>EL PROYECTO Y SU RELEVANCIA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4"/>
          <p:cNvSpPr/>
          <p:nvPr/>
        </p:nvSpPr>
        <p:spPr>
          <a:xfrm>
            <a:off x="952500" y="1723354"/>
            <a:ext cx="15304770" cy="2426792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385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5700"/>
              <a:buFont typeface="Source Serif 4"/>
              <a:buNone/>
            </a:pPr>
            <a:r>
              <a:rPr b="0" i="0" lang="en-US" sz="5700" u="none" cap="none" strike="noStrike">
                <a:solidFill>
                  <a:srgbClr val="0F3460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Una experiencia de </a:t>
            </a:r>
            <a:r>
              <a:rPr b="0" i="0" lang="en-US" sz="5700" u="none" cap="none" strike="noStrike">
                <a:solidFill>
                  <a:srgbClr val="0F3460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realidad virtual </a:t>
            </a:r>
            <a:r>
              <a:rPr b="0" i="0" lang="en-US" sz="5700" u="none" cap="none" strike="noStrike">
                <a:solidFill>
                  <a:srgbClr val="0F3460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que convierte la emoción en datos útiles para el aula</a:t>
            </a:r>
            <a:endParaRPr b="0" i="0" sz="5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952500" y="4493046"/>
            <a:ext cx="14519910" cy="9810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9191"/>
              </a:lnSpc>
              <a:spcBef>
                <a:spcPts val="0"/>
              </a:spcBef>
              <a:spcAft>
                <a:spcPts val="0"/>
              </a:spcAft>
              <a:buClr>
                <a:srgbClr val="3A3A3A"/>
              </a:buClr>
              <a:buSzPts val="2475"/>
              <a:buFont typeface="Manrope"/>
              <a:buNone/>
            </a:pPr>
            <a:r>
              <a:rPr b="0" i="0" lang="en-US" sz="2475" u="none" cap="none" strike="noStrike">
                <a:solidFill>
                  <a:srgbClr val="3A3A3A"/>
                </a:solidFill>
                <a:latin typeface="Manrope"/>
                <a:ea typeface="Manrope"/>
                <a:cs typeface="Manrope"/>
                <a:sym typeface="Manrope"/>
              </a:rPr>
              <a:t>Medimos la respuesta emocional y de atención de estudiantes de Enseñanza Media con escenarios de realidad virtual, y entregamos esos datos a sus docentes.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952500" y="6189166"/>
            <a:ext cx="28575" cy="1214431"/>
          </a:xfrm>
          <a:prstGeom prst="rect">
            <a:avLst/>
          </a:prstGeom>
          <a:solidFill>
            <a:srgbClr val="E8A0B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4"/>
          <p:cNvSpPr/>
          <p:nvPr/>
        </p:nvSpPr>
        <p:spPr>
          <a:xfrm>
            <a:off x="1247775" y="6198021"/>
            <a:ext cx="5235258" cy="44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7568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700"/>
              <a:buFont typeface="Manrope"/>
              <a:buNone/>
            </a:pPr>
            <a:r>
              <a:rPr b="1" i="0" lang="en-US" sz="270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Realidad virtual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1247775" y="6761881"/>
            <a:ext cx="4902105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8621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2100"/>
              <a:buFont typeface="Manrope"/>
              <a:buNone/>
            </a:pPr>
            <a:r>
              <a:rPr b="0" i="0" lang="en-US" sz="2100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Entornos inmersivos y gestión de assets.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6616700" y="6189166"/>
            <a:ext cx="28575" cy="1214431"/>
          </a:xfrm>
          <a:prstGeom prst="rect">
            <a:avLst/>
          </a:prstGeom>
          <a:solidFill>
            <a:srgbClr val="E8A0B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4"/>
          <p:cNvSpPr/>
          <p:nvPr/>
        </p:nvSpPr>
        <p:spPr>
          <a:xfrm>
            <a:off x="6911975" y="6198021"/>
            <a:ext cx="5235258" cy="44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7568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700"/>
              <a:buFont typeface="Manrope"/>
              <a:buNone/>
            </a:pPr>
            <a:r>
              <a:rPr b="1" i="0" lang="en-US" sz="270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Gestión de datos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4"/>
          <p:cNvSpPr/>
          <p:nvPr/>
        </p:nvSpPr>
        <p:spPr>
          <a:xfrm>
            <a:off x="6911975" y="6761881"/>
            <a:ext cx="4902105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8621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2100"/>
              <a:buFont typeface="Manrope"/>
              <a:buNone/>
            </a:pPr>
            <a:r>
              <a:rPr b="0" i="0" lang="en-US" sz="2100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Captura y transmisión segura en la nube.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4"/>
          <p:cNvSpPr/>
          <p:nvPr/>
        </p:nvSpPr>
        <p:spPr>
          <a:xfrm>
            <a:off x="12280900" y="6189166"/>
            <a:ext cx="28575" cy="1214431"/>
          </a:xfrm>
          <a:prstGeom prst="rect">
            <a:avLst/>
          </a:prstGeom>
          <a:solidFill>
            <a:srgbClr val="E8A0B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4"/>
          <p:cNvSpPr/>
          <p:nvPr/>
        </p:nvSpPr>
        <p:spPr>
          <a:xfrm>
            <a:off x="12576175" y="6198021"/>
            <a:ext cx="5235258" cy="44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7568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700"/>
              <a:buFont typeface="Manrope"/>
              <a:buNone/>
            </a:pPr>
            <a:r>
              <a:rPr b="1" i="0" lang="en-US" sz="270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Inteligencia de negocios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4"/>
          <p:cNvSpPr/>
          <p:nvPr/>
        </p:nvSpPr>
        <p:spPr>
          <a:xfrm>
            <a:off x="12576175" y="6761881"/>
            <a:ext cx="4902105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8621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2100"/>
              <a:buFont typeface="Manrope"/>
              <a:buNone/>
            </a:pPr>
            <a:r>
              <a:rPr b="0" i="0" lang="en-US" sz="2100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Un dashboard que apoya decisiones pedagógicas.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4"/>
          <p:cNvSpPr/>
          <p:nvPr/>
        </p:nvSpPr>
        <p:spPr>
          <a:xfrm>
            <a:off x="952500" y="8171581"/>
            <a:ext cx="15506700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8871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250"/>
              <a:buFont typeface="Manrope"/>
              <a:buNone/>
            </a:pPr>
            <a:r>
              <a:rPr b="1" i="0" lang="en-US" sz="225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Tres áreas de alta demanda en Ingeniería en Informática, aplicadas a un problema educativo real.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4"/>
          <p:cNvSpPr/>
          <p:nvPr/>
        </p:nvSpPr>
        <p:spPr>
          <a:xfrm>
            <a:off x="952500" y="9213850"/>
            <a:ext cx="2992527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C8C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8C8C8C"/>
                </a:solidFill>
                <a:latin typeface="Manrope"/>
                <a:ea typeface="Manrope"/>
                <a:cs typeface="Manrope"/>
                <a:sym typeface="Manrope"/>
              </a:rPr>
              <a:t>EmotionLab · Capstone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4"/>
          <p:cNvSpPr/>
          <p:nvPr/>
        </p:nvSpPr>
        <p:spPr>
          <a:xfrm>
            <a:off x="17038241" y="9213850"/>
            <a:ext cx="373459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C8C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8C8C8C"/>
                </a:solidFill>
                <a:latin typeface="Manrope"/>
                <a:ea typeface="Manrope"/>
                <a:cs typeface="Manrope"/>
                <a:sym typeface="Manrope"/>
              </a:rPr>
              <a:t>02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D8E5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5"/>
          <p:cNvSpPr/>
          <p:nvPr/>
        </p:nvSpPr>
        <p:spPr>
          <a:xfrm>
            <a:off x="-2506690" y="5303810"/>
            <a:ext cx="7870880" cy="7870881"/>
          </a:xfrm>
          <a:prstGeom prst="ellipse">
            <a:avLst/>
          </a:prstGeom>
          <a:gradFill>
            <a:gsLst>
              <a:gs pos="0">
                <a:srgbClr val="E82D7D">
                  <a:alpha val="21176"/>
                </a:srgbClr>
              </a:gs>
              <a:gs pos="70000">
                <a:srgbClr val="E82D7D">
                  <a:alpha val="0"/>
                </a:srgbClr>
              </a:gs>
              <a:gs pos="100000">
                <a:srgbClr val="E82D7D">
                  <a:alpha val="0"/>
                </a:srgbClr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5"/>
          <p:cNvSpPr/>
          <p:nvPr/>
        </p:nvSpPr>
        <p:spPr>
          <a:xfrm>
            <a:off x="952500" y="1066800"/>
            <a:ext cx="114300" cy="114300"/>
          </a:xfrm>
          <a:prstGeom prst="ellipse">
            <a:avLst/>
          </a:prstGeom>
          <a:solidFill>
            <a:srgbClr val="E8A0B8">
              <a:alpha val="8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5"/>
          <p:cNvSpPr/>
          <p:nvPr/>
        </p:nvSpPr>
        <p:spPr>
          <a:xfrm>
            <a:off x="1276350" y="952500"/>
            <a:ext cx="2733209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7F96"/>
              </a:buClr>
              <a:buSzPts val="1950"/>
              <a:buFont typeface="Manrope"/>
              <a:buNone/>
            </a:pPr>
            <a:r>
              <a:rPr b="1" i="0" lang="en-US" sz="1950" u="none" cap="none" strike="noStrike">
                <a:solidFill>
                  <a:srgbClr val="B07F96"/>
                </a:solidFill>
                <a:latin typeface="Manrope"/>
                <a:ea typeface="Manrope"/>
                <a:cs typeface="Manrope"/>
                <a:sym typeface="Manrope"/>
              </a:rPr>
              <a:t>EL PROBLEMA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5"/>
          <p:cNvSpPr/>
          <p:nvPr/>
        </p:nvSpPr>
        <p:spPr>
          <a:xfrm>
            <a:off x="869575" y="3698000"/>
            <a:ext cx="107976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437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5850"/>
              <a:buFont typeface="Source Serif 4"/>
              <a:buNone/>
            </a:pPr>
            <a:r>
              <a:rPr b="0" i="0" lang="en-US" sz="5850" u="none" cap="none" strike="noStrike">
                <a:solidFill>
                  <a:srgbClr val="0F3460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Los colegios enseñan a ciegas</a:t>
            </a:r>
            <a:endParaRPr b="0" i="0" sz="5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5"/>
          <p:cNvSpPr/>
          <p:nvPr/>
        </p:nvSpPr>
        <p:spPr>
          <a:xfrm>
            <a:off x="952500" y="5115258"/>
            <a:ext cx="15297300" cy="5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9191"/>
              </a:lnSpc>
              <a:spcBef>
                <a:spcPts val="0"/>
              </a:spcBef>
              <a:spcAft>
                <a:spcPts val="0"/>
              </a:spcAft>
              <a:buClr>
                <a:srgbClr val="3D4D60"/>
              </a:buClr>
              <a:buSzPts val="2475"/>
              <a:buFont typeface="Manrope"/>
              <a:buNone/>
            </a:pPr>
            <a:r>
              <a:rPr b="0" i="0" lang="en-US" sz="2475" u="none" cap="none" strike="noStrike">
                <a:solidFill>
                  <a:srgbClr val="3D4D60"/>
                </a:solidFill>
                <a:latin typeface="Manrope"/>
                <a:ea typeface="Manrope"/>
                <a:cs typeface="Manrope"/>
                <a:sym typeface="Manrope"/>
              </a:rPr>
              <a:t>Hoy solo cuentan con observación subjetiva o encuestas manuales.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5"/>
          <p:cNvSpPr/>
          <p:nvPr/>
        </p:nvSpPr>
        <p:spPr>
          <a:xfrm>
            <a:off x="982025" y="5873296"/>
            <a:ext cx="5105400" cy="2246700"/>
          </a:xfrm>
          <a:prstGeom prst="rect">
            <a:avLst/>
          </a:prstGeom>
          <a:solidFill>
            <a:srgbClr val="FFFFFF">
              <a:alpha val="5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5"/>
          <p:cNvSpPr/>
          <p:nvPr/>
        </p:nvSpPr>
        <p:spPr>
          <a:xfrm>
            <a:off x="869575" y="5802796"/>
            <a:ext cx="5105400" cy="25500"/>
          </a:xfrm>
          <a:prstGeom prst="rect">
            <a:avLst/>
          </a:prstGeom>
          <a:solidFill>
            <a:srgbClr val="C594AA">
              <a:alpha val="9490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5"/>
          <p:cNvSpPr/>
          <p:nvPr/>
        </p:nvSpPr>
        <p:spPr>
          <a:xfrm>
            <a:off x="1363025" y="6317795"/>
            <a:ext cx="4777800" cy="449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7568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700"/>
              <a:buFont typeface="Manrope"/>
              <a:buNone/>
            </a:pPr>
            <a:r>
              <a:rPr b="1" i="0" lang="en-US" sz="270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Medición subjetiva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5"/>
          <p:cNvSpPr/>
          <p:nvPr/>
        </p:nvSpPr>
        <p:spPr>
          <a:xfrm>
            <a:off x="1363025" y="6900706"/>
            <a:ext cx="44736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8621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2100"/>
              <a:buFont typeface="Manrope"/>
              <a:buNone/>
            </a:pPr>
            <a:r>
              <a:rPr b="0" i="0" lang="en-US" sz="2100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Depende de la percepción de cada docente.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5"/>
          <p:cNvSpPr/>
          <p:nvPr/>
        </p:nvSpPr>
        <p:spPr>
          <a:xfrm>
            <a:off x="6620825" y="5873296"/>
            <a:ext cx="5105400" cy="2246700"/>
          </a:xfrm>
          <a:prstGeom prst="rect">
            <a:avLst/>
          </a:prstGeom>
          <a:solidFill>
            <a:srgbClr val="FFFFFF">
              <a:alpha val="5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5"/>
          <p:cNvSpPr/>
          <p:nvPr/>
        </p:nvSpPr>
        <p:spPr>
          <a:xfrm>
            <a:off x="6620825" y="5873296"/>
            <a:ext cx="5105400" cy="25500"/>
          </a:xfrm>
          <a:prstGeom prst="rect">
            <a:avLst/>
          </a:prstGeom>
          <a:solidFill>
            <a:srgbClr val="C594AA">
              <a:alpha val="9490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5"/>
          <p:cNvSpPr/>
          <p:nvPr/>
        </p:nvSpPr>
        <p:spPr>
          <a:xfrm>
            <a:off x="7001825" y="6317795"/>
            <a:ext cx="4777800" cy="449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7568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700"/>
              <a:buFont typeface="Manrope"/>
              <a:buNone/>
            </a:pPr>
            <a:r>
              <a:rPr b="1" i="0" lang="en-US" sz="270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Información tardía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5"/>
          <p:cNvSpPr/>
          <p:nvPr/>
        </p:nvSpPr>
        <p:spPr>
          <a:xfrm>
            <a:off x="7001825" y="6900706"/>
            <a:ext cx="44736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8621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2100"/>
              <a:buFont typeface="Manrope"/>
              <a:buNone/>
            </a:pPr>
            <a:r>
              <a:rPr b="0" i="0" lang="en-US" sz="2100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Las encuestas llegan cuando la clase ya pasó.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5"/>
          <p:cNvSpPr/>
          <p:nvPr/>
        </p:nvSpPr>
        <p:spPr>
          <a:xfrm>
            <a:off x="12259625" y="5873296"/>
            <a:ext cx="5105400" cy="2246700"/>
          </a:xfrm>
          <a:prstGeom prst="rect">
            <a:avLst/>
          </a:prstGeom>
          <a:solidFill>
            <a:srgbClr val="FFFFFF">
              <a:alpha val="5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5"/>
          <p:cNvSpPr/>
          <p:nvPr/>
        </p:nvSpPr>
        <p:spPr>
          <a:xfrm>
            <a:off x="12259625" y="5873296"/>
            <a:ext cx="5105400" cy="25500"/>
          </a:xfrm>
          <a:prstGeom prst="rect">
            <a:avLst/>
          </a:prstGeom>
          <a:solidFill>
            <a:srgbClr val="C594AA">
              <a:alpha val="9490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5"/>
          <p:cNvSpPr/>
          <p:nvPr/>
        </p:nvSpPr>
        <p:spPr>
          <a:xfrm>
            <a:off x="12640625" y="6317795"/>
            <a:ext cx="4777800" cy="449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7568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700"/>
              <a:buFont typeface="Manrope"/>
              <a:buNone/>
            </a:pPr>
            <a:r>
              <a:rPr b="1" i="0" lang="en-US" sz="270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Decisiones sin evidencia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5"/>
          <p:cNvSpPr/>
          <p:nvPr/>
        </p:nvSpPr>
        <p:spPr>
          <a:xfrm>
            <a:off x="12640625" y="6900706"/>
            <a:ext cx="44736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8621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2100"/>
              <a:buFont typeface="Manrope"/>
              <a:buNone/>
            </a:pPr>
            <a:r>
              <a:rPr b="0" i="0" lang="en-US" sz="2100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Ajustar la metodología se vuelve intuición.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5"/>
          <p:cNvSpPr/>
          <p:nvPr/>
        </p:nvSpPr>
        <p:spPr>
          <a:xfrm>
            <a:off x="952500" y="9213850"/>
            <a:ext cx="2992527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B92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9A8B92"/>
                </a:solidFill>
                <a:latin typeface="Manrope"/>
                <a:ea typeface="Manrope"/>
                <a:cs typeface="Manrope"/>
                <a:sym typeface="Manrope"/>
              </a:rPr>
              <a:t>EmotionLab · Capstone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5"/>
          <p:cNvSpPr/>
          <p:nvPr/>
        </p:nvSpPr>
        <p:spPr>
          <a:xfrm>
            <a:off x="17042111" y="9213850"/>
            <a:ext cx="369590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B92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9A8B92"/>
                </a:solidFill>
                <a:latin typeface="Manrope"/>
                <a:ea typeface="Manrope"/>
                <a:cs typeface="Manrope"/>
                <a:sym typeface="Manrope"/>
              </a:rPr>
              <a:t>03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4" name="Google Shape;74;p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75425" y="952500"/>
            <a:ext cx="6086475" cy="428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6"/>
          <p:cNvSpPr/>
          <p:nvPr/>
        </p:nvSpPr>
        <p:spPr>
          <a:xfrm>
            <a:off x="952500" y="1066800"/>
            <a:ext cx="114300" cy="114300"/>
          </a:xfrm>
          <a:prstGeom prst="ellipse">
            <a:avLst/>
          </a:prstGeom>
          <a:solidFill>
            <a:srgbClr val="C594AA">
              <a:alpha val="83137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6"/>
          <p:cNvSpPr/>
          <p:nvPr/>
        </p:nvSpPr>
        <p:spPr>
          <a:xfrm>
            <a:off x="1276350" y="952500"/>
            <a:ext cx="4066798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594AA"/>
              </a:buClr>
              <a:buSzPts val="1950"/>
              <a:buFont typeface="Manrope"/>
              <a:buNone/>
            </a:pPr>
            <a:r>
              <a:rPr b="1" i="0" lang="en-US" sz="1950" u="none" cap="none" strike="noStrike">
                <a:solidFill>
                  <a:srgbClr val="C594AA"/>
                </a:solidFill>
                <a:latin typeface="Manrope"/>
                <a:ea typeface="Manrope"/>
                <a:cs typeface="Manrope"/>
                <a:sym typeface="Manrope"/>
              </a:rPr>
              <a:t>NUESTRA SOLUCIÓN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6"/>
          <p:cNvSpPr/>
          <p:nvPr/>
        </p:nvSpPr>
        <p:spPr>
          <a:xfrm>
            <a:off x="952500" y="1723362"/>
            <a:ext cx="13735200" cy="167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437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5850"/>
              <a:buFont typeface="Source Serif 4"/>
              <a:buNone/>
            </a:pPr>
            <a:r>
              <a:rPr b="0" i="0" lang="en-US" sz="5850" u="none" cap="none" strike="noStrike">
                <a:solidFill>
                  <a:srgbClr val="0F3460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El recorrido: cinco escenarios, un registro completo</a:t>
            </a:r>
            <a:endParaRPr b="0" i="0" sz="5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6"/>
          <p:cNvSpPr/>
          <p:nvPr/>
        </p:nvSpPr>
        <p:spPr>
          <a:xfrm>
            <a:off x="952500" y="3700594"/>
            <a:ext cx="147162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0769"/>
              </a:lnSpc>
              <a:spcBef>
                <a:spcPts val="0"/>
              </a:spcBef>
              <a:spcAft>
                <a:spcPts val="0"/>
              </a:spcAft>
              <a:buClr>
                <a:srgbClr val="3A3A3A"/>
              </a:buClr>
              <a:buSzPts val="2400"/>
              <a:buFont typeface="Manrope"/>
              <a:buNone/>
            </a:pPr>
            <a:r>
              <a:rPr b="0" i="0" lang="en-US" sz="2400" u="none" cap="none" strike="noStrike">
                <a:solidFill>
                  <a:srgbClr val="3A3A3A"/>
                </a:solidFill>
                <a:latin typeface="Manrope"/>
                <a:ea typeface="Manrope"/>
                <a:cs typeface="Manrope"/>
                <a:sym typeface="Manrope"/>
              </a:rPr>
              <a:t>Cada estudiante recorre escenarios de exigencia creciente. La experiencia registra su respuesta en cada etapa.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6"/>
          <p:cNvSpPr/>
          <p:nvPr/>
        </p:nvSpPr>
        <p:spPr>
          <a:xfrm>
            <a:off x="1276350" y="5615782"/>
            <a:ext cx="14416800" cy="19200"/>
          </a:xfrm>
          <a:prstGeom prst="rect">
            <a:avLst/>
          </a:prstGeom>
          <a:solidFill>
            <a:srgbClr val="E8C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6"/>
          <p:cNvSpPr/>
          <p:nvPr/>
        </p:nvSpPr>
        <p:spPr>
          <a:xfrm>
            <a:off x="952500" y="5300794"/>
            <a:ext cx="647700" cy="647700"/>
          </a:xfrm>
          <a:prstGeom prst="ellipse">
            <a:avLst/>
          </a:prstGeom>
          <a:solidFill>
            <a:srgbClr val="0F3460">
              <a:alpha val="9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6"/>
          <p:cNvSpPr/>
          <p:nvPr/>
        </p:nvSpPr>
        <p:spPr>
          <a:xfrm>
            <a:off x="914400" y="5300794"/>
            <a:ext cx="7239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E5F0"/>
              </a:buClr>
              <a:buSzPts val="2250"/>
              <a:buFont typeface="Manrope"/>
              <a:buNone/>
            </a:pPr>
            <a:r>
              <a:rPr b="1" i="0" lang="en-US" sz="2250" u="none" cap="none" strike="noStrike">
                <a:solidFill>
                  <a:srgbClr val="FFE5F0"/>
                </a:solidFill>
                <a:latin typeface="Manrope"/>
                <a:ea typeface="Manrope"/>
                <a:cs typeface="Manrope"/>
                <a:sym typeface="Manrope"/>
              </a:rPr>
              <a:t>1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6"/>
          <p:cNvSpPr/>
          <p:nvPr/>
        </p:nvSpPr>
        <p:spPr>
          <a:xfrm>
            <a:off x="952500" y="6138994"/>
            <a:ext cx="3269100" cy="41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7353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475"/>
              <a:buFont typeface="Manrope"/>
              <a:buNone/>
            </a:pPr>
            <a:r>
              <a:rPr b="1" i="0" lang="en-US" sz="2475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Sala de espera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6"/>
          <p:cNvSpPr/>
          <p:nvPr/>
        </p:nvSpPr>
        <p:spPr>
          <a:xfrm>
            <a:off x="4305300" y="5300794"/>
            <a:ext cx="647700" cy="647700"/>
          </a:xfrm>
          <a:prstGeom prst="ellipse">
            <a:avLst/>
          </a:prstGeom>
          <a:solidFill>
            <a:srgbClr val="0F3460">
              <a:alpha val="9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6"/>
          <p:cNvSpPr/>
          <p:nvPr/>
        </p:nvSpPr>
        <p:spPr>
          <a:xfrm>
            <a:off x="4267200" y="5300794"/>
            <a:ext cx="7239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E5F0"/>
              </a:buClr>
              <a:buSzPts val="2250"/>
              <a:buFont typeface="Manrope"/>
              <a:buNone/>
            </a:pPr>
            <a:r>
              <a:rPr b="1" i="0" lang="en-US" sz="2250" u="none" cap="none" strike="noStrike">
                <a:solidFill>
                  <a:srgbClr val="FFE5F0"/>
                </a:solidFill>
                <a:latin typeface="Manrope"/>
                <a:ea typeface="Manrope"/>
                <a:cs typeface="Manrope"/>
                <a:sym typeface="Manrope"/>
              </a:rPr>
              <a:t>2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6"/>
          <p:cNvSpPr/>
          <p:nvPr/>
        </p:nvSpPr>
        <p:spPr>
          <a:xfrm>
            <a:off x="4305300" y="6138994"/>
            <a:ext cx="3269100" cy="41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7353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475"/>
              <a:buFont typeface="Manrope"/>
              <a:buNone/>
            </a:pPr>
            <a:r>
              <a:rPr b="1" i="0" lang="en-US" sz="2475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Oficina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6"/>
          <p:cNvSpPr/>
          <p:nvPr/>
        </p:nvSpPr>
        <p:spPr>
          <a:xfrm>
            <a:off x="7658100" y="5300794"/>
            <a:ext cx="647700" cy="647700"/>
          </a:xfrm>
          <a:prstGeom prst="ellipse">
            <a:avLst/>
          </a:prstGeom>
          <a:solidFill>
            <a:srgbClr val="0F3460">
              <a:alpha val="9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6"/>
          <p:cNvSpPr/>
          <p:nvPr/>
        </p:nvSpPr>
        <p:spPr>
          <a:xfrm>
            <a:off x="7620000" y="5300794"/>
            <a:ext cx="7239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E5F0"/>
              </a:buClr>
              <a:buSzPts val="2250"/>
              <a:buFont typeface="Manrope"/>
              <a:buNone/>
            </a:pPr>
            <a:r>
              <a:rPr b="1" i="0" lang="en-US" sz="2250" u="none" cap="none" strike="noStrike">
                <a:solidFill>
                  <a:srgbClr val="FFE5F0"/>
                </a:solidFill>
                <a:latin typeface="Manrope"/>
                <a:ea typeface="Manrope"/>
                <a:cs typeface="Manrope"/>
                <a:sym typeface="Manrope"/>
              </a:rPr>
              <a:t>3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6"/>
          <p:cNvSpPr/>
          <p:nvPr/>
        </p:nvSpPr>
        <p:spPr>
          <a:xfrm>
            <a:off x="7658100" y="6138994"/>
            <a:ext cx="3269100" cy="41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7353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475"/>
              <a:buFont typeface="Manrope"/>
              <a:buNone/>
            </a:pPr>
            <a:r>
              <a:rPr b="1" i="0" lang="en-US" sz="2475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Salón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6"/>
          <p:cNvSpPr/>
          <p:nvPr/>
        </p:nvSpPr>
        <p:spPr>
          <a:xfrm>
            <a:off x="11010900" y="5300794"/>
            <a:ext cx="647700" cy="647700"/>
          </a:xfrm>
          <a:prstGeom prst="ellipse">
            <a:avLst/>
          </a:prstGeom>
          <a:solidFill>
            <a:srgbClr val="0F3460">
              <a:alpha val="9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6"/>
          <p:cNvSpPr/>
          <p:nvPr/>
        </p:nvSpPr>
        <p:spPr>
          <a:xfrm>
            <a:off x="10972800" y="5300794"/>
            <a:ext cx="7239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E5F0"/>
              </a:buClr>
              <a:buSzPts val="2250"/>
              <a:buFont typeface="Manrope"/>
              <a:buNone/>
            </a:pPr>
            <a:r>
              <a:rPr b="1" i="0" lang="en-US" sz="2250" u="none" cap="none" strike="noStrike">
                <a:solidFill>
                  <a:srgbClr val="FFE5F0"/>
                </a:solidFill>
                <a:latin typeface="Manrope"/>
                <a:ea typeface="Manrope"/>
                <a:cs typeface="Manrope"/>
                <a:sym typeface="Manrope"/>
              </a:rPr>
              <a:t>4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6"/>
          <p:cNvSpPr/>
          <p:nvPr/>
        </p:nvSpPr>
        <p:spPr>
          <a:xfrm>
            <a:off x="11010900" y="6138994"/>
            <a:ext cx="3269100" cy="41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7353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475"/>
              <a:buFont typeface="Manrope"/>
              <a:buNone/>
            </a:pPr>
            <a:r>
              <a:rPr b="1" i="0" lang="en-US" sz="2475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Anclaje físico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6"/>
          <p:cNvSpPr/>
          <p:nvPr/>
        </p:nvSpPr>
        <p:spPr>
          <a:xfrm>
            <a:off x="14363700" y="5300794"/>
            <a:ext cx="647700" cy="647700"/>
          </a:xfrm>
          <a:prstGeom prst="ellipse">
            <a:avLst/>
          </a:prstGeom>
          <a:solidFill>
            <a:srgbClr val="C594AA">
              <a:alpha val="9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6"/>
          <p:cNvSpPr/>
          <p:nvPr/>
        </p:nvSpPr>
        <p:spPr>
          <a:xfrm>
            <a:off x="14325600" y="5300794"/>
            <a:ext cx="7239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Manrope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Manrope"/>
                <a:ea typeface="Manrope"/>
                <a:cs typeface="Manrope"/>
                <a:sym typeface="Manrope"/>
              </a:rPr>
              <a:t>5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6"/>
          <p:cNvSpPr/>
          <p:nvPr/>
        </p:nvSpPr>
        <p:spPr>
          <a:xfrm>
            <a:off x="14363700" y="6138994"/>
            <a:ext cx="3269100" cy="41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7353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475"/>
              <a:buFont typeface="Manrope"/>
              <a:buNone/>
            </a:pPr>
            <a:r>
              <a:rPr b="1" i="0" lang="en-US" sz="2475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Check-in final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6"/>
          <p:cNvSpPr/>
          <p:nvPr/>
        </p:nvSpPr>
        <p:spPr>
          <a:xfrm>
            <a:off x="952500" y="8487799"/>
            <a:ext cx="16383000" cy="1100138"/>
          </a:xfrm>
          <a:prstGeom prst="rect">
            <a:avLst/>
          </a:prstGeom>
          <a:solidFill>
            <a:srgbClr val="FEDDE9">
              <a:alpha val="9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6"/>
          <p:cNvSpPr/>
          <p:nvPr/>
        </p:nvSpPr>
        <p:spPr>
          <a:xfrm>
            <a:off x="952500" y="8487799"/>
            <a:ext cx="38100" cy="1100138"/>
          </a:xfrm>
          <a:prstGeom prst="rect">
            <a:avLst/>
          </a:prstGeom>
          <a:solidFill>
            <a:srgbClr val="C594AA">
              <a:alpha val="9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6"/>
          <p:cNvSpPr/>
          <p:nvPr/>
        </p:nvSpPr>
        <p:spPr>
          <a:xfrm>
            <a:off x="1409700" y="8830699"/>
            <a:ext cx="10235754" cy="45243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5242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250"/>
              <a:buFont typeface="Manrope"/>
              <a:buNone/>
            </a:pPr>
            <a:r>
              <a:rPr b="1" i="0" lang="en-US" sz="225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Todo se anonimiza y alimenta el dashboard que utilizan los docentes.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6"/>
          <p:cNvSpPr/>
          <p:nvPr/>
        </p:nvSpPr>
        <p:spPr>
          <a:xfrm>
            <a:off x="952500" y="9579075"/>
            <a:ext cx="2992527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C8C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8C8C8C"/>
                </a:solidFill>
                <a:latin typeface="Manrope"/>
                <a:ea typeface="Manrope"/>
                <a:cs typeface="Manrope"/>
                <a:sym typeface="Manrope"/>
              </a:rPr>
              <a:t>EmotionLab · Capstone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6"/>
          <p:cNvSpPr/>
          <p:nvPr/>
        </p:nvSpPr>
        <p:spPr>
          <a:xfrm>
            <a:off x="17033777" y="9579075"/>
            <a:ext cx="377924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C8C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8C8C8C"/>
                </a:solidFill>
                <a:latin typeface="Manrope"/>
                <a:ea typeface="Manrope"/>
                <a:cs typeface="Manrope"/>
                <a:sym typeface="Manrope"/>
              </a:rPr>
              <a:t>04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5" name="Google Shape;105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071850" y="266425"/>
            <a:ext cx="3269100" cy="32691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D8E5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7"/>
          <p:cNvSpPr/>
          <p:nvPr/>
        </p:nvSpPr>
        <p:spPr>
          <a:xfrm>
            <a:off x="12921281" y="-2509220"/>
            <a:ext cx="8066440" cy="8066439"/>
          </a:xfrm>
          <a:prstGeom prst="ellipse">
            <a:avLst/>
          </a:prstGeom>
          <a:gradFill>
            <a:gsLst>
              <a:gs pos="0">
                <a:srgbClr val="E82D7D">
                  <a:alpha val="18039"/>
                </a:srgbClr>
              </a:gs>
              <a:gs pos="70000">
                <a:srgbClr val="E82D7D">
                  <a:alpha val="0"/>
                </a:srgbClr>
              </a:gs>
              <a:gs pos="100000">
                <a:srgbClr val="E82D7D">
                  <a:alpha val="0"/>
                </a:srgbClr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7"/>
          <p:cNvSpPr/>
          <p:nvPr/>
        </p:nvSpPr>
        <p:spPr>
          <a:xfrm>
            <a:off x="952500" y="1028700"/>
            <a:ext cx="114300" cy="114300"/>
          </a:xfrm>
          <a:prstGeom prst="ellipse">
            <a:avLst/>
          </a:prstGeom>
          <a:solidFill>
            <a:srgbClr val="E8A0B8">
              <a:alpha val="8196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7"/>
          <p:cNvSpPr/>
          <p:nvPr/>
        </p:nvSpPr>
        <p:spPr>
          <a:xfrm>
            <a:off x="1276350" y="914400"/>
            <a:ext cx="2226905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7F96"/>
              </a:buClr>
              <a:buSzPts val="1950"/>
              <a:buFont typeface="Manrope"/>
              <a:buNone/>
            </a:pPr>
            <a:r>
              <a:rPr b="1" i="0" lang="en-US" sz="1950" u="none" cap="none" strike="noStrike">
                <a:solidFill>
                  <a:srgbClr val="B07F96"/>
                </a:solidFill>
                <a:latin typeface="Manrope"/>
                <a:ea typeface="Manrope"/>
                <a:cs typeface="Manrope"/>
                <a:sym typeface="Manrope"/>
              </a:rPr>
              <a:t>OBJETIVOS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7"/>
          <p:cNvSpPr/>
          <p:nvPr/>
        </p:nvSpPr>
        <p:spPr>
          <a:xfrm>
            <a:off x="952500" y="3012888"/>
            <a:ext cx="16383000" cy="3122700"/>
          </a:xfrm>
          <a:prstGeom prst="rect">
            <a:avLst/>
          </a:prstGeom>
          <a:solidFill>
            <a:srgbClr val="FFFFFF">
              <a:alpha val="6902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7"/>
          <p:cNvSpPr/>
          <p:nvPr/>
        </p:nvSpPr>
        <p:spPr>
          <a:xfrm>
            <a:off x="990600" y="2990288"/>
            <a:ext cx="38100" cy="3122700"/>
          </a:xfrm>
          <a:prstGeom prst="rect">
            <a:avLst/>
          </a:prstGeom>
          <a:solidFill>
            <a:srgbClr val="0F3460">
              <a:alpha val="9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7"/>
          <p:cNvSpPr/>
          <p:nvPr/>
        </p:nvSpPr>
        <p:spPr>
          <a:xfrm>
            <a:off x="1485900" y="3241438"/>
            <a:ext cx="3459000" cy="349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7F96"/>
              </a:buClr>
              <a:buSzPts val="1800"/>
              <a:buFont typeface="Manrope"/>
              <a:buNone/>
            </a:pPr>
            <a:r>
              <a:rPr b="1" i="0" lang="en-US" sz="1800" u="none" cap="none" strike="noStrike">
                <a:solidFill>
                  <a:srgbClr val="B07F96"/>
                </a:solidFill>
                <a:latin typeface="Manrope"/>
                <a:ea typeface="Manrope"/>
                <a:cs typeface="Manrope"/>
                <a:sym typeface="Manrope"/>
              </a:rPr>
              <a:t>OBJETIVO GENERAL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7"/>
          <p:cNvSpPr/>
          <p:nvPr/>
        </p:nvSpPr>
        <p:spPr>
          <a:xfrm>
            <a:off x="1485900" y="3743089"/>
            <a:ext cx="15814800" cy="1821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7477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3900"/>
              <a:buFont typeface="Source Serif 4"/>
              <a:buNone/>
            </a:pPr>
            <a:r>
              <a:rPr b="0" i="0" lang="en-US" sz="3900" u="none" cap="none" strike="noStrike">
                <a:solidFill>
                  <a:srgbClr val="0F3460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Medir de forma objetiva la respuesta emocional y de atención de estudiantes de Enseñanza Media mediante realidad virtual, y entregar esos datos a sus docentes.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7"/>
          <p:cNvSpPr/>
          <p:nvPr/>
        </p:nvSpPr>
        <p:spPr>
          <a:xfrm>
            <a:off x="952500" y="6227487"/>
            <a:ext cx="4159500" cy="349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7F96"/>
              </a:buClr>
              <a:buSzPts val="1800"/>
              <a:buFont typeface="Manrope"/>
              <a:buNone/>
            </a:pPr>
            <a:r>
              <a:rPr b="1" i="0" lang="en-US" sz="1800" u="none" cap="none" strike="noStrike">
                <a:solidFill>
                  <a:srgbClr val="B07F96"/>
                </a:solidFill>
                <a:latin typeface="Manrope"/>
                <a:ea typeface="Manrope"/>
                <a:cs typeface="Manrope"/>
                <a:sym typeface="Manrope"/>
              </a:rPr>
              <a:t>O1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7"/>
          <p:cNvSpPr/>
          <p:nvPr/>
        </p:nvSpPr>
        <p:spPr>
          <a:xfrm>
            <a:off x="952500" y="6691038"/>
            <a:ext cx="3435600" cy="19200"/>
          </a:xfrm>
          <a:prstGeom prst="rect">
            <a:avLst/>
          </a:prstGeom>
          <a:solidFill>
            <a:srgbClr val="C594AA">
              <a:alpha val="9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7"/>
          <p:cNvSpPr/>
          <p:nvPr/>
        </p:nvSpPr>
        <p:spPr>
          <a:xfrm>
            <a:off x="952500" y="6938688"/>
            <a:ext cx="41595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2308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400"/>
              <a:buFont typeface="Manrope"/>
              <a:buNone/>
            </a:pPr>
            <a:r>
              <a:rPr b="1" i="0" lang="en-US" sz="240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Diseñar el entorno VR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7"/>
          <p:cNvSpPr/>
          <p:nvPr/>
        </p:nvSpPr>
        <p:spPr>
          <a:xfrm>
            <a:off x="5153025" y="6227487"/>
            <a:ext cx="4159500" cy="349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7F96"/>
              </a:buClr>
              <a:buSzPts val="1800"/>
              <a:buFont typeface="Manrope"/>
              <a:buNone/>
            </a:pPr>
            <a:r>
              <a:rPr b="1" i="0" lang="en-US" sz="1800" u="none" cap="none" strike="noStrike">
                <a:solidFill>
                  <a:srgbClr val="B07F96"/>
                </a:solidFill>
                <a:latin typeface="Manrope"/>
                <a:ea typeface="Manrope"/>
                <a:cs typeface="Manrope"/>
                <a:sym typeface="Manrope"/>
              </a:rPr>
              <a:t>O2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7"/>
          <p:cNvSpPr/>
          <p:nvPr/>
        </p:nvSpPr>
        <p:spPr>
          <a:xfrm>
            <a:off x="5153025" y="6691038"/>
            <a:ext cx="3435600" cy="19200"/>
          </a:xfrm>
          <a:prstGeom prst="rect">
            <a:avLst/>
          </a:prstGeom>
          <a:solidFill>
            <a:srgbClr val="C594AA">
              <a:alpha val="9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7"/>
          <p:cNvSpPr/>
          <p:nvPr/>
        </p:nvSpPr>
        <p:spPr>
          <a:xfrm>
            <a:off x="5153025" y="6938688"/>
            <a:ext cx="38949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2308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400"/>
              <a:buFont typeface="Manrope"/>
              <a:buNone/>
            </a:pPr>
            <a:r>
              <a:rPr b="1" i="0" lang="en-US" sz="240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Construir la arquitectura de datos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7"/>
          <p:cNvSpPr/>
          <p:nvPr/>
        </p:nvSpPr>
        <p:spPr>
          <a:xfrm>
            <a:off x="9353550" y="6227487"/>
            <a:ext cx="4159500" cy="349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7F96"/>
              </a:buClr>
              <a:buSzPts val="1800"/>
              <a:buFont typeface="Manrope"/>
              <a:buNone/>
            </a:pPr>
            <a:r>
              <a:rPr b="1" i="0" lang="en-US" sz="1800" u="none" cap="none" strike="noStrike">
                <a:solidFill>
                  <a:srgbClr val="B07F96"/>
                </a:solidFill>
                <a:latin typeface="Manrope"/>
                <a:ea typeface="Manrope"/>
                <a:cs typeface="Manrope"/>
                <a:sym typeface="Manrope"/>
              </a:rPr>
              <a:t>O3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7"/>
          <p:cNvSpPr/>
          <p:nvPr/>
        </p:nvSpPr>
        <p:spPr>
          <a:xfrm>
            <a:off x="9353550" y="6691038"/>
            <a:ext cx="3435600" cy="19200"/>
          </a:xfrm>
          <a:prstGeom prst="rect">
            <a:avLst/>
          </a:prstGeom>
          <a:solidFill>
            <a:srgbClr val="C594AA">
              <a:alpha val="9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7"/>
          <p:cNvSpPr/>
          <p:nvPr/>
        </p:nvSpPr>
        <p:spPr>
          <a:xfrm>
            <a:off x="9353550" y="6938688"/>
            <a:ext cx="38949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2308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400"/>
              <a:buFont typeface="Manrope"/>
              <a:buNone/>
            </a:pPr>
            <a:r>
              <a:rPr b="1" i="0" lang="en-US" sz="240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Ejecutar las pruebas de campo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7"/>
          <p:cNvSpPr/>
          <p:nvPr/>
        </p:nvSpPr>
        <p:spPr>
          <a:xfrm>
            <a:off x="13554075" y="6227487"/>
            <a:ext cx="4159500" cy="349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7F96"/>
              </a:buClr>
              <a:buSzPts val="1800"/>
              <a:buFont typeface="Manrope"/>
              <a:buNone/>
            </a:pPr>
            <a:r>
              <a:rPr b="1" i="0" lang="en-US" sz="1800" u="none" cap="none" strike="noStrike">
                <a:solidFill>
                  <a:srgbClr val="B07F96"/>
                </a:solidFill>
                <a:latin typeface="Manrope"/>
                <a:ea typeface="Manrope"/>
                <a:cs typeface="Manrope"/>
                <a:sym typeface="Manrope"/>
              </a:rPr>
              <a:t>O4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7"/>
          <p:cNvSpPr/>
          <p:nvPr/>
        </p:nvSpPr>
        <p:spPr>
          <a:xfrm>
            <a:off x="13554075" y="6691038"/>
            <a:ext cx="3435600" cy="19200"/>
          </a:xfrm>
          <a:prstGeom prst="rect">
            <a:avLst/>
          </a:prstGeom>
          <a:solidFill>
            <a:srgbClr val="C594AA">
              <a:alpha val="9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"/>
          <p:cNvSpPr/>
          <p:nvPr/>
        </p:nvSpPr>
        <p:spPr>
          <a:xfrm>
            <a:off x="13554075" y="6938688"/>
            <a:ext cx="38949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2308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400"/>
              <a:buFont typeface="Manrope"/>
              <a:buNone/>
            </a:pPr>
            <a:r>
              <a:rPr b="1" i="0" lang="en-US" sz="240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Proteger la privacidad de los datos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7"/>
          <p:cNvSpPr/>
          <p:nvPr/>
        </p:nvSpPr>
        <p:spPr>
          <a:xfrm>
            <a:off x="952500" y="9002781"/>
            <a:ext cx="16383000" cy="977900"/>
          </a:xfrm>
          <a:prstGeom prst="rect">
            <a:avLst/>
          </a:prstGeom>
          <a:solidFill>
            <a:srgbClr val="0F3460">
              <a:alpha val="9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7"/>
          <p:cNvSpPr/>
          <p:nvPr/>
        </p:nvSpPr>
        <p:spPr>
          <a:xfrm>
            <a:off x="1790402" y="9288531"/>
            <a:ext cx="6297196" cy="444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E5F0"/>
              </a:buClr>
              <a:buSzPts val="2325"/>
              <a:buFont typeface="Manrope"/>
              <a:buNone/>
            </a:pPr>
            <a:r>
              <a:rPr b="1" i="0" lang="en-US" sz="2325" u="none" cap="none" strike="noStrike">
                <a:solidFill>
                  <a:srgbClr val="FFE5F0"/>
                </a:solidFill>
                <a:latin typeface="Manrope"/>
                <a:ea typeface="Manrope"/>
                <a:cs typeface="Manrope"/>
                <a:sym typeface="Manrope"/>
              </a:rPr>
              <a:t>O1 + O2 + O3 + O4 = nuestro entregable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7"/>
          <p:cNvSpPr/>
          <p:nvPr/>
        </p:nvSpPr>
        <p:spPr>
          <a:xfrm>
            <a:off x="7724676" y="9304406"/>
            <a:ext cx="9650105" cy="412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BFD0"/>
              </a:buClr>
              <a:buSzPts val="2175"/>
              <a:buFont typeface="Manrope"/>
              <a:buNone/>
            </a:pPr>
            <a:r>
              <a:rPr b="0" i="0" lang="en-US" sz="2175" u="none" cap="none" strike="noStrike">
                <a:solidFill>
                  <a:srgbClr val="E8BFD0"/>
                </a:solidFill>
                <a:latin typeface="Manrope"/>
                <a:ea typeface="Manrope"/>
                <a:cs typeface="Manrope"/>
                <a:sym typeface="Manrope"/>
              </a:rPr>
              <a:t>una experiencia VR validada en aula que entrega datos a los docentes</a:t>
            </a:r>
            <a:endParaRPr b="0" i="0" sz="21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7"/>
          <p:cNvSpPr/>
          <p:nvPr/>
        </p:nvSpPr>
        <p:spPr>
          <a:xfrm>
            <a:off x="952500" y="9970493"/>
            <a:ext cx="2992527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B92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9A8B92"/>
                </a:solidFill>
                <a:latin typeface="Manrope"/>
                <a:ea typeface="Manrope"/>
                <a:cs typeface="Manrope"/>
                <a:sym typeface="Manrope"/>
              </a:rPr>
              <a:t>EmotionLab · Capstone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7"/>
          <p:cNvSpPr/>
          <p:nvPr/>
        </p:nvSpPr>
        <p:spPr>
          <a:xfrm>
            <a:off x="17036554" y="9970493"/>
            <a:ext cx="375146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B92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9A8B92"/>
                </a:solidFill>
                <a:latin typeface="Manrope"/>
                <a:ea typeface="Manrope"/>
                <a:cs typeface="Manrope"/>
                <a:sym typeface="Manrope"/>
              </a:rPr>
              <a:t>05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8"/>
          <p:cNvSpPr/>
          <p:nvPr/>
        </p:nvSpPr>
        <p:spPr>
          <a:xfrm>
            <a:off x="952500" y="1066800"/>
            <a:ext cx="114300" cy="114300"/>
          </a:xfrm>
          <a:prstGeom prst="ellipse">
            <a:avLst/>
          </a:prstGeom>
          <a:solidFill>
            <a:srgbClr val="C594AA">
              <a:alpha val="8196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8"/>
          <p:cNvSpPr/>
          <p:nvPr/>
        </p:nvSpPr>
        <p:spPr>
          <a:xfrm>
            <a:off x="1276350" y="952500"/>
            <a:ext cx="9903529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594AA"/>
              </a:buClr>
              <a:buSzPts val="1950"/>
              <a:buFont typeface="Manrope"/>
              <a:buNone/>
            </a:pPr>
            <a:r>
              <a:rPr b="1" i="0" lang="en-US" sz="1950" u="none" cap="none" strike="noStrike">
                <a:solidFill>
                  <a:srgbClr val="C594AA"/>
                </a:solidFill>
                <a:latin typeface="Manrope"/>
                <a:ea typeface="Manrope"/>
                <a:cs typeface="Manrope"/>
                <a:sym typeface="Manrope"/>
              </a:rPr>
              <a:t>PERFIL DE EGRESO E INTERESES PROFESIONALES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8"/>
          <p:cNvSpPr/>
          <p:nvPr/>
        </p:nvSpPr>
        <p:spPr>
          <a:xfrm>
            <a:off x="952500" y="1648477"/>
            <a:ext cx="13931265" cy="15049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208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5250"/>
              <a:buFont typeface="Source Serif 4"/>
              <a:buNone/>
            </a:pPr>
            <a:r>
              <a:rPr b="0" i="0" lang="en-US" sz="5250" u="none" cap="none" strike="noStrike">
                <a:solidFill>
                  <a:srgbClr val="0F3460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Lo que el proyecto exige es lo que queremos ejercer</a:t>
            </a:r>
            <a:endParaRPr b="0" i="0" sz="5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8"/>
          <p:cNvSpPr/>
          <p:nvPr/>
        </p:nvSpPr>
        <p:spPr>
          <a:xfrm>
            <a:off x="952500" y="3610627"/>
            <a:ext cx="8251031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7F96"/>
              </a:buClr>
              <a:buSzPts val="1800"/>
              <a:buFont typeface="Manrope"/>
              <a:buNone/>
            </a:pPr>
            <a:r>
              <a:rPr b="1" i="0" lang="en-US" sz="1800" u="none" cap="none" strike="noStrike">
                <a:solidFill>
                  <a:srgbClr val="B07F96"/>
                </a:solidFill>
                <a:latin typeface="Manrope"/>
                <a:ea typeface="Manrope"/>
                <a:cs typeface="Manrope"/>
                <a:sym typeface="Manrope"/>
              </a:rPr>
              <a:t>COMPETENCIAS DEL PERFIL DE EGRESO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8"/>
          <p:cNvSpPr/>
          <p:nvPr/>
        </p:nvSpPr>
        <p:spPr>
          <a:xfrm>
            <a:off x="952500" y="4239277"/>
            <a:ext cx="347663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594AA"/>
              </a:buClr>
              <a:buSzPts val="1950"/>
              <a:buFont typeface="Manrope"/>
              <a:buNone/>
            </a:pPr>
            <a:r>
              <a:rPr b="1" i="0" lang="en-US" sz="1950" u="none" cap="none" strike="noStrike">
                <a:solidFill>
                  <a:srgbClr val="C594AA"/>
                </a:solidFill>
                <a:latin typeface="Manrope"/>
                <a:ea typeface="Manrope"/>
                <a:cs typeface="Manrope"/>
                <a:sym typeface="Manrope"/>
              </a:rPr>
              <a:t>01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8"/>
          <p:cNvSpPr/>
          <p:nvPr/>
        </p:nvSpPr>
        <p:spPr>
          <a:xfrm>
            <a:off x="1452563" y="4169427"/>
            <a:ext cx="5774522" cy="4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475"/>
              <a:buFont typeface="Manrope"/>
              <a:buNone/>
            </a:pPr>
            <a:r>
              <a:rPr b="1" i="0" lang="en-US" sz="2475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Gestión de proyectos informáticos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8"/>
          <p:cNvSpPr/>
          <p:nvPr/>
        </p:nvSpPr>
        <p:spPr>
          <a:xfrm>
            <a:off x="1452563" y="4677427"/>
            <a:ext cx="5774522" cy="39717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4722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1950"/>
              <a:buFont typeface="Manrope"/>
              <a:buNone/>
            </a:pPr>
            <a:r>
              <a:rPr b="0" i="0" lang="en-US" sz="1950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Tres fases, roles definidos y tablero Kanban.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8"/>
          <p:cNvSpPr/>
          <p:nvPr/>
        </p:nvSpPr>
        <p:spPr>
          <a:xfrm>
            <a:off x="952500" y="5315900"/>
            <a:ext cx="386655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594AA"/>
              </a:buClr>
              <a:buSzPts val="1950"/>
              <a:buFont typeface="Manrope"/>
              <a:buNone/>
            </a:pPr>
            <a:r>
              <a:rPr b="1" i="0" lang="en-US" sz="1950" u="none" cap="none" strike="noStrike">
                <a:solidFill>
                  <a:srgbClr val="C594AA"/>
                </a:solidFill>
                <a:latin typeface="Manrope"/>
                <a:ea typeface="Manrope"/>
                <a:cs typeface="Manrope"/>
                <a:sym typeface="Manrope"/>
              </a:rPr>
              <a:t>02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8"/>
          <p:cNvSpPr/>
          <p:nvPr/>
        </p:nvSpPr>
        <p:spPr>
          <a:xfrm>
            <a:off x="1491555" y="5246050"/>
            <a:ext cx="6703745" cy="4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475"/>
              <a:buFont typeface="Manrope"/>
              <a:buNone/>
            </a:pPr>
            <a:r>
              <a:rPr b="1" i="0" lang="en-US" sz="2475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Arquitectura y gestión de la información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8"/>
          <p:cNvSpPr/>
          <p:nvPr/>
        </p:nvSpPr>
        <p:spPr>
          <a:xfrm>
            <a:off x="1491555" y="5754050"/>
            <a:ext cx="6703745" cy="39717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4722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1950"/>
              <a:buFont typeface="Manrope"/>
              <a:buNone/>
            </a:pPr>
            <a:r>
              <a:rPr b="0" i="0" lang="en-US" sz="1950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Datos anonimizados y transmisión segura a la nube.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8"/>
          <p:cNvSpPr/>
          <p:nvPr/>
        </p:nvSpPr>
        <p:spPr>
          <a:xfrm>
            <a:off x="952500" y="6392523"/>
            <a:ext cx="383183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594AA"/>
              </a:buClr>
              <a:buSzPts val="1950"/>
              <a:buFont typeface="Manrope"/>
              <a:buNone/>
            </a:pPr>
            <a:r>
              <a:rPr b="1" i="0" lang="en-US" sz="1950" u="none" cap="none" strike="noStrike">
                <a:solidFill>
                  <a:srgbClr val="C594AA"/>
                </a:solidFill>
                <a:latin typeface="Manrope"/>
                <a:ea typeface="Manrope"/>
                <a:cs typeface="Manrope"/>
                <a:sym typeface="Manrope"/>
              </a:rPr>
              <a:t>03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8"/>
          <p:cNvSpPr/>
          <p:nvPr/>
        </p:nvSpPr>
        <p:spPr>
          <a:xfrm>
            <a:off x="1488083" y="6322672"/>
            <a:ext cx="6650048" cy="4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475"/>
              <a:buFont typeface="Manrope"/>
              <a:buNone/>
            </a:pPr>
            <a:r>
              <a:rPr b="1" i="0" lang="en-US" sz="2475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Análisis de requerimientos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8"/>
          <p:cNvSpPr/>
          <p:nvPr/>
        </p:nvSpPr>
        <p:spPr>
          <a:xfrm>
            <a:off x="1488083" y="6830673"/>
            <a:ext cx="6650048" cy="39717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4722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1950"/>
              <a:buFont typeface="Manrope"/>
              <a:buNone/>
            </a:pPr>
            <a:r>
              <a:rPr b="0" i="0" lang="en-US" sz="1950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Levantamiento con el colegio y especificación formal.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8"/>
          <p:cNvSpPr/>
          <p:nvPr/>
        </p:nvSpPr>
        <p:spPr>
          <a:xfrm>
            <a:off x="952500" y="7469145"/>
            <a:ext cx="38993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594AA"/>
              </a:buClr>
              <a:buSzPts val="1950"/>
              <a:buFont typeface="Manrope"/>
              <a:buNone/>
            </a:pPr>
            <a:r>
              <a:rPr b="1" i="0" lang="en-US" sz="1950" u="none" cap="none" strike="noStrike">
                <a:solidFill>
                  <a:srgbClr val="C594AA"/>
                </a:solidFill>
                <a:latin typeface="Manrope"/>
                <a:ea typeface="Manrope"/>
                <a:cs typeface="Manrope"/>
                <a:sym typeface="Manrope"/>
              </a:rPr>
              <a:t>04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8"/>
          <p:cNvSpPr/>
          <p:nvPr/>
        </p:nvSpPr>
        <p:spPr>
          <a:xfrm>
            <a:off x="1494830" y="7399295"/>
            <a:ext cx="6364426" cy="4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475"/>
              <a:buFont typeface="Manrope"/>
              <a:buNone/>
            </a:pPr>
            <a:r>
              <a:rPr b="1" i="0" lang="en-US" sz="2475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Desarrollo de soluciones tecnológicas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8"/>
          <p:cNvSpPr/>
          <p:nvPr/>
        </p:nvSpPr>
        <p:spPr>
          <a:xfrm>
            <a:off x="1494830" y="7907295"/>
            <a:ext cx="6364426" cy="39717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4722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1950"/>
              <a:buFont typeface="Manrope"/>
              <a:buNone/>
            </a:pPr>
            <a:r>
              <a:rPr b="0" i="0" lang="en-US" sz="1950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Construcción, pruebas y builds del entorno VR.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8"/>
          <p:cNvSpPr/>
          <p:nvPr/>
        </p:nvSpPr>
        <p:spPr>
          <a:xfrm>
            <a:off x="9139238" y="3600450"/>
            <a:ext cx="9525" cy="5624252"/>
          </a:xfrm>
          <a:prstGeom prst="rect">
            <a:avLst/>
          </a:prstGeom>
          <a:solidFill>
            <a:srgbClr val="EDDBE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8"/>
          <p:cNvSpPr/>
          <p:nvPr/>
        </p:nvSpPr>
        <p:spPr>
          <a:xfrm>
            <a:off x="9834563" y="3610627"/>
            <a:ext cx="8251031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7F96"/>
              </a:buClr>
              <a:buSzPts val="1800"/>
              <a:buFont typeface="Manrope"/>
              <a:buNone/>
            </a:pPr>
            <a:r>
              <a:rPr b="1" i="0" lang="en-US" sz="1800" u="none" cap="none" strike="noStrike">
                <a:solidFill>
                  <a:srgbClr val="B07F96"/>
                </a:solidFill>
                <a:latin typeface="Manrope"/>
                <a:ea typeface="Manrope"/>
                <a:cs typeface="Manrope"/>
                <a:sym typeface="Manrope"/>
              </a:rPr>
              <a:t>NUESTROS INTERESES PROFESIONALES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8"/>
          <p:cNvSpPr/>
          <p:nvPr/>
        </p:nvSpPr>
        <p:spPr>
          <a:xfrm>
            <a:off x="9834563" y="4169427"/>
            <a:ext cx="7500938" cy="1799828"/>
          </a:xfrm>
          <a:prstGeom prst="rect">
            <a:avLst/>
          </a:prstGeom>
          <a:solidFill>
            <a:srgbClr val="FEDDE9">
              <a:alpha val="9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8"/>
          <p:cNvSpPr/>
          <p:nvPr/>
        </p:nvSpPr>
        <p:spPr>
          <a:xfrm>
            <a:off x="9834563" y="4169427"/>
            <a:ext cx="7500938" cy="25400"/>
          </a:xfrm>
          <a:prstGeom prst="rect">
            <a:avLst/>
          </a:prstGeom>
          <a:solidFill>
            <a:srgbClr val="C594AA">
              <a:alpha val="9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8"/>
          <p:cNvSpPr/>
          <p:nvPr/>
        </p:nvSpPr>
        <p:spPr>
          <a:xfrm>
            <a:off x="10139363" y="4442477"/>
            <a:ext cx="7580471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550"/>
              <a:buFont typeface="Manrope"/>
              <a:buNone/>
            </a:pPr>
            <a:r>
              <a:rPr b="1" i="0" lang="en-US" sz="255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Ciencia de Datos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8"/>
          <p:cNvSpPr/>
          <p:nvPr/>
        </p:nvSpPr>
        <p:spPr>
          <a:xfrm>
            <a:off x="10139363" y="4975877"/>
            <a:ext cx="7098078" cy="78382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6773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2025"/>
              <a:buFont typeface="Manrope"/>
              <a:buNone/>
            </a:pPr>
            <a:r>
              <a:rPr b="0" i="0" lang="en-US" sz="2025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Convertir el recorrido en información que un docente pueda usar.</a:t>
            </a:r>
            <a:endParaRPr b="0" i="0" sz="20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8"/>
          <p:cNvSpPr/>
          <p:nvPr/>
        </p:nvSpPr>
        <p:spPr>
          <a:xfrm>
            <a:off x="9834563" y="6178805"/>
            <a:ext cx="7500938" cy="1799828"/>
          </a:xfrm>
          <a:prstGeom prst="rect">
            <a:avLst/>
          </a:prstGeom>
          <a:solidFill>
            <a:srgbClr val="FEDDE9">
              <a:alpha val="9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8"/>
          <p:cNvSpPr/>
          <p:nvPr/>
        </p:nvSpPr>
        <p:spPr>
          <a:xfrm>
            <a:off x="9834563" y="6178805"/>
            <a:ext cx="7500938" cy="25400"/>
          </a:xfrm>
          <a:prstGeom prst="rect">
            <a:avLst/>
          </a:prstGeom>
          <a:solidFill>
            <a:srgbClr val="C594AA">
              <a:alpha val="9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8"/>
          <p:cNvSpPr/>
          <p:nvPr/>
        </p:nvSpPr>
        <p:spPr>
          <a:xfrm>
            <a:off x="10139363" y="6451855"/>
            <a:ext cx="7580471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550"/>
              <a:buFont typeface="Manrope"/>
              <a:buNone/>
            </a:pPr>
            <a:r>
              <a:rPr b="1" i="0" lang="en-US" sz="255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Ingeniería de Software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8"/>
          <p:cNvSpPr/>
          <p:nvPr/>
        </p:nvSpPr>
        <p:spPr>
          <a:xfrm>
            <a:off x="10139363" y="6985255"/>
            <a:ext cx="7098078" cy="78382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6773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2025"/>
              <a:buFont typeface="Manrope"/>
              <a:buNone/>
            </a:pPr>
            <a:r>
              <a:rPr b="0" i="0" lang="en-US" sz="2025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Desarrollar y probar una aplicación real, usada fuera del laboratorio.</a:t>
            </a:r>
            <a:endParaRPr b="0" i="0" sz="20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8"/>
          <p:cNvSpPr/>
          <p:nvPr/>
        </p:nvSpPr>
        <p:spPr>
          <a:xfrm>
            <a:off x="9834563" y="8188183"/>
            <a:ext cx="7500938" cy="1799828"/>
          </a:xfrm>
          <a:prstGeom prst="rect">
            <a:avLst/>
          </a:prstGeom>
          <a:solidFill>
            <a:srgbClr val="FEDDE9">
              <a:alpha val="9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8"/>
          <p:cNvSpPr/>
          <p:nvPr/>
        </p:nvSpPr>
        <p:spPr>
          <a:xfrm>
            <a:off x="9834563" y="8188183"/>
            <a:ext cx="7500938" cy="25400"/>
          </a:xfrm>
          <a:prstGeom prst="rect">
            <a:avLst/>
          </a:prstGeom>
          <a:solidFill>
            <a:srgbClr val="C594AA">
              <a:alpha val="9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8"/>
          <p:cNvSpPr/>
          <p:nvPr/>
        </p:nvSpPr>
        <p:spPr>
          <a:xfrm>
            <a:off x="10139363" y="8461234"/>
            <a:ext cx="7580471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550"/>
              <a:buFont typeface="Manrope"/>
              <a:buNone/>
            </a:pPr>
            <a:r>
              <a:rPr b="1" i="0" lang="en-US" sz="255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Gestión de Proyectos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8"/>
          <p:cNvSpPr/>
          <p:nvPr/>
        </p:nvSpPr>
        <p:spPr>
          <a:xfrm>
            <a:off x="10139363" y="8994634"/>
            <a:ext cx="7098078" cy="78382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6773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2025"/>
              <a:buFont typeface="Manrope"/>
              <a:buNone/>
            </a:pPr>
            <a:r>
              <a:rPr b="0" i="0" lang="en-US" sz="2025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Coordinar un equipo, una institución externa y 13 semanas.</a:t>
            </a:r>
            <a:endParaRPr b="0" i="0" sz="20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8"/>
          <p:cNvSpPr/>
          <p:nvPr/>
        </p:nvSpPr>
        <p:spPr>
          <a:xfrm>
            <a:off x="952500" y="9977835"/>
            <a:ext cx="2992527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C8C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8C8C8C"/>
                </a:solidFill>
                <a:latin typeface="Manrope"/>
                <a:ea typeface="Manrope"/>
                <a:cs typeface="Manrope"/>
                <a:sym typeface="Manrope"/>
              </a:rPr>
              <a:t>EmotionLab · Capstone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8"/>
          <p:cNvSpPr/>
          <p:nvPr/>
        </p:nvSpPr>
        <p:spPr>
          <a:xfrm>
            <a:off x="17026732" y="9977835"/>
            <a:ext cx="384969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C8C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8C8C8C"/>
                </a:solidFill>
                <a:latin typeface="Manrope"/>
                <a:ea typeface="Manrope"/>
                <a:cs typeface="Manrope"/>
                <a:sym typeface="Manrope"/>
              </a:rPr>
              <a:t>06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D8E5"/>
        </a:solidFill>
      </p:bgPr>
    </p:bg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9"/>
          <p:cNvSpPr/>
          <p:nvPr/>
        </p:nvSpPr>
        <p:spPr>
          <a:xfrm>
            <a:off x="-2889175" y="5111825"/>
            <a:ext cx="8254850" cy="8254851"/>
          </a:xfrm>
          <a:prstGeom prst="ellipse">
            <a:avLst/>
          </a:prstGeom>
          <a:gradFill>
            <a:gsLst>
              <a:gs pos="0">
                <a:srgbClr val="E82D7D">
                  <a:alpha val="18824"/>
                </a:srgbClr>
              </a:gs>
              <a:gs pos="70000">
                <a:srgbClr val="E82D7D">
                  <a:alpha val="0"/>
                </a:srgbClr>
              </a:gs>
              <a:gs pos="100000">
                <a:srgbClr val="E82D7D">
                  <a:alpha val="0"/>
                </a:srgbClr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9"/>
          <p:cNvSpPr/>
          <p:nvPr/>
        </p:nvSpPr>
        <p:spPr>
          <a:xfrm>
            <a:off x="952500" y="1028700"/>
            <a:ext cx="114300" cy="114300"/>
          </a:xfrm>
          <a:prstGeom prst="ellipse">
            <a:avLst/>
          </a:prstGeom>
          <a:solidFill>
            <a:srgbClr val="E8A0B8">
              <a:alpha val="8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9"/>
          <p:cNvSpPr/>
          <p:nvPr/>
        </p:nvSpPr>
        <p:spPr>
          <a:xfrm>
            <a:off x="1276350" y="914400"/>
            <a:ext cx="3982651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7F96"/>
              </a:buClr>
              <a:buSzPts val="1950"/>
              <a:buFont typeface="Manrope"/>
              <a:buNone/>
            </a:pPr>
            <a:r>
              <a:rPr b="1" i="0" lang="en-US" sz="1950" u="none" cap="none" strike="noStrike">
                <a:solidFill>
                  <a:srgbClr val="B07F96"/>
                </a:solidFill>
                <a:latin typeface="Manrope"/>
                <a:ea typeface="Manrope"/>
                <a:cs typeface="Manrope"/>
                <a:sym typeface="Manrope"/>
              </a:rPr>
              <a:t>CÓMO TRABAJAMOS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9"/>
          <p:cNvSpPr/>
          <p:nvPr/>
        </p:nvSpPr>
        <p:spPr>
          <a:xfrm>
            <a:off x="952500" y="1649926"/>
            <a:ext cx="14716125" cy="158869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329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5550"/>
              <a:buFont typeface="Source Serif 4"/>
              <a:buNone/>
            </a:pPr>
            <a:r>
              <a:rPr b="0" i="0" lang="en-US" sz="5550" u="none" cap="none" strike="noStrike">
                <a:solidFill>
                  <a:srgbClr val="0F3460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Kanban en GitHub Projects</a:t>
            </a:r>
            <a:r>
              <a:rPr b="0" i="0" lang="en-US" sz="5550" u="none" cap="none" strike="noStrike">
                <a:solidFill>
                  <a:srgbClr val="0F3460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, tres fases, 13 semanas</a:t>
            </a:r>
            <a:endParaRPr b="0" i="0" sz="5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9"/>
          <p:cNvSpPr/>
          <p:nvPr/>
        </p:nvSpPr>
        <p:spPr>
          <a:xfrm>
            <a:off x="952500" y="3505317"/>
            <a:ext cx="16344900" cy="481012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8984"/>
              </a:lnSpc>
              <a:spcBef>
                <a:spcPts val="0"/>
              </a:spcBef>
              <a:spcAft>
                <a:spcPts val="0"/>
              </a:spcAft>
              <a:buClr>
                <a:srgbClr val="3D4D60"/>
              </a:buClr>
              <a:buSzPts val="2325"/>
              <a:buFont typeface="Manrope"/>
              <a:buNone/>
            </a:pPr>
            <a:r>
              <a:rPr b="0" i="0" lang="en-US" sz="2325" u="none" cap="none" strike="noStrike">
                <a:solidFill>
                  <a:srgbClr val="3D4D60"/>
                </a:solidFill>
                <a:latin typeface="Manrope"/>
                <a:ea typeface="Manrope"/>
                <a:cs typeface="Manrope"/>
                <a:sym typeface="Manrope"/>
              </a:rPr>
              <a:t>Cada hito responde a un objetivo específico y tiene una responsable.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9"/>
          <p:cNvSpPr/>
          <p:nvPr/>
        </p:nvSpPr>
        <p:spPr>
          <a:xfrm>
            <a:off x="952500" y="4367329"/>
            <a:ext cx="5295900" cy="1295400"/>
          </a:xfrm>
          <a:prstGeom prst="rect">
            <a:avLst/>
          </a:prstGeom>
          <a:solidFill>
            <a:srgbClr val="FFFFFF">
              <a:alpha val="6902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9"/>
          <p:cNvSpPr/>
          <p:nvPr/>
        </p:nvSpPr>
        <p:spPr>
          <a:xfrm>
            <a:off x="952500" y="4367329"/>
            <a:ext cx="38100" cy="1295400"/>
          </a:xfrm>
          <a:prstGeom prst="rect">
            <a:avLst/>
          </a:prstGeom>
          <a:solidFill>
            <a:srgbClr val="0F3460">
              <a:alpha val="9490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9"/>
          <p:cNvSpPr/>
          <p:nvPr/>
        </p:nvSpPr>
        <p:spPr>
          <a:xfrm>
            <a:off x="1295400" y="4614979"/>
            <a:ext cx="1073944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7F96"/>
              </a:buClr>
              <a:buSzPts val="1800"/>
              <a:buFont typeface="Manrope"/>
              <a:buNone/>
            </a:pPr>
            <a:r>
              <a:rPr b="1" i="0" lang="en-US" sz="1800" u="none" cap="none" strike="noStrike">
                <a:solidFill>
                  <a:srgbClr val="B07F96"/>
                </a:solidFill>
                <a:latin typeface="Manrope"/>
                <a:ea typeface="Manrope"/>
                <a:cs typeface="Manrope"/>
                <a:sym typeface="Manrope"/>
              </a:rPr>
              <a:t>FASE 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9"/>
          <p:cNvSpPr/>
          <p:nvPr/>
        </p:nvSpPr>
        <p:spPr>
          <a:xfrm>
            <a:off x="1295400" y="5021380"/>
            <a:ext cx="5113020" cy="431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250"/>
              <a:buFont typeface="Manrope"/>
              <a:buNone/>
            </a:pPr>
            <a:r>
              <a:rPr b="1" i="0" lang="en-US" sz="225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Planificación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9"/>
          <p:cNvSpPr/>
          <p:nvPr/>
        </p:nvSpPr>
        <p:spPr>
          <a:xfrm>
            <a:off x="6496050" y="4367329"/>
            <a:ext cx="5295900" cy="1295400"/>
          </a:xfrm>
          <a:prstGeom prst="rect">
            <a:avLst/>
          </a:prstGeom>
          <a:solidFill>
            <a:srgbClr val="FFFFFF">
              <a:alpha val="6902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9"/>
          <p:cNvSpPr/>
          <p:nvPr/>
        </p:nvSpPr>
        <p:spPr>
          <a:xfrm>
            <a:off x="6496050" y="4367329"/>
            <a:ext cx="38100" cy="1295400"/>
          </a:xfrm>
          <a:prstGeom prst="rect">
            <a:avLst/>
          </a:prstGeom>
          <a:solidFill>
            <a:srgbClr val="0F3460">
              <a:alpha val="9490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9"/>
          <p:cNvSpPr/>
          <p:nvPr/>
        </p:nvSpPr>
        <p:spPr>
          <a:xfrm>
            <a:off x="6838950" y="4614979"/>
            <a:ext cx="1109960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7F96"/>
              </a:buClr>
              <a:buSzPts val="1800"/>
              <a:buFont typeface="Manrope"/>
              <a:buNone/>
            </a:pPr>
            <a:r>
              <a:rPr b="1" i="0" lang="en-US" sz="1800" u="none" cap="none" strike="noStrike">
                <a:solidFill>
                  <a:srgbClr val="B07F96"/>
                </a:solidFill>
                <a:latin typeface="Manrope"/>
                <a:ea typeface="Manrope"/>
                <a:cs typeface="Manrope"/>
                <a:sym typeface="Manrope"/>
              </a:rPr>
              <a:t>FASE 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9"/>
          <p:cNvSpPr/>
          <p:nvPr/>
        </p:nvSpPr>
        <p:spPr>
          <a:xfrm>
            <a:off x="6838950" y="5021380"/>
            <a:ext cx="5113020" cy="431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250"/>
              <a:buFont typeface="Manrope"/>
              <a:buNone/>
            </a:pPr>
            <a:r>
              <a:rPr b="1" i="0" lang="en-US" sz="225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Desarrollo y pruebas de campo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9"/>
          <p:cNvSpPr/>
          <p:nvPr/>
        </p:nvSpPr>
        <p:spPr>
          <a:xfrm>
            <a:off x="12039600" y="4367329"/>
            <a:ext cx="5295900" cy="1295400"/>
          </a:xfrm>
          <a:prstGeom prst="rect">
            <a:avLst/>
          </a:prstGeom>
          <a:solidFill>
            <a:srgbClr val="FFFFFF">
              <a:alpha val="6902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9"/>
          <p:cNvSpPr/>
          <p:nvPr/>
        </p:nvSpPr>
        <p:spPr>
          <a:xfrm>
            <a:off x="12039600" y="4367329"/>
            <a:ext cx="38100" cy="1295400"/>
          </a:xfrm>
          <a:prstGeom prst="rect">
            <a:avLst/>
          </a:prstGeom>
          <a:solidFill>
            <a:srgbClr val="0F3460">
              <a:alpha val="9490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9"/>
          <p:cNvSpPr/>
          <p:nvPr/>
        </p:nvSpPr>
        <p:spPr>
          <a:xfrm>
            <a:off x="12382500" y="4614979"/>
            <a:ext cx="1106785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7F96"/>
              </a:buClr>
              <a:buSzPts val="1800"/>
              <a:buFont typeface="Manrope"/>
              <a:buNone/>
            </a:pPr>
            <a:r>
              <a:rPr b="1" i="0" lang="en-US" sz="1800" u="none" cap="none" strike="noStrike">
                <a:solidFill>
                  <a:srgbClr val="B07F96"/>
                </a:solidFill>
                <a:latin typeface="Manrope"/>
                <a:ea typeface="Manrope"/>
                <a:cs typeface="Manrope"/>
                <a:sym typeface="Manrope"/>
              </a:rPr>
              <a:t>FASE 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9"/>
          <p:cNvSpPr/>
          <p:nvPr/>
        </p:nvSpPr>
        <p:spPr>
          <a:xfrm>
            <a:off x="12382500" y="5021380"/>
            <a:ext cx="5113020" cy="431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250"/>
              <a:buFont typeface="Manrope"/>
              <a:buNone/>
            </a:pPr>
            <a:r>
              <a:rPr b="1" i="0" lang="en-US" sz="225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Cierre y defensa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9"/>
          <p:cNvSpPr/>
          <p:nvPr/>
        </p:nvSpPr>
        <p:spPr>
          <a:xfrm>
            <a:off x="1238250" y="6460728"/>
            <a:ext cx="14238196" cy="19050"/>
          </a:xfrm>
          <a:prstGeom prst="rect">
            <a:avLst/>
          </a:prstGeom>
          <a:solidFill>
            <a:srgbClr val="D9A9C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9"/>
          <p:cNvSpPr/>
          <p:nvPr/>
        </p:nvSpPr>
        <p:spPr>
          <a:xfrm>
            <a:off x="952500" y="6196129"/>
            <a:ext cx="571500" cy="571500"/>
          </a:xfrm>
          <a:prstGeom prst="ellipse">
            <a:avLst/>
          </a:prstGeom>
          <a:solidFill>
            <a:srgbClr val="0F3460">
              <a:alpha val="9490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9"/>
          <p:cNvSpPr/>
          <p:nvPr/>
        </p:nvSpPr>
        <p:spPr>
          <a:xfrm>
            <a:off x="914400" y="6196129"/>
            <a:ext cx="6477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E5F0"/>
              </a:buClr>
              <a:buSzPts val="1950"/>
              <a:buFont typeface="Manrope"/>
              <a:buNone/>
            </a:pPr>
            <a:r>
              <a:rPr b="1" i="0" lang="en-US" sz="1950" u="none" cap="none" strike="noStrike">
                <a:solidFill>
                  <a:srgbClr val="FFE5F0"/>
                </a:solidFill>
                <a:latin typeface="Manrope"/>
                <a:ea typeface="Manrope"/>
                <a:cs typeface="Manrope"/>
                <a:sym typeface="Manrope"/>
              </a:rPr>
              <a:t>1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9"/>
          <p:cNvSpPr/>
          <p:nvPr/>
        </p:nvSpPr>
        <p:spPr>
          <a:xfrm>
            <a:off x="952500" y="6920029"/>
            <a:ext cx="2568575" cy="70088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8475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175"/>
              <a:buFont typeface="Manrope"/>
              <a:buNone/>
            </a:pPr>
            <a:r>
              <a:rPr b="1" i="0" lang="en-US" sz="2175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Planificación y requerimientos</a:t>
            </a:r>
            <a:endParaRPr b="0" i="0" sz="21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9"/>
          <p:cNvSpPr/>
          <p:nvPr/>
        </p:nvSpPr>
        <p:spPr>
          <a:xfrm>
            <a:off x="952500" y="7735210"/>
            <a:ext cx="2568575" cy="67806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2857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Alcance acordado con el colegio.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9"/>
          <p:cNvSpPr/>
          <p:nvPr/>
        </p:nvSpPr>
        <p:spPr>
          <a:xfrm>
            <a:off x="952500" y="8527571"/>
            <a:ext cx="2741613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7F96"/>
              </a:buClr>
              <a:buSzPts val="1800"/>
              <a:buFont typeface="Manrope"/>
              <a:buNone/>
            </a:pPr>
            <a:r>
              <a:rPr b="1" i="0" lang="en-US" sz="1800" u="none" cap="none" strike="noStrike">
                <a:solidFill>
                  <a:srgbClr val="B07F96"/>
                </a:solidFill>
                <a:latin typeface="Manrope"/>
                <a:ea typeface="Manrope"/>
                <a:cs typeface="Manrope"/>
                <a:sym typeface="Manrope"/>
              </a:rPr>
              <a:t>TODO EL EQUIPO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9"/>
          <p:cNvSpPr/>
          <p:nvPr/>
        </p:nvSpPr>
        <p:spPr>
          <a:xfrm>
            <a:off x="3730625" y="6196129"/>
            <a:ext cx="571500" cy="571500"/>
          </a:xfrm>
          <a:prstGeom prst="ellipse">
            <a:avLst/>
          </a:prstGeom>
          <a:solidFill>
            <a:srgbClr val="0F3460">
              <a:alpha val="9490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9"/>
          <p:cNvSpPr/>
          <p:nvPr/>
        </p:nvSpPr>
        <p:spPr>
          <a:xfrm>
            <a:off x="3692525" y="6196129"/>
            <a:ext cx="6477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E5F0"/>
              </a:buClr>
              <a:buSzPts val="1950"/>
              <a:buFont typeface="Manrope"/>
              <a:buNone/>
            </a:pPr>
            <a:r>
              <a:rPr b="1" i="0" lang="en-US" sz="1950" u="none" cap="none" strike="noStrike">
                <a:solidFill>
                  <a:srgbClr val="FFE5F0"/>
                </a:solidFill>
                <a:latin typeface="Manrope"/>
                <a:ea typeface="Manrope"/>
                <a:cs typeface="Manrope"/>
                <a:sym typeface="Manrope"/>
              </a:rPr>
              <a:t>2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9"/>
          <p:cNvSpPr/>
          <p:nvPr/>
        </p:nvSpPr>
        <p:spPr>
          <a:xfrm>
            <a:off x="3730625" y="6920029"/>
            <a:ext cx="2568575" cy="70088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8475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175"/>
              <a:buFont typeface="Manrope"/>
              <a:buNone/>
            </a:pPr>
            <a:r>
              <a:rPr b="1" i="0" lang="en-US" sz="2175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Diseño del entorno VR</a:t>
            </a:r>
            <a:endParaRPr b="0" i="0" sz="21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9"/>
          <p:cNvSpPr/>
          <p:nvPr/>
        </p:nvSpPr>
        <p:spPr>
          <a:xfrm>
            <a:off x="3730625" y="7735210"/>
            <a:ext cx="2568575" cy="67806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2857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Escenarios y assets del recorrido. </a:t>
            </a:r>
            <a:r>
              <a:rPr b="1" i="0" lang="en-US" sz="180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O1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9"/>
          <p:cNvSpPr/>
          <p:nvPr/>
        </p:nvSpPr>
        <p:spPr>
          <a:xfrm>
            <a:off x="3730625" y="8527571"/>
            <a:ext cx="2741613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7F96"/>
              </a:buClr>
              <a:buSzPts val="1800"/>
              <a:buFont typeface="Manrope"/>
              <a:buNone/>
            </a:pPr>
            <a:r>
              <a:rPr b="1" i="0" lang="en-US" sz="1800" u="none" cap="none" strike="noStrike">
                <a:solidFill>
                  <a:srgbClr val="B07F96"/>
                </a:solidFill>
                <a:latin typeface="Manrope"/>
                <a:ea typeface="Manrope"/>
                <a:cs typeface="Manrope"/>
                <a:sym typeface="Manrope"/>
              </a:rPr>
              <a:t>CONSTANZA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9"/>
          <p:cNvSpPr/>
          <p:nvPr/>
        </p:nvSpPr>
        <p:spPr>
          <a:xfrm>
            <a:off x="6508750" y="6196129"/>
            <a:ext cx="571500" cy="571500"/>
          </a:xfrm>
          <a:prstGeom prst="ellipse">
            <a:avLst/>
          </a:prstGeom>
          <a:solidFill>
            <a:srgbClr val="0F3460">
              <a:alpha val="9490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9"/>
          <p:cNvSpPr/>
          <p:nvPr/>
        </p:nvSpPr>
        <p:spPr>
          <a:xfrm>
            <a:off x="6470650" y="6196129"/>
            <a:ext cx="6477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E5F0"/>
              </a:buClr>
              <a:buSzPts val="1950"/>
              <a:buFont typeface="Manrope"/>
              <a:buNone/>
            </a:pPr>
            <a:r>
              <a:rPr b="1" i="0" lang="en-US" sz="1950" u="none" cap="none" strike="noStrike">
                <a:solidFill>
                  <a:srgbClr val="FFE5F0"/>
                </a:solidFill>
                <a:latin typeface="Manrope"/>
                <a:ea typeface="Manrope"/>
                <a:cs typeface="Manrope"/>
                <a:sym typeface="Manrope"/>
              </a:rPr>
              <a:t>3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9"/>
          <p:cNvSpPr/>
          <p:nvPr/>
        </p:nvSpPr>
        <p:spPr>
          <a:xfrm>
            <a:off x="6508750" y="6920029"/>
            <a:ext cx="2568575" cy="70088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8475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175"/>
              <a:buFont typeface="Manrope"/>
              <a:buNone/>
            </a:pPr>
            <a:r>
              <a:rPr b="1" i="0" lang="en-US" sz="2175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Arquitectura de datos</a:t>
            </a:r>
            <a:endParaRPr b="0" i="0" sz="21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9"/>
          <p:cNvSpPr/>
          <p:nvPr/>
        </p:nvSpPr>
        <p:spPr>
          <a:xfrm>
            <a:off x="6508750" y="7735210"/>
            <a:ext cx="2568575" cy="67806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2857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Captura y modelo anonimizado. </a:t>
            </a:r>
            <a:r>
              <a:rPr b="1" i="0" lang="en-US" sz="180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O2 · O4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9"/>
          <p:cNvSpPr/>
          <p:nvPr/>
        </p:nvSpPr>
        <p:spPr>
          <a:xfrm>
            <a:off x="6508750" y="8527571"/>
            <a:ext cx="2741613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B07F96"/>
              </a:buClr>
              <a:buSzPts val="1800"/>
              <a:buFont typeface="Manrope"/>
              <a:buNone/>
            </a:pPr>
            <a:r>
              <a:rPr b="1" lang="en-US" sz="1800">
                <a:solidFill>
                  <a:srgbClr val="B07F96"/>
                </a:solidFill>
                <a:latin typeface="Manrope"/>
                <a:ea typeface="Manrope"/>
                <a:cs typeface="Manrope"/>
                <a:sym typeface="Manrope"/>
              </a:rPr>
              <a:t>TODO EL EQUIPO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7F96"/>
              </a:buClr>
              <a:buSzPts val="1800"/>
              <a:buFont typeface="Manrope"/>
              <a:buNone/>
            </a:pPr>
            <a:r>
              <a:t/>
            </a:r>
            <a:endParaRPr b="1" sz="1800">
              <a:solidFill>
                <a:srgbClr val="B07F96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10" name="Google Shape;210;p9"/>
          <p:cNvSpPr/>
          <p:nvPr/>
        </p:nvSpPr>
        <p:spPr>
          <a:xfrm>
            <a:off x="9286875" y="6196129"/>
            <a:ext cx="571500" cy="571500"/>
          </a:xfrm>
          <a:prstGeom prst="ellipse">
            <a:avLst/>
          </a:prstGeom>
          <a:solidFill>
            <a:srgbClr val="0F3460">
              <a:alpha val="9490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9"/>
          <p:cNvSpPr/>
          <p:nvPr/>
        </p:nvSpPr>
        <p:spPr>
          <a:xfrm>
            <a:off x="9248775" y="6196129"/>
            <a:ext cx="6477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E5F0"/>
              </a:buClr>
              <a:buSzPts val="1950"/>
              <a:buFont typeface="Manrope"/>
              <a:buNone/>
            </a:pPr>
            <a:r>
              <a:rPr b="1" i="0" lang="en-US" sz="1950" u="none" cap="none" strike="noStrike">
                <a:solidFill>
                  <a:srgbClr val="FFE5F0"/>
                </a:solidFill>
                <a:latin typeface="Manrope"/>
                <a:ea typeface="Manrope"/>
                <a:cs typeface="Manrope"/>
                <a:sym typeface="Manrope"/>
              </a:rPr>
              <a:t>4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9"/>
          <p:cNvSpPr/>
          <p:nvPr/>
        </p:nvSpPr>
        <p:spPr>
          <a:xfrm>
            <a:off x="9286875" y="6920029"/>
            <a:ext cx="2741613" cy="36949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8475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175"/>
              <a:buFont typeface="Manrope"/>
              <a:buNone/>
            </a:pPr>
            <a:r>
              <a:rPr b="1" i="0" lang="en-US" sz="2175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Pruebas de campo</a:t>
            </a:r>
            <a:endParaRPr b="0" i="0" sz="21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9"/>
          <p:cNvSpPr/>
          <p:nvPr/>
        </p:nvSpPr>
        <p:spPr>
          <a:xfrm>
            <a:off x="9286875" y="7403820"/>
            <a:ext cx="2568575" cy="67806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2857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Sesiones en el colegio y builds. </a:t>
            </a:r>
            <a:r>
              <a:rPr b="1" i="0" lang="en-US" sz="180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O3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9"/>
          <p:cNvSpPr/>
          <p:nvPr/>
        </p:nvSpPr>
        <p:spPr>
          <a:xfrm>
            <a:off x="9286875" y="8196181"/>
            <a:ext cx="2741613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7F96"/>
              </a:buClr>
              <a:buSzPts val="1800"/>
              <a:buFont typeface="Manrope"/>
              <a:buNone/>
            </a:pPr>
            <a:r>
              <a:rPr b="1" i="0" lang="en-US" sz="1800" u="none" cap="none" strike="noStrike">
                <a:solidFill>
                  <a:srgbClr val="B07F96"/>
                </a:solidFill>
                <a:latin typeface="Manrope"/>
                <a:ea typeface="Manrope"/>
                <a:cs typeface="Manrope"/>
                <a:sym typeface="Manrope"/>
              </a:rPr>
              <a:t>KATHLEEN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9"/>
          <p:cNvSpPr/>
          <p:nvPr/>
        </p:nvSpPr>
        <p:spPr>
          <a:xfrm>
            <a:off x="12065001" y="6196129"/>
            <a:ext cx="571500" cy="571500"/>
          </a:xfrm>
          <a:prstGeom prst="ellipse">
            <a:avLst/>
          </a:prstGeom>
          <a:solidFill>
            <a:srgbClr val="0F3460">
              <a:alpha val="9490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9"/>
          <p:cNvSpPr/>
          <p:nvPr/>
        </p:nvSpPr>
        <p:spPr>
          <a:xfrm>
            <a:off x="12026901" y="6196129"/>
            <a:ext cx="6477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E5F0"/>
              </a:buClr>
              <a:buSzPts val="1950"/>
              <a:buFont typeface="Manrope"/>
              <a:buNone/>
            </a:pPr>
            <a:r>
              <a:rPr b="1" i="0" lang="en-US" sz="1950" u="none" cap="none" strike="noStrike">
                <a:solidFill>
                  <a:srgbClr val="FFE5F0"/>
                </a:solidFill>
                <a:latin typeface="Manrope"/>
                <a:ea typeface="Manrope"/>
                <a:cs typeface="Manrope"/>
                <a:sym typeface="Manrope"/>
              </a:rPr>
              <a:t>5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9"/>
          <p:cNvSpPr/>
          <p:nvPr/>
        </p:nvSpPr>
        <p:spPr>
          <a:xfrm>
            <a:off x="12065001" y="6920029"/>
            <a:ext cx="2568575" cy="70088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8475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175"/>
              <a:buFont typeface="Manrope"/>
              <a:buNone/>
            </a:pPr>
            <a:r>
              <a:rPr b="1" i="0" lang="en-US" sz="2175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Transmisión a AWS</a:t>
            </a:r>
            <a:endParaRPr b="0" i="0" sz="21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9"/>
          <p:cNvSpPr/>
          <p:nvPr/>
        </p:nvSpPr>
        <p:spPr>
          <a:xfrm>
            <a:off x="12065001" y="7735210"/>
            <a:ext cx="2568575" cy="67806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2857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Datos al equipo del dashboard. </a:t>
            </a:r>
            <a:r>
              <a:rPr b="1" i="0" lang="en-US" sz="180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O2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9"/>
          <p:cNvSpPr/>
          <p:nvPr/>
        </p:nvSpPr>
        <p:spPr>
          <a:xfrm>
            <a:off x="12065001" y="8527571"/>
            <a:ext cx="2741613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7F96"/>
              </a:buClr>
              <a:buSzPts val="1800"/>
              <a:buFont typeface="Manrope"/>
              <a:buNone/>
            </a:pPr>
            <a:r>
              <a:rPr b="1" i="0" lang="en-US" sz="1800" u="none" cap="none" strike="noStrike">
                <a:solidFill>
                  <a:srgbClr val="B07F96"/>
                </a:solidFill>
                <a:latin typeface="Manrope"/>
                <a:ea typeface="Manrope"/>
                <a:cs typeface="Manrope"/>
                <a:sym typeface="Manrope"/>
              </a:rPr>
              <a:t>KATALINA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9"/>
          <p:cNvSpPr/>
          <p:nvPr/>
        </p:nvSpPr>
        <p:spPr>
          <a:xfrm>
            <a:off x="14843125" y="6196129"/>
            <a:ext cx="571500" cy="571500"/>
          </a:xfrm>
          <a:prstGeom prst="ellipse">
            <a:avLst/>
          </a:prstGeom>
          <a:solidFill>
            <a:srgbClr val="C594AA">
              <a:alpha val="9490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9"/>
          <p:cNvSpPr/>
          <p:nvPr/>
        </p:nvSpPr>
        <p:spPr>
          <a:xfrm>
            <a:off x="14805025" y="6196129"/>
            <a:ext cx="6477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Manrope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Manrope"/>
                <a:ea typeface="Manrope"/>
                <a:cs typeface="Manrope"/>
                <a:sym typeface="Manrope"/>
              </a:rPr>
              <a:t>6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9"/>
          <p:cNvSpPr/>
          <p:nvPr/>
        </p:nvSpPr>
        <p:spPr>
          <a:xfrm>
            <a:off x="14843125" y="6920029"/>
            <a:ext cx="2741613" cy="36949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8475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175"/>
              <a:buFont typeface="Manrope"/>
              <a:buNone/>
            </a:pPr>
            <a:r>
              <a:rPr b="1" i="0" lang="en-US" sz="2175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Cierre y defensa</a:t>
            </a:r>
            <a:endParaRPr b="0" i="0" sz="21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9"/>
          <p:cNvSpPr/>
          <p:nvPr/>
        </p:nvSpPr>
        <p:spPr>
          <a:xfrm>
            <a:off x="14843125" y="7403820"/>
            <a:ext cx="2568575" cy="67806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2857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Resultados y documentación final.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9"/>
          <p:cNvSpPr/>
          <p:nvPr/>
        </p:nvSpPr>
        <p:spPr>
          <a:xfrm>
            <a:off x="14843125" y="8196181"/>
            <a:ext cx="2741613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7F96"/>
              </a:buClr>
              <a:buSzPts val="1800"/>
              <a:buFont typeface="Manrope"/>
              <a:buNone/>
            </a:pPr>
            <a:r>
              <a:rPr b="1" i="0" lang="en-US" sz="1800" u="none" cap="none" strike="noStrike">
                <a:solidFill>
                  <a:srgbClr val="B07F96"/>
                </a:solidFill>
                <a:latin typeface="Manrope"/>
                <a:ea typeface="Manrope"/>
                <a:cs typeface="Manrope"/>
                <a:sym typeface="Manrope"/>
              </a:rPr>
              <a:t>TODO EL EQUIPO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9"/>
          <p:cNvSpPr/>
          <p:nvPr/>
        </p:nvSpPr>
        <p:spPr>
          <a:xfrm>
            <a:off x="952500" y="9251950"/>
            <a:ext cx="2992527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B92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9A8B92"/>
                </a:solidFill>
                <a:latin typeface="Manrope"/>
                <a:ea typeface="Manrope"/>
                <a:cs typeface="Manrope"/>
                <a:sym typeface="Manrope"/>
              </a:rPr>
              <a:t>EmotionLab · Capstone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9"/>
          <p:cNvSpPr/>
          <p:nvPr/>
        </p:nvSpPr>
        <p:spPr>
          <a:xfrm>
            <a:off x="17053818" y="9251950"/>
            <a:ext cx="357882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B92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9A8B92"/>
                </a:solidFill>
                <a:latin typeface="Manrope"/>
                <a:ea typeface="Manrope"/>
                <a:cs typeface="Manrope"/>
                <a:sym typeface="Manrope"/>
              </a:rPr>
              <a:t>07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0"/>
          <p:cNvSpPr/>
          <p:nvPr/>
        </p:nvSpPr>
        <p:spPr>
          <a:xfrm>
            <a:off x="952500" y="1066800"/>
            <a:ext cx="114300" cy="114300"/>
          </a:xfrm>
          <a:prstGeom prst="ellipse">
            <a:avLst/>
          </a:prstGeom>
          <a:solidFill>
            <a:srgbClr val="C594AA">
              <a:alpha val="8196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10"/>
          <p:cNvSpPr/>
          <p:nvPr/>
        </p:nvSpPr>
        <p:spPr>
          <a:xfrm>
            <a:off x="1276350" y="952500"/>
            <a:ext cx="2801203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594AA"/>
              </a:buClr>
              <a:buSzPts val="1950"/>
              <a:buFont typeface="Manrope"/>
              <a:buNone/>
            </a:pPr>
            <a:r>
              <a:rPr b="1" i="0" lang="en-US" sz="1950" u="none" cap="none" strike="noStrike">
                <a:solidFill>
                  <a:srgbClr val="C594AA"/>
                </a:solidFill>
                <a:latin typeface="Manrope"/>
                <a:ea typeface="Manrope"/>
                <a:cs typeface="Manrope"/>
                <a:sym typeface="Manrope"/>
              </a:rPr>
              <a:t>FACTIBILIDAD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0"/>
          <p:cNvSpPr/>
          <p:nvPr/>
        </p:nvSpPr>
        <p:spPr>
          <a:xfrm>
            <a:off x="952500" y="1724688"/>
            <a:ext cx="13735050" cy="163056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385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5700"/>
              <a:buFont typeface="Source Serif 4"/>
              <a:buNone/>
            </a:pPr>
            <a:r>
              <a:rPr b="0" i="0" lang="en-US" sz="5700" u="none" cap="none" strike="noStrike">
                <a:solidFill>
                  <a:srgbClr val="0F3460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Viable en 13 semanas, con los recursos que ya tenemos</a:t>
            </a:r>
            <a:endParaRPr b="0" i="0" sz="5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0"/>
          <p:cNvSpPr/>
          <p:nvPr/>
        </p:nvSpPr>
        <p:spPr>
          <a:xfrm>
            <a:off x="952500" y="3992761"/>
            <a:ext cx="28575" cy="1140578"/>
          </a:xfrm>
          <a:prstGeom prst="rect">
            <a:avLst/>
          </a:prstGeom>
          <a:solidFill>
            <a:srgbClr val="E8A0B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10"/>
          <p:cNvSpPr/>
          <p:nvPr/>
        </p:nvSpPr>
        <p:spPr>
          <a:xfrm>
            <a:off x="1228725" y="4002950"/>
            <a:ext cx="5312093" cy="42664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8696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550"/>
              <a:buFont typeface="Manrope"/>
              <a:buNone/>
            </a:pPr>
            <a:r>
              <a:rPr b="1" i="0" lang="en-US" sz="255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Equipamiento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0"/>
          <p:cNvSpPr/>
          <p:nvPr/>
        </p:nvSpPr>
        <p:spPr>
          <a:xfrm>
            <a:off x="1228725" y="4524840"/>
            <a:ext cx="4974050" cy="8096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0455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2025"/>
              <a:buFont typeface="Manrope"/>
              <a:buNone/>
            </a:pPr>
            <a:r>
              <a:rPr b="0" i="0" lang="en-US" sz="2025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Visores VR y equipos de desarrollo disponibles.</a:t>
            </a:r>
            <a:endParaRPr b="0" i="0" sz="20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0"/>
          <p:cNvSpPr/>
          <p:nvPr/>
        </p:nvSpPr>
        <p:spPr>
          <a:xfrm>
            <a:off x="6591300" y="3992761"/>
            <a:ext cx="28575" cy="1140578"/>
          </a:xfrm>
          <a:prstGeom prst="rect">
            <a:avLst/>
          </a:prstGeom>
          <a:solidFill>
            <a:srgbClr val="E8A0B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10"/>
          <p:cNvSpPr/>
          <p:nvPr/>
        </p:nvSpPr>
        <p:spPr>
          <a:xfrm>
            <a:off x="6867525" y="4002950"/>
            <a:ext cx="5312093" cy="42664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8696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550"/>
              <a:buFont typeface="Manrope"/>
              <a:buNone/>
            </a:pPr>
            <a:r>
              <a:rPr b="1" i="0" lang="en-US" sz="255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Apoyo institucional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0"/>
          <p:cNvSpPr/>
          <p:nvPr/>
        </p:nvSpPr>
        <p:spPr>
          <a:xfrm>
            <a:off x="6867525" y="4524840"/>
            <a:ext cx="4974050" cy="8096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0455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2025"/>
              <a:buFont typeface="Manrope"/>
              <a:buNone/>
            </a:pPr>
            <a:r>
              <a:rPr b="0" i="0" lang="en-US" sz="2025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Respaldo de Duoc UC y del colegio de Viña del Mar.</a:t>
            </a:r>
            <a:endParaRPr b="0" i="0" sz="20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0"/>
          <p:cNvSpPr/>
          <p:nvPr/>
        </p:nvSpPr>
        <p:spPr>
          <a:xfrm>
            <a:off x="12230100" y="3992761"/>
            <a:ext cx="28575" cy="1140578"/>
          </a:xfrm>
          <a:prstGeom prst="rect">
            <a:avLst/>
          </a:prstGeom>
          <a:solidFill>
            <a:srgbClr val="E8A0B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10"/>
          <p:cNvSpPr/>
          <p:nvPr/>
        </p:nvSpPr>
        <p:spPr>
          <a:xfrm>
            <a:off x="12506325" y="4002950"/>
            <a:ext cx="5312093" cy="42664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8696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550"/>
              <a:buFont typeface="Manrope"/>
              <a:buNone/>
            </a:pPr>
            <a:r>
              <a:rPr b="1" i="0" lang="en-US" sz="255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Equipo y alcance acotado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0"/>
          <p:cNvSpPr/>
          <p:nvPr/>
        </p:nvSpPr>
        <p:spPr>
          <a:xfrm>
            <a:off x="12506325" y="4524840"/>
            <a:ext cx="4974050" cy="8096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0455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2025"/>
              <a:buFont typeface="Manrope"/>
              <a:buNone/>
            </a:pPr>
            <a:r>
              <a:rPr b="0" i="0" lang="en-US" sz="2025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Tres roles complementarios y 20 estudiantes durante un mes.</a:t>
            </a:r>
            <a:endParaRPr b="0" i="0" sz="20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0"/>
          <p:cNvSpPr/>
          <p:nvPr/>
        </p:nvSpPr>
        <p:spPr>
          <a:xfrm>
            <a:off x="952500" y="6096465"/>
            <a:ext cx="7962900" cy="3108325"/>
          </a:xfrm>
          <a:prstGeom prst="rect">
            <a:avLst/>
          </a:prstGeom>
          <a:solidFill>
            <a:srgbClr val="FEDDE9">
              <a:alpha val="9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10"/>
          <p:cNvSpPr/>
          <p:nvPr/>
        </p:nvSpPr>
        <p:spPr>
          <a:xfrm>
            <a:off x="952500" y="6096465"/>
            <a:ext cx="7962900" cy="25400"/>
          </a:xfrm>
          <a:prstGeom prst="rect">
            <a:avLst/>
          </a:prstGeom>
          <a:solidFill>
            <a:srgbClr val="B07F96">
              <a:alpha val="9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10"/>
          <p:cNvSpPr/>
          <p:nvPr/>
        </p:nvSpPr>
        <p:spPr>
          <a:xfrm>
            <a:off x="1409700" y="6540965"/>
            <a:ext cx="7753350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7F96"/>
              </a:buClr>
              <a:buSzPts val="1800"/>
              <a:buFont typeface="Manrope"/>
              <a:buNone/>
            </a:pPr>
            <a:r>
              <a:rPr b="1" i="0" lang="en-US" sz="1800" u="none" cap="none" strike="noStrike">
                <a:solidFill>
                  <a:srgbClr val="B07F96"/>
                </a:solidFill>
                <a:latin typeface="Manrope"/>
                <a:ea typeface="Manrope"/>
                <a:cs typeface="Manrope"/>
                <a:sym typeface="Manrope"/>
              </a:rPr>
              <a:t>RIESGO PRINCIPAL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0"/>
          <p:cNvSpPr/>
          <p:nvPr/>
        </p:nvSpPr>
        <p:spPr>
          <a:xfrm>
            <a:off x="1409700" y="7004515"/>
            <a:ext cx="7753350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1216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700"/>
              <a:buFont typeface="Manrope"/>
              <a:buNone/>
            </a:pPr>
            <a:r>
              <a:rPr b="1" i="0" lang="en-US" sz="270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Protección de datos de menores de edad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0"/>
          <p:cNvSpPr/>
          <p:nvPr/>
        </p:nvSpPr>
        <p:spPr>
          <a:xfrm>
            <a:off x="1409700" y="7585540"/>
            <a:ext cx="7259955" cy="8096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0455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2025"/>
              <a:buFont typeface="Manrope"/>
              <a:buNone/>
            </a:pPr>
            <a:r>
              <a:rPr b="0" i="0" lang="en-US" sz="2025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Trabajamos con estudiantes de Enseñanza Media: su información exige resguardo estricto.</a:t>
            </a:r>
            <a:endParaRPr b="0" i="0" sz="20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0"/>
          <p:cNvSpPr/>
          <p:nvPr/>
        </p:nvSpPr>
        <p:spPr>
          <a:xfrm>
            <a:off x="9372600" y="6096465"/>
            <a:ext cx="7962900" cy="3108325"/>
          </a:xfrm>
          <a:prstGeom prst="rect">
            <a:avLst/>
          </a:prstGeom>
          <a:solidFill>
            <a:srgbClr val="0F3460">
              <a:alpha val="9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10"/>
          <p:cNvSpPr/>
          <p:nvPr/>
        </p:nvSpPr>
        <p:spPr>
          <a:xfrm>
            <a:off x="9372600" y="6096465"/>
            <a:ext cx="7962900" cy="25400"/>
          </a:xfrm>
          <a:prstGeom prst="rect">
            <a:avLst/>
          </a:prstGeom>
          <a:solidFill>
            <a:srgbClr val="E8A0B8">
              <a:alpha val="9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10"/>
          <p:cNvSpPr/>
          <p:nvPr/>
        </p:nvSpPr>
        <p:spPr>
          <a:xfrm>
            <a:off x="9829800" y="6540965"/>
            <a:ext cx="7753350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A0B8"/>
              </a:buClr>
              <a:buSzPts val="1800"/>
              <a:buFont typeface="Manrope"/>
              <a:buNone/>
            </a:pPr>
            <a:r>
              <a:rPr b="1" i="0" lang="en-US" sz="1800" u="none" cap="none" strike="noStrike">
                <a:solidFill>
                  <a:srgbClr val="E8A0B8"/>
                </a:solidFill>
                <a:latin typeface="Manrope"/>
                <a:ea typeface="Manrope"/>
                <a:cs typeface="Manrope"/>
                <a:sym typeface="Manrope"/>
              </a:rPr>
              <a:t>MITIGACIÓN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0"/>
          <p:cNvSpPr/>
          <p:nvPr/>
        </p:nvSpPr>
        <p:spPr>
          <a:xfrm>
            <a:off x="9829800" y="7004515"/>
            <a:ext cx="7259955" cy="8953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1216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Manrope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Manrope"/>
                <a:ea typeface="Manrope"/>
                <a:cs typeface="Manrope"/>
                <a:sym typeface="Manrope"/>
              </a:rPr>
              <a:t>Anonimización, cifrado y consentimientos informados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0"/>
          <p:cNvSpPr/>
          <p:nvPr/>
        </p:nvSpPr>
        <p:spPr>
          <a:xfrm>
            <a:off x="9829800" y="8014165"/>
            <a:ext cx="7259955" cy="8096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0455"/>
              </a:lnSpc>
              <a:spcBef>
                <a:spcPts val="0"/>
              </a:spcBef>
              <a:spcAft>
                <a:spcPts val="0"/>
              </a:spcAft>
              <a:buClr>
                <a:srgbClr val="E8BFD0"/>
              </a:buClr>
              <a:buSzPts val="2025"/>
              <a:buFont typeface="Manrope"/>
              <a:buNone/>
            </a:pPr>
            <a:r>
              <a:rPr b="0" i="0" lang="en-US" sz="2025" u="none" cap="none" strike="noStrike">
                <a:solidFill>
                  <a:srgbClr val="E8BFD0"/>
                </a:solidFill>
                <a:latin typeface="Manrope"/>
                <a:ea typeface="Manrope"/>
                <a:cs typeface="Manrope"/>
                <a:sym typeface="Manrope"/>
              </a:rPr>
              <a:t>Ningún dato identifica a un estudiante y cada apoderado autoriza la participación.</a:t>
            </a:r>
            <a:endParaRPr b="0" i="0" sz="20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0"/>
          <p:cNvSpPr/>
          <p:nvPr/>
        </p:nvSpPr>
        <p:spPr>
          <a:xfrm>
            <a:off x="952500" y="9213850"/>
            <a:ext cx="2992527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C8C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8C8C8C"/>
                </a:solidFill>
                <a:latin typeface="Manrope"/>
                <a:ea typeface="Manrope"/>
                <a:cs typeface="Manrope"/>
                <a:sym typeface="Manrope"/>
              </a:rPr>
              <a:t>EmotionLab · Capstone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0"/>
          <p:cNvSpPr/>
          <p:nvPr/>
        </p:nvSpPr>
        <p:spPr>
          <a:xfrm>
            <a:off x="17035860" y="9213850"/>
            <a:ext cx="375841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C8C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8C8C8C"/>
                </a:solidFill>
                <a:latin typeface="Manrope"/>
                <a:ea typeface="Manrope"/>
                <a:cs typeface="Manrope"/>
                <a:sym typeface="Manrope"/>
              </a:rPr>
              <a:t>08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D8E5"/>
        </a:soli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1"/>
          <p:cNvSpPr/>
          <p:nvPr/>
        </p:nvSpPr>
        <p:spPr>
          <a:xfrm>
            <a:off x="12922060" y="5302060"/>
            <a:ext cx="7874379" cy="7874379"/>
          </a:xfrm>
          <a:prstGeom prst="ellipse">
            <a:avLst/>
          </a:prstGeom>
          <a:gradFill>
            <a:gsLst>
              <a:gs pos="0">
                <a:srgbClr val="E82D7D">
                  <a:alpha val="18824"/>
                </a:srgbClr>
              </a:gs>
              <a:gs pos="70000">
                <a:srgbClr val="E82D7D">
                  <a:alpha val="0"/>
                </a:srgbClr>
              </a:gs>
              <a:gs pos="100000">
                <a:srgbClr val="E82D7D">
                  <a:alpha val="0"/>
                </a:srgbClr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11"/>
          <p:cNvSpPr/>
          <p:nvPr/>
        </p:nvSpPr>
        <p:spPr>
          <a:xfrm>
            <a:off x="952500" y="1066800"/>
            <a:ext cx="114300" cy="114300"/>
          </a:xfrm>
          <a:prstGeom prst="ellipse">
            <a:avLst/>
          </a:prstGeom>
          <a:solidFill>
            <a:srgbClr val="E8A0B8">
              <a:alpha val="8196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11"/>
          <p:cNvSpPr/>
          <p:nvPr/>
        </p:nvSpPr>
        <p:spPr>
          <a:xfrm>
            <a:off x="1276350" y="952500"/>
            <a:ext cx="5569119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7F96"/>
              </a:buClr>
              <a:buSzPts val="1950"/>
              <a:buFont typeface="Manrope"/>
              <a:buNone/>
            </a:pPr>
            <a:r>
              <a:rPr b="1" i="0" lang="en-US" sz="1950" u="none" cap="none" strike="noStrike">
                <a:solidFill>
                  <a:srgbClr val="B07F96"/>
                </a:solidFill>
                <a:latin typeface="Manrope"/>
                <a:ea typeface="Manrope"/>
                <a:cs typeface="Manrope"/>
                <a:sym typeface="Manrope"/>
              </a:rPr>
              <a:t>EVIDENCIAS DEL PROYECTO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1"/>
          <p:cNvSpPr/>
          <p:nvPr/>
        </p:nvSpPr>
        <p:spPr>
          <a:xfrm>
            <a:off x="952500" y="1724689"/>
            <a:ext cx="14878050" cy="83433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385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5700"/>
              <a:buFont typeface="Source Serif 4"/>
              <a:buNone/>
            </a:pPr>
            <a:r>
              <a:rPr b="0" i="0" lang="en-US" sz="5700" u="none" cap="none" strike="noStrike">
                <a:solidFill>
                  <a:srgbClr val="0F3460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Lo que ya podemos mostrar</a:t>
            </a:r>
            <a:endParaRPr b="0" i="0" sz="5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1"/>
          <p:cNvSpPr/>
          <p:nvPr/>
        </p:nvSpPr>
        <p:spPr>
          <a:xfrm>
            <a:off x="952500" y="2844769"/>
            <a:ext cx="15716250" cy="481012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8984"/>
              </a:lnSpc>
              <a:spcBef>
                <a:spcPts val="0"/>
              </a:spcBef>
              <a:spcAft>
                <a:spcPts val="0"/>
              </a:spcAft>
              <a:buClr>
                <a:srgbClr val="3D4D60"/>
              </a:buClr>
              <a:buSzPts val="2325"/>
              <a:buFont typeface="Manrope"/>
              <a:buNone/>
            </a:pPr>
            <a:r>
              <a:rPr lang="en-US" sz="2325">
                <a:solidFill>
                  <a:srgbClr val="3D4D60"/>
                </a:solidFill>
                <a:latin typeface="Manrope"/>
                <a:ea typeface="Manrope"/>
                <a:cs typeface="Manrope"/>
                <a:sym typeface="Manrope"/>
              </a:rPr>
              <a:t>Cuatro </a:t>
            </a:r>
            <a:r>
              <a:rPr b="0" i="0" lang="en-US" sz="2325" u="none" cap="none" strike="noStrike">
                <a:solidFill>
                  <a:srgbClr val="3D4D60"/>
                </a:solidFill>
                <a:latin typeface="Manrope"/>
                <a:ea typeface="Manrope"/>
                <a:cs typeface="Manrope"/>
                <a:sym typeface="Manrope"/>
              </a:rPr>
              <a:t>evidencias del cumplimiento de lo planificado.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11"/>
          <p:cNvSpPr/>
          <p:nvPr/>
        </p:nvSpPr>
        <p:spPr>
          <a:xfrm>
            <a:off x="952500" y="3859182"/>
            <a:ext cx="16383000" cy="1009650"/>
          </a:xfrm>
          <a:prstGeom prst="rect">
            <a:avLst/>
          </a:prstGeom>
          <a:solidFill>
            <a:srgbClr val="FFFFFF">
              <a:alpha val="6705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11"/>
          <p:cNvSpPr/>
          <p:nvPr/>
        </p:nvSpPr>
        <p:spPr>
          <a:xfrm>
            <a:off x="1333500" y="4144932"/>
            <a:ext cx="8382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594AA"/>
              </a:buClr>
              <a:buSzPts val="2550"/>
              <a:buFont typeface="Manrope"/>
              <a:buNone/>
            </a:pPr>
            <a:r>
              <a:rPr b="1" i="0" lang="en-US" sz="2550" u="none" cap="none" strike="noStrike">
                <a:solidFill>
                  <a:srgbClr val="C594AA"/>
                </a:solidFill>
                <a:latin typeface="Manrope"/>
                <a:ea typeface="Manrope"/>
                <a:cs typeface="Manrope"/>
                <a:sym typeface="Manrope"/>
              </a:rPr>
              <a:t>01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1"/>
          <p:cNvSpPr/>
          <p:nvPr/>
        </p:nvSpPr>
        <p:spPr>
          <a:xfrm>
            <a:off x="2476500" y="4148107"/>
            <a:ext cx="7212340" cy="4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475"/>
              <a:buFont typeface="Manrope"/>
              <a:buNone/>
            </a:pPr>
            <a:r>
              <a:rPr b="1" i="0" lang="en-US" sz="2475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Acta de Constitución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1"/>
          <p:cNvSpPr/>
          <p:nvPr/>
        </p:nvSpPr>
        <p:spPr>
          <a:xfrm>
            <a:off x="9414173" y="4177575"/>
            <a:ext cx="8294251" cy="410964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6773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2025"/>
              <a:buFont typeface="Manrope"/>
              <a:buNone/>
            </a:pPr>
            <a:r>
              <a:rPr b="0" i="0" lang="en-US" sz="2025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Formaliza alcance, plazos y compromiso del colegio.</a:t>
            </a:r>
            <a:endParaRPr b="0" i="0" sz="20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1"/>
          <p:cNvSpPr/>
          <p:nvPr/>
        </p:nvSpPr>
        <p:spPr>
          <a:xfrm>
            <a:off x="952500" y="5116482"/>
            <a:ext cx="16383000" cy="1009650"/>
          </a:xfrm>
          <a:prstGeom prst="rect">
            <a:avLst/>
          </a:prstGeom>
          <a:solidFill>
            <a:srgbClr val="FFFFFF">
              <a:alpha val="6705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p11"/>
          <p:cNvSpPr/>
          <p:nvPr/>
        </p:nvSpPr>
        <p:spPr>
          <a:xfrm>
            <a:off x="1333500" y="5402232"/>
            <a:ext cx="8382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594AA"/>
              </a:buClr>
              <a:buSzPts val="2550"/>
              <a:buFont typeface="Manrope"/>
              <a:buNone/>
            </a:pPr>
            <a:r>
              <a:rPr b="1" i="0" lang="en-US" sz="2550" u="none" cap="none" strike="noStrike">
                <a:solidFill>
                  <a:srgbClr val="C594AA"/>
                </a:solidFill>
                <a:latin typeface="Manrope"/>
                <a:ea typeface="Manrope"/>
                <a:cs typeface="Manrope"/>
                <a:sym typeface="Manrope"/>
              </a:rPr>
              <a:t>02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1"/>
          <p:cNvSpPr/>
          <p:nvPr/>
        </p:nvSpPr>
        <p:spPr>
          <a:xfrm>
            <a:off x="2476500" y="5405407"/>
            <a:ext cx="7212340" cy="4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475"/>
              <a:buFont typeface="Manrope"/>
              <a:buNone/>
            </a:pPr>
            <a:r>
              <a:rPr b="1" i="0" lang="en-US" sz="2475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Especificación de Requerimientos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1"/>
          <p:cNvSpPr/>
          <p:nvPr/>
        </p:nvSpPr>
        <p:spPr>
          <a:xfrm>
            <a:off x="9414173" y="5434875"/>
            <a:ext cx="8294251" cy="410964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6773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2025"/>
              <a:buFont typeface="Manrope"/>
              <a:buNone/>
            </a:pPr>
            <a:r>
              <a:rPr b="0" i="0" lang="en-US" sz="2025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Define qué debe hacer la experiencia y cómo se valida.</a:t>
            </a:r>
            <a:endParaRPr b="0" i="0" sz="20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1"/>
          <p:cNvSpPr/>
          <p:nvPr/>
        </p:nvSpPr>
        <p:spPr>
          <a:xfrm>
            <a:off x="952500" y="6373782"/>
            <a:ext cx="16383000" cy="1009650"/>
          </a:xfrm>
          <a:prstGeom prst="rect">
            <a:avLst/>
          </a:prstGeom>
          <a:solidFill>
            <a:srgbClr val="FFFFFF">
              <a:alpha val="6705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11"/>
          <p:cNvSpPr/>
          <p:nvPr/>
        </p:nvSpPr>
        <p:spPr>
          <a:xfrm>
            <a:off x="1333500" y="6659532"/>
            <a:ext cx="8382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594AA"/>
              </a:buClr>
              <a:buSzPts val="2550"/>
              <a:buFont typeface="Manrope"/>
              <a:buNone/>
            </a:pPr>
            <a:r>
              <a:rPr b="1" i="0" lang="en-US" sz="2550" u="none" cap="none" strike="noStrike">
                <a:solidFill>
                  <a:srgbClr val="C594AA"/>
                </a:solidFill>
                <a:latin typeface="Manrope"/>
                <a:ea typeface="Manrope"/>
                <a:cs typeface="Manrope"/>
                <a:sym typeface="Manrope"/>
              </a:rPr>
              <a:t>03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1"/>
          <p:cNvSpPr/>
          <p:nvPr/>
        </p:nvSpPr>
        <p:spPr>
          <a:xfrm>
            <a:off x="2476500" y="6662707"/>
            <a:ext cx="7212340" cy="4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475"/>
              <a:buFont typeface="Manrope"/>
              <a:buNone/>
            </a:pPr>
            <a:r>
              <a:rPr b="1" lang="en-US" sz="2475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Diseño conceptual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1"/>
          <p:cNvSpPr/>
          <p:nvPr/>
        </p:nvSpPr>
        <p:spPr>
          <a:xfrm>
            <a:off x="9414173" y="6692175"/>
            <a:ext cx="8294251" cy="410964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6773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2025"/>
              <a:buFont typeface="Manrope"/>
              <a:buNone/>
            </a:pPr>
            <a:r>
              <a:rPr lang="en-US" sz="2025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Prototipo que representa el recorrido esperado</a:t>
            </a:r>
            <a:endParaRPr b="0" i="0" sz="20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1"/>
          <p:cNvSpPr/>
          <p:nvPr/>
        </p:nvSpPr>
        <p:spPr>
          <a:xfrm>
            <a:off x="952500" y="7631082"/>
            <a:ext cx="16383000" cy="1009650"/>
          </a:xfrm>
          <a:prstGeom prst="rect">
            <a:avLst/>
          </a:prstGeom>
          <a:solidFill>
            <a:srgbClr val="FFFFFF">
              <a:alpha val="6705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11"/>
          <p:cNvSpPr/>
          <p:nvPr/>
        </p:nvSpPr>
        <p:spPr>
          <a:xfrm>
            <a:off x="1333500" y="7916832"/>
            <a:ext cx="8382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594AA"/>
              </a:buClr>
              <a:buSzPts val="2550"/>
              <a:buFont typeface="Manrope"/>
              <a:buNone/>
            </a:pPr>
            <a:r>
              <a:rPr b="1" i="0" lang="en-US" sz="2550" u="none" cap="none" strike="noStrike">
                <a:solidFill>
                  <a:srgbClr val="C594AA"/>
                </a:solidFill>
                <a:latin typeface="Manrope"/>
                <a:ea typeface="Manrope"/>
                <a:cs typeface="Manrope"/>
                <a:sym typeface="Manrope"/>
              </a:rPr>
              <a:t>04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1"/>
          <p:cNvSpPr/>
          <p:nvPr/>
        </p:nvSpPr>
        <p:spPr>
          <a:xfrm>
            <a:off x="2476500" y="7920007"/>
            <a:ext cx="7212340" cy="4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475"/>
              <a:buFont typeface="Manrope"/>
              <a:buNone/>
            </a:pPr>
            <a:r>
              <a:rPr b="1" i="0" lang="en-US" sz="2475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Tablero Kanban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1"/>
          <p:cNvSpPr/>
          <p:nvPr/>
        </p:nvSpPr>
        <p:spPr>
          <a:xfrm>
            <a:off x="9414173" y="7949475"/>
            <a:ext cx="8294251" cy="410964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6773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2025"/>
              <a:buFont typeface="Manrope"/>
              <a:buNone/>
            </a:pPr>
            <a:r>
              <a:rPr b="0" i="0" lang="en-US" sz="2025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Muestra el avance por fase y el reparto del trabajo.</a:t>
            </a:r>
            <a:endParaRPr b="0" i="0" sz="20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1"/>
          <p:cNvSpPr/>
          <p:nvPr/>
        </p:nvSpPr>
        <p:spPr>
          <a:xfrm>
            <a:off x="952500" y="9887843"/>
            <a:ext cx="2992527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B92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9A8B92"/>
                </a:solidFill>
                <a:latin typeface="Manrope"/>
                <a:ea typeface="Manrope"/>
                <a:cs typeface="Manrope"/>
                <a:sym typeface="Manrope"/>
              </a:rPr>
              <a:t>EmotionLab · Capstone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1"/>
          <p:cNvSpPr/>
          <p:nvPr/>
        </p:nvSpPr>
        <p:spPr>
          <a:xfrm>
            <a:off x="17026732" y="9887843"/>
            <a:ext cx="384969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B92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9A8B92"/>
                </a:solidFill>
                <a:latin typeface="Manrope"/>
                <a:ea typeface="Manrope"/>
                <a:cs typeface="Manrope"/>
                <a:sym typeface="Manrope"/>
              </a:rPr>
              <a:t>09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EDDE9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2"/>
          <p:cNvSpPr/>
          <p:nvPr/>
        </p:nvSpPr>
        <p:spPr>
          <a:xfrm>
            <a:off x="3864757" y="-135744"/>
            <a:ext cx="10558488" cy="10558488"/>
          </a:xfrm>
          <a:prstGeom prst="ellipse">
            <a:avLst/>
          </a:prstGeom>
          <a:gradFill>
            <a:gsLst>
              <a:gs pos="0">
                <a:srgbClr val="E82D7D">
                  <a:alpha val="21176"/>
                </a:srgbClr>
              </a:gs>
              <a:gs pos="68000">
                <a:srgbClr val="E82D7D">
                  <a:alpha val="0"/>
                </a:srgbClr>
              </a:gs>
              <a:gs pos="100000">
                <a:srgbClr val="E82D7D">
                  <a:alpha val="0"/>
                </a:srgbClr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12"/>
          <p:cNvSpPr/>
          <p:nvPr/>
        </p:nvSpPr>
        <p:spPr>
          <a:xfrm>
            <a:off x="6990874" y="2310340"/>
            <a:ext cx="4306253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73171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9000"/>
              <a:buFont typeface="Source Serif 4"/>
              <a:buNone/>
            </a:pPr>
            <a:r>
              <a:rPr b="0" i="0" lang="en-US" sz="9000" u="none" cap="none" strike="noStrike">
                <a:solidFill>
                  <a:srgbClr val="0F3460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Gracias</a:t>
            </a:r>
            <a:endParaRPr b="0" i="0" sz="9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2"/>
          <p:cNvSpPr/>
          <p:nvPr/>
        </p:nvSpPr>
        <p:spPr>
          <a:xfrm>
            <a:off x="7524750" y="3937000"/>
            <a:ext cx="2916014" cy="19050"/>
          </a:xfrm>
          <a:prstGeom prst="rect">
            <a:avLst/>
          </a:prstGeom>
          <a:solidFill>
            <a:srgbClr val="C594A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12"/>
          <p:cNvSpPr/>
          <p:nvPr/>
        </p:nvSpPr>
        <p:spPr>
          <a:xfrm>
            <a:off x="2668905" y="4462989"/>
            <a:ext cx="12950190" cy="1638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2439"/>
              </a:lnSpc>
              <a:spcBef>
                <a:spcPts val="0"/>
              </a:spcBef>
              <a:spcAft>
                <a:spcPts val="0"/>
              </a:spcAft>
              <a:buClr>
                <a:srgbClr val="3D4D60"/>
              </a:buClr>
              <a:buSzPts val="3000"/>
              <a:buFont typeface="Manrope"/>
              <a:buNone/>
            </a:pPr>
            <a:r>
              <a:rPr b="0" i="0" lang="en-US" sz="3000" u="none" cap="none" strike="noStrike">
                <a:solidFill>
                  <a:srgbClr val="3D4D60"/>
                </a:solidFill>
                <a:latin typeface="Manrope"/>
                <a:ea typeface="Manrope"/>
                <a:cs typeface="Manrope"/>
                <a:sym typeface="Manrope"/>
              </a:rPr>
              <a:t>EmotionLab entrega a los colegios y a sus docentes lo que hoy no tienen: evidencia real de cómo se sienten y cómo atienden sus estudiantes.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2"/>
          <p:cNvSpPr/>
          <p:nvPr/>
        </p:nvSpPr>
        <p:spPr>
          <a:xfrm>
            <a:off x="5148218" y="6901390"/>
            <a:ext cx="2611626" cy="431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250"/>
              <a:buFont typeface="Manrope"/>
              <a:buNone/>
            </a:pPr>
            <a:r>
              <a:rPr b="0" i="0" lang="en-US" sz="225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Constanza Quiero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2"/>
          <p:cNvSpPr/>
          <p:nvPr/>
        </p:nvSpPr>
        <p:spPr>
          <a:xfrm>
            <a:off x="8080598" y="6901390"/>
            <a:ext cx="2066578" cy="431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250"/>
              <a:buFont typeface="Manrope"/>
              <a:buNone/>
            </a:pPr>
            <a:r>
              <a:rPr b="0" i="0" lang="en-US" sz="225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Katalina Pérez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2"/>
          <p:cNvSpPr/>
          <p:nvPr/>
        </p:nvSpPr>
        <p:spPr>
          <a:xfrm>
            <a:off x="10464924" y="6901390"/>
            <a:ext cx="2677765" cy="431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250"/>
              <a:buFont typeface="Manrope"/>
              <a:buNone/>
            </a:pPr>
            <a:r>
              <a:rPr b="0" i="0" lang="en-US" sz="225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Kathleen Ampuero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2"/>
          <p:cNvSpPr/>
          <p:nvPr/>
        </p:nvSpPr>
        <p:spPr>
          <a:xfrm>
            <a:off x="5945525" y="7645400"/>
            <a:ext cx="6396951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8F94"/>
              </a:buClr>
              <a:buSzPts val="1950"/>
              <a:buFont typeface="Manrope"/>
              <a:buNone/>
            </a:pPr>
            <a:r>
              <a:rPr b="0" i="0" lang="en-US" sz="1950" u="none" cap="none" strike="noStrike">
                <a:solidFill>
                  <a:srgbClr val="8B8F94"/>
                </a:solidFill>
                <a:latin typeface="Manrope"/>
                <a:ea typeface="Manrope"/>
                <a:cs typeface="Manrope"/>
                <a:sym typeface="Manrope"/>
              </a:rPr>
              <a:t>Duoc UC · Ingeniería en Informática · Capstone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