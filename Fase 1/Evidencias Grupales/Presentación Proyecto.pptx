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10287000" cx="18288000"/>
  <p:notesSz cx="10287000" cy="18288000"/>
  <p:embeddedFontLst>
    <p:embeddedFont>
      <p:font typeface="Manrope"/>
      <p:regular r:id="rId16"/>
      <p:bold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font" Target="fonts/Manrope-regular.fntdata"/><Relationship Id="rId17" Type="http://schemas.openxmlformats.org/officeDocument/2006/relationships/font" Target="fonts/Manrope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Buenos días. Somos Constanza Quiero, Katalina Pérez y Kathleen Ampuero, de Ingeniería en Informática de Duoc UC, sede Viña del Mar. Presentamos EmotionLab.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Partimos declarando que EmotionLab es un proyecto de continuidad: existe una versión anterior orientada a educación superior, y nuestra fase la reorienta a enseñanza media incorporando gamificación. El problema: los adolescentes enfrentan exposiciones y entrevistas sin herramientas de regulación emocional, y el docente o psicopedagogo que los acompaña no cuenta con evidencia comportamental de ese proceso; hoy el seguimiento se apoya en observación puntual.</a:t>
            </a:r>
            <a:endParaRPr/>
          </a:p>
        </p:txBody>
      </p:sp>
      <p:sp>
        <p:nvSpPr>
          <p:cNvPr id="29" name="Google Shape;2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" name="Google Shape;4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 solución es una experiencia de realidad virtual que sitúa al adolescente en una situación de exigencia y, en base a datos comportamentales, permite clasificar si regula o no sus emociones. Es una herramienta complementaria de apoyo: no reemplaza el trabajo del docente ni constituye un diagnóstico clínico. Incluye respiración guiada y un cierre gamificado con el minijuego de patitos. Dejo claro el reparto: nosotras desarrollamos la experiencia y la arquitectura de datos; el equipo de IA construye el modelo, la clasificación y el dashboard.</a:t>
            </a:r>
            <a:endParaRPr/>
          </a:p>
        </p:txBody>
      </p:sp>
      <p:sp>
        <p:nvSpPr>
          <p:cNvPr id="50" name="Google Shape;5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 proyecto es factible en 13 semanas. Contamos con visores Meta Quest y equipos de desarrollo, respaldo institucional de Duoc UC y del colegio, un equipo de tres roles complementarios con alcance acotado, y partimos desde una base ya construida. El resguardo de los datos de estudiantes adolescentes es el punto que exige mayor cuidado, y lo abordamos con anonimización, cifrado y consentimientos informados de apoderados.</a:t>
            </a:r>
            <a:endParaRPr/>
          </a:p>
        </p:txBody>
      </p:sp>
      <p:sp>
        <p:nvSpPr>
          <p:cNvPr id="95" name="Google Shape;9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Nuestro objetivo general es diseñar y desarrollar la experiencia de realidad virtual y la arquitectura que captura y transmite los datos comportamentales al equipo de IA, que es el encargado de clasificarlos y generar los insights que apoyan la toma de decisiones del docente o psicopedagogo. De ahí se desprenden cuatro objetivos específicos, y la suma de los cuatro constituye nuestro entregable.</a:t>
            </a:r>
            <a:endParaRPr/>
          </a:p>
        </p:txBody>
      </p:sp>
      <p:sp>
        <p:nvSpPr>
          <p:cNvPr id="131" name="Google Shape;13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Esta es la arquitectura. La experiencia corre en visores Meta Quest, desarrollada en Unity. Durante el recorrido se capturan los datos comportamentales, que se transmiten mediante AWS Lambda y se almacenan en AWS. Ahí termina nuestro alcance: dejamos las cuentas, los servicios y el modelo de datos operativos para que el equipo de IA se acople con su modelo de clasificación y su dashboard. La infraestructura se levanta con Terraform y el versionamiento y la gestión se hacen en GitHub y GitHub Projects.</a:t>
            </a:r>
            <a:endParaRPr/>
          </a:p>
        </p:txBody>
      </p:sp>
      <p:sp>
        <p:nvSpPr>
          <p:cNvPr id="164" name="Google Shape;16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Trabajamos con metodología ágil: tablero Kanban en GitHub Projects, control de versiones con estrategia de ramas en GitHub, y el proyecto estructurado en tres fases con entregables definidos y una responsable por hito.</a:t>
            </a:r>
            <a:endParaRPr/>
          </a:p>
        </p:txBody>
      </p:sp>
      <p:sp>
        <p:nvSpPr>
          <p:cNvPr id="218" name="Google Shape;21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 proyecto se ejecuta en 13 semanas, del 10 de agosto al 8 de noviembre. La planificación ocupó las semanas 1 a 4. El desarrollo y las pruebas van de la semana 5 a la 11, hasta el 25 de octubre. El cierre y la defensa ocupan las semanas 12 y 13.</a:t>
            </a:r>
            <a:endParaRPr/>
          </a:p>
        </p:txBody>
      </p:sp>
      <p:sp>
        <p:nvSpPr>
          <p:cNvPr id="253" name="Google Shape;25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8" name="Google Shape;44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Nuestras evidencias son los hitos del proyecto. El diseño de la experiencia está definido y la arquitectura de datos documentada. Las cuentas y servicios en AWS están en curso, y quedarán operativos para que el equipo de IA se acople. La documentación formal y el tablero Kanban registran el avance.</a:t>
            </a:r>
            <a:endParaRPr/>
          </a:p>
        </p:txBody>
      </p:sp>
      <p:sp>
        <p:nvSpPr>
          <p:cNvPr id="449" name="Google Shape;44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3" name="Google Shape;48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 proyecto pone en práctica cuatro competencias del perfil de egreso: gestión de proyectos informáticos, arquitectura y gestión de la información, análisis de requerimientos y desarrollo de soluciones tecnológicas. Y cada interés profesional del equipo se conecta con una tarea concreta de este proyecto.</a:t>
            </a:r>
            <a:endParaRPr/>
          </a:p>
        </p:txBody>
      </p:sp>
      <p:sp>
        <p:nvSpPr>
          <p:cNvPr id="484" name="Google Shape;48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3" name="Google Shape;52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Para cerrar: EmotionLab entrega datos comportamentales que ayudan al docente y al psicopedagogo a acompañar mejor a sus estudiantes. El repositorio del proyecto está disponible en GitHub. Quedamos atentas a sus preguntas.</a:t>
            </a:r>
            <a:endParaRPr/>
          </a:p>
        </p:txBody>
      </p:sp>
      <p:sp>
        <p:nvSpPr>
          <p:cNvPr id="524" name="Google Shape;524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github.com/maricons/CAPSTONE_EMOTIONLAB" TargetMode="Externa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DDE9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 title="Gemini_Generated_Image_jkdjqdjkdjqdjkdj.jpg"/>
          <p:cNvPicPr preferRelativeResize="0"/>
          <p:nvPr/>
        </p:nvPicPr>
        <p:blipFill rotWithShape="1">
          <a:blip r:embed="rId3">
            <a:alphaModFix/>
          </a:blip>
          <a:srcRect b="0" l="33749" r="0" t="0"/>
          <a:stretch/>
        </p:blipFill>
        <p:spPr>
          <a:xfrm>
            <a:off x="9999547" y="0"/>
            <a:ext cx="12211702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"/>
          <p:cNvSpPr/>
          <p:nvPr/>
        </p:nvSpPr>
        <p:spPr>
          <a:xfrm>
            <a:off x="-2573280" y="-2382780"/>
            <a:ext cx="8004059" cy="8004059"/>
          </a:xfrm>
          <a:prstGeom prst="ellipse">
            <a:avLst/>
          </a:prstGeom>
          <a:gradFill>
            <a:gsLst>
              <a:gs pos="0">
                <a:srgbClr val="E82D7D">
                  <a:alpha val="16078"/>
                </a:srgbClr>
              </a:gs>
              <a:gs pos="70000">
                <a:srgbClr val="E82D7D">
                  <a:alpha val="0"/>
                </a:srgbClr>
              </a:gs>
              <a:gs pos="100000">
                <a:srgbClr val="E82D7D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1047750" y="2719388"/>
            <a:ext cx="8681755" cy="13811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68780"/>
              </a:lnSpc>
              <a:spcBef>
                <a:spcPts val="0"/>
              </a:spcBef>
              <a:spcAft>
                <a:spcPts val="0"/>
              </a:spcAft>
              <a:buClr>
                <a:srgbClr val="0F3460"/>
              </a:buClr>
              <a:buSzPts val="11250"/>
              <a:buFont typeface="Manrope"/>
              <a:buNone/>
            </a:pPr>
            <a:r>
              <a:rPr b="1" i="0" lang="en-US" sz="11250" u="none" cap="none" strike="noStrike">
                <a:solidFill>
                  <a:srgbClr val="0F3460"/>
                </a:solidFill>
                <a:latin typeface="Manrope"/>
                <a:ea typeface="Manrope"/>
                <a:cs typeface="Manrope"/>
                <a:sym typeface="Manrope"/>
              </a:rPr>
              <a:t>EmotionLab</a:t>
            </a:r>
            <a:endParaRPr b="0" i="0" sz="1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1047750" y="4557713"/>
            <a:ext cx="3429000" cy="38100"/>
          </a:xfrm>
          <a:prstGeom prst="rect">
            <a:avLst/>
          </a:prstGeom>
          <a:solidFill>
            <a:srgbClr val="6E2B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1047750" y="5053013"/>
            <a:ext cx="868175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460"/>
              </a:buClr>
              <a:buSzPts val="2700"/>
              <a:buFont typeface="Manrope"/>
              <a:buNone/>
            </a:pPr>
            <a:r>
              <a:rPr b="1" i="0" lang="en-US" sz="2700" u="none" cap="none" strike="noStrike">
                <a:solidFill>
                  <a:srgbClr val="0F3460"/>
                </a:solidFill>
                <a:latin typeface="Manrope"/>
                <a:ea typeface="Manrope"/>
                <a:cs typeface="Manrope"/>
                <a:sym typeface="Manrope"/>
              </a:rPr>
              <a:t>Constanza Quiero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1047750" y="5653088"/>
            <a:ext cx="868175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460"/>
              </a:buClr>
              <a:buSzPts val="2700"/>
              <a:buFont typeface="Manrope"/>
              <a:buNone/>
            </a:pPr>
            <a:r>
              <a:rPr b="1" i="0" lang="en-US" sz="2700" u="none" cap="none" strike="noStrike">
                <a:solidFill>
                  <a:srgbClr val="0F3460"/>
                </a:solidFill>
                <a:latin typeface="Manrope"/>
                <a:ea typeface="Manrope"/>
                <a:cs typeface="Manrope"/>
                <a:sym typeface="Manrope"/>
              </a:rPr>
              <a:t>Katalina Pérez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1047750" y="6253163"/>
            <a:ext cx="868175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460"/>
              </a:buClr>
              <a:buSzPts val="2700"/>
              <a:buFont typeface="Manrope"/>
              <a:buNone/>
            </a:pPr>
            <a:r>
              <a:rPr b="1" i="0" lang="en-US" sz="2700" u="none" cap="none" strike="noStrike">
                <a:solidFill>
                  <a:srgbClr val="0F3460"/>
                </a:solidFill>
                <a:latin typeface="Manrope"/>
                <a:ea typeface="Manrope"/>
                <a:cs typeface="Manrope"/>
                <a:sym typeface="Manrope"/>
              </a:rPr>
              <a:t>Kathleen Ampuero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1047750" y="7253288"/>
            <a:ext cx="8681755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2B4E"/>
              </a:buClr>
              <a:buSzPts val="1800"/>
              <a:buFont typeface="Manrope"/>
              <a:buNone/>
            </a:pPr>
            <a:r>
              <a:rPr b="1" i="0" lang="en-US" sz="1800" u="none" cap="none" strike="noStrike">
                <a:solidFill>
                  <a:srgbClr val="6E2B4E"/>
                </a:solidFill>
                <a:latin typeface="Manrope"/>
                <a:ea typeface="Manrope"/>
                <a:cs typeface="Manrope"/>
                <a:sym typeface="Manrope"/>
              </a:rPr>
              <a:t>DUOC UC · INGENIERÍA EN INFORMÁTICA · SEDE VIÑA DEL MAR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9999550" y="0"/>
            <a:ext cx="8142000" cy="10287000"/>
          </a:xfrm>
          <a:prstGeom prst="rect">
            <a:avLst/>
          </a:prstGeom>
          <a:gradFill>
            <a:gsLst>
              <a:gs pos="0">
                <a:srgbClr val="FEDDE9"/>
              </a:gs>
              <a:gs pos="20000">
                <a:srgbClr val="FEDDE9">
                  <a:alpha val="50196"/>
                </a:srgbClr>
              </a:gs>
              <a:gs pos="46000">
                <a:srgbClr val="FEDDE9">
                  <a:alpha val="0"/>
                </a:srgbClr>
              </a:gs>
              <a:gs pos="100000">
                <a:srgbClr val="FEDDE9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9999550" y="0"/>
            <a:ext cx="12211800" cy="10287000"/>
          </a:xfrm>
          <a:prstGeom prst="rect">
            <a:avLst/>
          </a:prstGeom>
          <a:gradFill>
            <a:gsLst>
              <a:gs pos="0">
                <a:srgbClr val="0F3460">
                  <a:alpha val="14118"/>
                </a:srgbClr>
              </a:gs>
              <a:gs pos="100000">
                <a:srgbClr val="6E2B4E">
                  <a:alpha val="16078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6F2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/>
          <p:nvPr/>
        </p:nvSpPr>
        <p:spPr>
          <a:xfrm>
            <a:off x="0" y="0"/>
            <a:ext cx="18288000" cy="933450"/>
          </a:xfrm>
          <a:prstGeom prst="rect">
            <a:avLst/>
          </a:prstGeom>
          <a:solidFill>
            <a:srgbClr val="0F3460">
              <a:alpha val="8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952500" y="285750"/>
            <a:ext cx="1693164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EDDE9"/>
              </a:buClr>
              <a:buSzPts val="2100"/>
              <a:buFont typeface="Manrope"/>
              <a:buNone/>
            </a:pPr>
            <a:r>
              <a:rPr b="1" i="0" lang="en-US" sz="2100" u="none" cap="none" strike="noStrike">
                <a:solidFill>
                  <a:srgbClr val="FEDDE9"/>
                </a:solidFill>
                <a:latin typeface="Manrope"/>
                <a:ea typeface="Manrope"/>
                <a:cs typeface="Manrope"/>
                <a:sym typeface="Manrope"/>
              </a:rPr>
              <a:t>EmotionLab · Fase 2 — proyecto de continuidad: antes educación superior, ahora enseñanza media con gamificación.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952500" y="1733550"/>
            <a:ext cx="114300" cy="114300"/>
          </a:xfrm>
          <a:prstGeom prst="ellipse">
            <a:avLst/>
          </a:prstGeom>
          <a:solidFill>
            <a:srgbClr val="6E2B4E">
              <a:alpha val="8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1257300" y="1619250"/>
            <a:ext cx="2694682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2B4E"/>
              </a:buClr>
              <a:buSzPts val="1950"/>
              <a:buFont typeface="Manrope"/>
              <a:buNone/>
            </a:pPr>
            <a:r>
              <a:rPr b="1" i="0" lang="en-US" sz="1950" u="none" cap="none" strike="noStrike">
                <a:solidFill>
                  <a:srgbClr val="6E2B4E"/>
                </a:solidFill>
                <a:latin typeface="Manrope"/>
                <a:ea typeface="Manrope"/>
                <a:cs typeface="Manrope"/>
                <a:sym typeface="Manrope"/>
              </a:rPr>
              <a:t>EL PROBLEMA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952500" y="2312220"/>
            <a:ext cx="14519910" cy="172491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9071"/>
              </a:lnSpc>
              <a:spcBef>
                <a:spcPts val="0"/>
              </a:spcBef>
              <a:spcAft>
                <a:spcPts val="0"/>
              </a:spcAft>
              <a:buClr>
                <a:srgbClr val="0F3460"/>
              </a:buClr>
              <a:buSzPts val="6150"/>
              <a:buFont typeface="Manrope"/>
              <a:buNone/>
            </a:pPr>
            <a:r>
              <a:rPr b="1" i="0" lang="en-US" sz="6150" u="none" cap="none" strike="noStrike">
                <a:solidFill>
                  <a:srgbClr val="0F3460"/>
                </a:solidFill>
                <a:latin typeface="Manrope"/>
                <a:ea typeface="Manrope"/>
                <a:cs typeface="Manrope"/>
                <a:sym typeface="Manrope"/>
              </a:rPr>
              <a:t>Presentarse frente a otros es una situación de alta exigencia</a:t>
            </a:r>
            <a:endParaRPr b="0" i="0" sz="6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952500" y="4791968"/>
            <a:ext cx="38100" cy="2052304"/>
          </a:xfrm>
          <a:prstGeom prst="rect">
            <a:avLst/>
          </a:prstGeom>
          <a:solidFill>
            <a:srgbClr val="E8A0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1238250" y="4799138"/>
            <a:ext cx="5273620" cy="4723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7692"/>
              </a:lnSpc>
              <a:spcBef>
                <a:spcPts val="0"/>
              </a:spcBef>
              <a:spcAft>
                <a:spcPts val="0"/>
              </a:spcAft>
              <a:buClr>
                <a:srgbClr val="0F3460"/>
              </a:buClr>
              <a:buSzPts val="2850"/>
              <a:buFont typeface="Manrope"/>
              <a:buNone/>
            </a:pPr>
            <a:r>
              <a:rPr b="1" i="0" lang="en-US" sz="2850" u="none" cap="none" strike="noStrike">
                <a:solidFill>
                  <a:srgbClr val="0F3460"/>
                </a:solidFill>
                <a:latin typeface="Manrope"/>
                <a:ea typeface="Manrope"/>
                <a:cs typeface="Manrope"/>
                <a:sym typeface="Manrope"/>
              </a:rPr>
              <a:t>Sin herramientas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1238250" y="5385818"/>
            <a:ext cx="4938026" cy="12811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75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2175"/>
              <a:buFont typeface="Manrope"/>
              <a:buNone/>
            </a:pPr>
            <a:r>
              <a:rPr b="0" i="0" lang="en-US" sz="2175" u="none" cap="none" strike="noStrike">
                <a:solidFill>
                  <a:srgbClr val="4A4A4A"/>
                </a:solidFill>
                <a:latin typeface="Manrope"/>
                <a:ea typeface="Manrope"/>
                <a:cs typeface="Manrope"/>
                <a:sym typeface="Manrope"/>
              </a:rPr>
              <a:t>Los adolescentes enfrentan exposiciones orales y entrevistas sin recursos de regulación emocional.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6603950" y="4791968"/>
            <a:ext cx="38100" cy="2052304"/>
          </a:xfrm>
          <a:prstGeom prst="rect">
            <a:avLst/>
          </a:prstGeom>
          <a:solidFill>
            <a:srgbClr val="E8A0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6889700" y="4799138"/>
            <a:ext cx="4938026" cy="9066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7692"/>
              </a:lnSpc>
              <a:spcBef>
                <a:spcPts val="0"/>
              </a:spcBef>
              <a:spcAft>
                <a:spcPts val="0"/>
              </a:spcAft>
              <a:buClr>
                <a:srgbClr val="0F3460"/>
              </a:buClr>
              <a:buSzPts val="2850"/>
              <a:buFont typeface="Manrope"/>
              <a:buNone/>
            </a:pPr>
            <a:r>
              <a:rPr b="1" i="0" lang="en-US" sz="2850" u="none" cap="none" strike="noStrike">
                <a:solidFill>
                  <a:srgbClr val="0F3460"/>
                </a:solidFill>
                <a:latin typeface="Manrope"/>
                <a:ea typeface="Manrope"/>
                <a:cs typeface="Manrope"/>
                <a:sym typeface="Manrope"/>
              </a:rPr>
              <a:t>Sin evidencia comportamental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6889700" y="5820099"/>
            <a:ext cx="4938026" cy="12811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75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2175"/>
              <a:buFont typeface="Manrope"/>
              <a:buNone/>
            </a:pPr>
            <a:r>
              <a:rPr b="0" i="0" lang="en-US" sz="2175" u="none" cap="none" strike="noStrike">
                <a:solidFill>
                  <a:srgbClr val="4A4A4A"/>
                </a:solidFill>
                <a:latin typeface="Manrope"/>
                <a:ea typeface="Manrope"/>
                <a:cs typeface="Manrope"/>
                <a:sym typeface="Manrope"/>
              </a:rPr>
              <a:t>El docente o psicopedagogo no dispone de datos que le permitan acompañar ese proceso.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12255401" y="4791968"/>
            <a:ext cx="38100" cy="2052304"/>
          </a:xfrm>
          <a:prstGeom prst="rect">
            <a:avLst/>
          </a:prstGeom>
          <a:solidFill>
            <a:srgbClr val="E8A0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12541151" y="4799138"/>
            <a:ext cx="5273620" cy="4723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7692"/>
              </a:lnSpc>
              <a:spcBef>
                <a:spcPts val="0"/>
              </a:spcBef>
              <a:spcAft>
                <a:spcPts val="0"/>
              </a:spcAft>
              <a:buClr>
                <a:srgbClr val="0F3460"/>
              </a:buClr>
              <a:buSzPts val="2850"/>
              <a:buFont typeface="Manrope"/>
              <a:buNone/>
            </a:pPr>
            <a:r>
              <a:rPr b="1" i="0" lang="en-US" sz="2850" u="none" cap="none" strike="noStrike">
                <a:solidFill>
                  <a:srgbClr val="0F3460"/>
                </a:solidFill>
                <a:latin typeface="Manrope"/>
                <a:ea typeface="Manrope"/>
                <a:cs typeface="Manrope"/>
                <a:sym typeface="Manrope"/>
              </a:rPr>
              <a:t>Observación puntual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12541151" y="5385818"/>
            <a:ext cx="4938026" cy="8667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75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2175"/>
              <a:buFont typeface="Manrope"/>
              <a:buNone/>
            </a:pPr>
            <a:r>
              <a:rPr b="0" i="0" lang="en-US" sz="2175" u="none" cap="none" strike="noStrike">
                <a:solidFill>
                  <a:srgbClr val="4A4A4A"/>
                </a:solidFill>
                <a:latin typeface="Manrope"/>
                <a:ea typeface="Manrope"/>
                <a:cs typeface="Manrope"/>
                <a:sym typeface="Manrope"/>
              </a:rPr>
              <a:t>El seguimiento se apoya en lo que se alcanza a observar en el momento.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952500" y="9248775"/>
            <a:ext cx="2992472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Manrope"/>
              <a:buNone/>
            </a:pPr>
            <a:r>
              <a:rPr b="0" i="0" lang="en-US" sz="1800" u="none" cap="none" strike="noStrike">
                <a:solidFill>
                  <a:srgbClr val="8C8C8C"/>
                </a:solidFill>
                <a:latin typeface="Manrope"/>
                <a:ea typeface="Manrope"/>
                <a:cs typeface="Manrope"/>
                <a:sym typeface="Manrope"/>
              </a:rPr>
              <a:t>EmotionLab · Capstone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17038290" y="9248775"/>
            <a:ext cx="37341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Manrope"/>
              <a:buNone/>
            </a:pPr>
            <a:r>
              <a:rPr b="0" i="0" lang="en-US" sz="1800" u="none" cap="none" strike="noStrike">
                <a:solidFill>
                  <a:srgbClr val="8C8C8C"/>
                </a:solidFill>
                <a:latin typeface="Manrope"/>
                <a:ea typeface="Manrope"/>
                <a:cs typeface="Manrope"/>
                <a:sym typeface="Manrope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DDE9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5"/>
          <p:cNvSpPr/>
          <p:nvPr/>
        </p:nvSpPr>
        <p:spPr>
          <a:xfrm>
            <a:off x="-2886666" y="5495334"/>
            <a:ext cx="8059331" cy="8059331"/>
          </a:xfrm>
          <a:prstGeom prst="ellipse">
            <a:avLst/>
          </a:prstGeom>
          <a:gradFill>
            <a:gsLst>
              <a:gs pos="0">
                <a:srgbClr val="E82D7D">
                  <a:alpha val="14118"/>
                </a:srgbClr>
              </a:gs>
              <a:gs pos="70000">
                <a:srgbClr val="E82D7D">
                  <a:alpha val="0"/>
                </a:srgbClr>
              </a:gs>
              <a:gs pos="100000">
                <a:srgbClr val="E82D7D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5"/>
          <p:cNvSpPr/>
          <p:nvPr/>
        </p:nvSpPr>
        <p:spPr>
          <a:xfrm>
            <a:off x="952500" y="914400"/>
            <a:ext cx="114300" cy="114300"/>
          </a:xfrm>
          <a:prstGeom prst="ellipse">
            <a:avLst/>
          </a:prstGeom>
          <a:solidFill>
            <a:srgbClr val="6E2B4E">
              <a:alpha val="8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5"/>
          <p:cNvSpPr/>
          <p:nvPr/>
        </p:nvSpPr>
        <p:spPr>
          <a:xfrm>
            <a:off x="1257300" y="800100"/>
            <a:ext cx="2683713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2B4E"/>
              </a:buClr>
              <a:buSzPts val="1950"/>
              <a:buFont typeface="Manrope"/>
              <a:buNone/>
            </a:pPr>
            <a:r>
              <a:rPr b="1" i="0" lang="en-US" sz="1950" u="none" cap="none" strike="noStrike">
                <a:solidFill>
                  <a:srgbClr val="6E2B4E"/>
                </a:solidFill>
                <a:latin typeface="Manrope"/>
                <a:ea typeface="Manrope"/>
                <a:cs typeface="Manrope"/>
                <a:sym typeface="Manrope"/>
              </a:rPr>
              <a:t>LA SOLUCIÓN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952500" y="1455391"/>
            <a:ext cx="15304770" cy="156031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9129"/>
              </a:lnSpc>
              <a:spcBef>
                <a:spcPts val="0"/>
              </a:spcBef>
              <a:spcAft>
                <a:spcPts val="0"/>
              </a:spcAft>
              <a:buClr>
                <a:srgbClr val="0F3460"/>
              </a:buClr>
              <a:buSzPts val="5550"/>
              <a:buFont typeface="Manrope"/>
              <a:buNone/>
            </a:pPr>
            <a:r>
              <a:rPr b="1" i="0" lang="en-US" sz="5550" u="none" cap="none" strike="noStrike">
                <a:solidFill>
                  <a:srgbClr val="0F3460"/>
                </a:solidFill>
                <a:latin typeface="Manrope"/>
                <a:ea typeface="Manrope"/>
                <a:cs typeface="Manrope"/>
                <a:sym typeface="Manrope"/>
              </a:rPr>
              <a:t>Una experiencia de realidad virtual para practicar la regulación emocional</a:t>
            </a:r>
            <a:endParaRPr b="0" i="0" sz="5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952500" y="3244305"/>
            <a:ext cx="15893415" cy="9239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0714"/>
              </a:lnSpc>
              <a:spcBef>
                <a:spcPts val="0"/>
              </a:spcBef>
              <a:spcAft>
                <a:spcPts val="0"/>
              </a:spcAft>
              <a:buClr>
                <a:srgbClr val="3D4D60"/>
              </a:buClr>
              <a:buSzPts val="2325"/>
              <a:buFont typeface="Manrope"/>
              <a:buNone/>
            </a:pPr>
            <a:r>
              <a:rPr b="0" i="0" lang="en-US" sz="2325" u="none" cap="none" strike="noStrike">
                <a:solidFill>
                  <a:srgbClr val="3D4D60"/>
                </a:solidFill>
                <a:latin typeface="Manrope"/>
                <a:ea typeface="Manrope"/>
                <a:cs typeface="Manrope"/>
                <a:sym typeface="Manrope"/>
              </a:rPr>
              <a:t>Sitúa al estudiante en una exposición o entrevista y captura datos comportamentales que permiten clasificar si regula o no sus emociones. Herramienta complementaria de apoyo, con respiración guiada y un cierre gamificado.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1238250" y="4941689"/>
            <a:ext cx="14707873" cy="28575"/>
          </a:xfrm>
          <a:prstGeom prst="rect">
            <a:avLst/>
          </a:prstGeom>
          <a:solidFill>
            <a:srgbClr val="D9A9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952500" y="4663530"/>
            <a:ext cx="571500" cy="571500"/>
          </a:xfrm>
          <a:prstGeom prst="ellipse">
            <a:avLst/>
          </a:prstGeom>
          <a:solidFill>
            <a:srgbClr val="0F3460">
              <a:alpha val="9686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914400" y="4663530"/>
            <a:ext cx="6477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EDDE9"/>
              </a:buClr>
              <a:buSzPts val="2025"/>
              <a:buFont typeface="Manrope"/>
              <a:buNone/>
            </a:pPr>
            <a:r>
              <a:rPr b="1" i="0" lang="en-US" sz="2025" u="none" cap="none" strike="noStrike">
                <a:solidFill>
                  <a:srgbClr val="FEDDE9"/>
                </a:solidFill>
                <a:latin typeface="Manrope"/>
                <a:ea typeface="Manrope"/>
                <a:cs typeface="Manrope"/>
                <a:sym typeface="Manrope"/>
              </a:rPr>
              <a:t>1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952500" y="5368380"/>
            <a:ext cx="2776537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7805"/>
              </a:lnSpc>
              <a:spcBef>
                <a:spcPts val="0"/>
              </a:spcBef>
              <a:spcAft>
                <a:spcPts val="0"/>
              </a:spcAft>
              <a:buClr>
                <a:srgbClr val="0F3460"/>
              </a:buClr>
              <a:buSzPts val="2250"/>
              <a:buFont typeface="Manrope"/>
              <a:buNone/>
            </a:pPr>
            <a:r>
              <a:rPr b="1" i="0" lang="en-US" sz="2250" u="none" cap="none" strike="noStrike">
                <a:solidFill>
                  <a:srgbClr val="0F3460"/>
                </a:solidFill>
                <a:latin typeface="Manrope"/>
                <a:ea typeface="Manrope"/>
                <a:cs typeface="Manrope"/>
                <a:sym typeface="Manrope"/>
              </a:rPr>
              <a:t>Sala de espera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952500" y="5844630"/>
            <a:ext cx="2776537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875"/>
              <a:buFont typeface="Manrope"/>
              <a:buNone/>
            </a:pPr>
            <a:r>
              <a:rPr b="0" i="0" lang="en-US" sz="1875" u="none" cap="none" strike="noStrike">
                <a:solidFill>
                  <a:srgbClr val="4A4A4A"/>
                </a:solidFill>
                <a:latin typeface="Manrope"/>
                <a:ea typeface="Manrope"/>
                <a:cs typeface="Manrope"/>
                <a:sym typeface="Manrope"/>
              </a:rPr>
              <a:t>Inicio del recorrido.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3724275" y="4663530"/>
            <a:ext cx="571500" cy="571500"/>
          </a:xfrm>
          <a:prstGeom prst="ellipse">
            <a:avLst/>
          </a:prstGeom>
          <a:solidFill>
            <a:srgbClr val="0F3460">
              <a:alpha val="9686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5"/>
          <p:cNvSpPr/>
          <p:nvPr/>
        </p:nvSpPr>
        <p:spPr>
          <a:xfrm>
            <a:off x="3686175" y="4663530"/>
            <a:ext cx="6477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EDDE9"/>
              </a:buClr>
              <a:buSzPts val="2025"/>
              <a:buFont typeface="Manrope"/>
              <a:buNone/>
            </a:pPr>
            <a:r>
              <a:rPr b="1" i="0" lang="en-US" sz="2025" u="none" cap="none" strike="noStrike">
                <a:solidFill>
                  <a:srgbClr val="FEDDE9"/>
                </a:solidFill>
                <a:latin typeface="Manrope"/>
                <a:ea typeface="Manrope"/>
                <a:cs typeface="Manrope"/>
                <a:sym typeface="Manrope"/>
              </a:rPr>
              <a:t>2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3724275" y="5368380"/>
            <a:ext cx="2776537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7805"/>
              </a:lnSpc>
              <a:spcBef>
                <a:spcPts val="0"/>
              </a:spcBef>
              <a:spcAft>
                <a:spcPts val="0"/>
              </a:spcAft>
              <a:buClr>
                <a:srgbClr val="0F3460"/>
              </a:buClr>
              <a:buSzPts val="2250"/>
              <a:buFont typeface="Manrope"/>
              <a:buNone/>
            </a:pPr>
            <a:r>
              <a:rPr b="1" i="0" lang="en-US" sz="2250" u="none" cap="none" strike="noStrike">
                <a:solidFill>
                  <a:srgbClr val="0F3460"/>
                </a:solidFill>
                <a:latin typeface="Manrope"/>
                <a:ea typeface="Manrope"/>
                <a:cs typeface="Manrope"/>
                <a:sym typeface="Manrope"/>
              </a:rPr>
              <a:t>Salón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3724275" y="5844630"/>
            <a:ext cx="2600325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875"/>
              <a:buFont typeface="Manrope"/>
              <a:buNone/>
            </a:pPr>
            <a:r>
              <a:rPr b="0" i="0" lang="en-US" sz="1875" u="none" cap="none" strike="noStrike">
                <a:solidFill>
                  <a:srgbClr val="4A4A4A"/>
                </a:solidFill>
                <a:latin typeface="Manrope"/>
                <a:ea typeface="Manrope"/>
                <a:cs typeface="Manrope"/>
                <a:sym typeface="Manrope"/>
              </a:rPr>
              <a:t>Exposición frente al curso.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6496050" y="4663530"/>
            <a:ext cx="571500" cy="571500"/>
          </a:xfrm>
          <a:prstGeom prst="ellipse">
            <a:avLst/>
          </a:prstGeom>
          <a:solidFill>
            <a:srgbClr val="0F3460">
              <a:alpha val="9686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5"/>
          <p:cNvSpPr/>
          <p:nvPr/>
        </p:nvSpPr>
        <p:spPr>
          <a:xfrm>
            <a:off x="6457950" y="4663530"/>
            <a:ext cx="6477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EDDE9"/>
              </a:buClr>
              <a:buSzPts val="2025"/>
              <a:buFont typeface="Manrope"/>
              <a:buNone/>
            </a:pPr>
            <a:r>
              <a:rPr b="1" i="0" lang="en-US" sz="2025" u="none" cap="none" strike="noStrike">
                <a:solidFill>
                  <a:srgbClr val="FEDDE9"/>
                </a:solidFill>
                <a:latin typeface="Manrope"/>
                <a:ea typeface="Manrope"/>
                <a:cs typeface="Manrope"/>
                <a:sym typeface="Manrope"/>
              </a:rPr>
              <a:t>3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6496050" y="5368380"/>
            <a:ext cx="2776537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7805"/>
              </a:lnSpc>
              <a:spcBef>
                <a:spcPts val="0"/>
              </a:spcBef>
              <a:spcAft>
                <a:spcPts val="0"/>
              </a:spcAft>
              <a:buClr>
                <a:srgbClr val="0F3460"/>
              </a:buClr>
              <a:buSzPts val="2250"/>
              <a:buFont typeface="Manrope"/>
              <a:buNone/>
            </a:pPr>
            <a:r>
              <a:rPr b="1" i="0" lang="en-US" sz="2250" u="none" cap="none" strike="noStrike">
                <a:solidFill>
                  <a:srgbClr val="0F3460"/>
                </a:solidFill>
                <a:latin typeface="Manrope"/>
                <a:ea typeface="Manrope"/>
                <a:cs typeface="Manrope"/>
                <a:sym typeface="Manrope"/>
              </a:rPr>
              <a:t>Oficina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6496050" y="5844630"/>
            <a:ext cx="2600325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875"/>
              <a:buFont typeface="Manrope"/>
              <a:buNone/>
            </a:pPr>
            <a:r>
              <a:rPr b="0" i="0" lang="en-US" sz="1875" u="none" cap="none" strike="noStrike">
                <a:solidFill>
                  <a:srgbClr val="4A4A4A"/>
                </a:solidFill>
                <a:latin typeface="Manrope"/>
                <a:ea typeface="Manrope"/>
                <a:cs typeface="Manrope"/>
                <a:sym typeface="Manrope"/>
              </a:rPr>
              <a:t>Situación de entrevista.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9267825" y="4663530"/>
            <a:ext cx="571500" cy="571500"/>
          </a:xfrm>
          <a:prstGeom prst="ellipse">
            <a:avLst/>
          </a:prstGeom>
          <a:solidFill>
            <a:srgbClr val="0F3460">
              <a:alpha val="9686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9229725" y="4663530"/>
            <a:ext cx="6477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EDDE9"/>
              </a:buClr>
              <a:buSzPts val="2025"/>
              <a:buFont typeface="Manrope"/>
              <a:buNone/>
            </a:pPr>
            <a:r>
              <a:rPr b="1" i="0" lang="en-US" sz="2025" u="none" cap="none" strike="noStrike">
                <a:solidFill>
                  <a:srgbClr val="FEDDE9"/>
                </a:solidFill>
                <a:latin typeface="Manrope"/>
                <a:ea typeface="Manrope"/>
                <a:cs typeface="Manrope"/>
                <a:sym typeface="Manrope"/>
              </a:rPr>
              <a:t>4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9267825" y="5368380"/>
            <a:ext cx="2600325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7805"/>
              </a:lnSpc>
              <a:spcBef>
                <a:spcPts val="0"/>
              </a:spcBef>
              <a:spcAft>
                <a:spcPts val="0"/>
              </a:spcAft>
              <a:buClr>
                <a:srgbClr val="0F3460"/>
              </a:buClr>
              <a:buSzPts val="2250"/>
              <a:buFont typeface="Manrope"/>
              <a:buNone/>
            </a:pPr>
            <a:r>
              <a:rPr b="1" i="0" lang="en-US" sz="2250" u="none" cap="none" strike="noStrike">
                <a:solidFill>
                  <a:srgbClr val="0F3460"/>
                </a:solidFill>
                <a:latin typeface="Manrope"/>
                <a:ea typeface="Manrope"/>
                <a:cs typeface="Manrope"/>
                <a:sym typeface="Manrope"/>
              </a:rPr>
              <a:t>Respiración guiada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9267825" y="6187530"/>
            <a:ext cx="2776537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875"/>
              <a:buFont typeface="Manrope"/>
              <a:buNone/>
            </a:pPr>
            <a:r>
              <a:rPr b="0" i="0" lang="en-US" sz="1875" u="none" cap="none" strike="noStrike">
                <a:solidFill>
                  <a:srgbClr val="4A4A4A"/>
                </a:solidFill>
                <a:latin typeface="Manrope"/>
                <a:ea typeface="Manrope"/>
                <a:cs typeface="Manrope"/>
                <a:sym typeface="Manrope"/>
              </a:rPr>
              <a:t>Ejercicio de anclaje.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12039600" y="4663530"/>
            <a:ext cx="571500" cy="571500"/>
          </a:xfrm>
          <a:prstGeom prst="ellipse">
            <a:avLst/>
          </a:prstGeom>
          <a:solidFill>
            <a:srgbClr val="6E2B4E">
              <a:alpha val="9686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5"/>
          <p:cNvSpPr/>
          <p:nvPr/>
        </p:nvSpPr>
        <p:spPr>
          <a:xfrm>
            <a:off x="12001500" y="4663530"/>
            <a:ext cx="6477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Manrope"/>
              <a:buNone/>
            </a:pPr>
            <a:r>
              <a:rPr b="1" i="0" lang="en-US" sz="2025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5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12039600" y="5368380"/>
            <a:ext cx="2776537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7805"/>
              </a:lnSpc>
              <a:spcBef>
                <a:spcPts val="0"/>
              </a:spcBef>
              <a:spcAft>
                <a:spcPts val="0"/>
              </a:spcAft>
              <a:buClr>
                <a:srgbClr val="0F3460"/>
              </a:buClr>
              <a:buSzPts val="2250"/>
              <a:buFont typeface="Manrope"/>
              <a:buNone/>
            </a:pPr>
            <a:r>
              <a:rPr b="1" i="0" lang="en-US" sz="2250" u="none" cap="none" strike="noStrike">
                <a:solidFill>
                  <a:srgbClr val="0F3460"/>
                </a:solidFill>
                <a:latin typeface="Manrope"/>
                <a:ea typeface="Manrope"/>
                <a:cs typeface="Manrope"/>
                <a:sym typeface="Manrope"/>
              </a:rPr>
              <a:t>Minijuego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12039600" y="5844630"/>
            <a:ext cx="2600325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875"/>
              <a:buFont typeface="Manrope"/>
              <a:buNone/>
            </a:pPr>
            <a:r>
              <a:rPr b="0" i="0" lang="en-US" sz="1875" u="none" cap="none" strike="noStrike">
                <a:solidFill>
                  <a:srgbClr val="4A4A4A"/>
                </a:solidFill>
                <a:latin typeface="Manrope"/>
                <a:ea typeface="Manrope"/>
                <a:cs typeface="Manrope"/>
                <a:sym typeface="Manrope"/>
              </a:rPr>
              <a:t>Recolección de patitos en una sala cozy.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14811375" y="4663530"/>
            <a:ext cx="571500" cy="571500"/>
          </a:xfrm>
          <a:prstGeom prst="ellipse">
            <a:avLst/>
          </a:prstGeom>
          <a:solidFill>
            <a:srgbClr val="6E2B4E">
              <a:alpha val="9686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5"/>
          <p:cNvSpPr/>
          <p:nvPr/>
        </p:nvSpPr>
        <p:spPr>
          <a:xfrm>
            <a:off x="14773275" y="4663530"/>
            <a:ext cx="6477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Manrope"/>
              <a:buNone/>
            </a:pPr>
            <a:r>
              <a:rPr b="1" i="0" lang="en-US" sz="2025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6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14811375" y="5368380"/>
            <a:ext cx="2776537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7805"/>
              </a:lnSpc>
              <a:spcBef>
                <a:spcPts val="0"/>
              </a:spcBef>
              <a:spcAft>
                <a:spcPts val="0"/>
              </a:spcAft>
              <a:buClr>
                <a:srgbClr val="0F3460"/>
              </a:buClr>
              <a:buSzPts val="2250"/>
              <a:buFont typeface="Manrope"/>
              <a:buNone/>
            </a:pPr>
            <a:r>
              <a:rPr b="1" i="0" lang="en-US" sz="2250" u="none" cap="none" strike="noStrike">
                <a:solidFill>
                  <a:srgbClr val="0F3460"/>
                </a:solidFill>
                <a:latin typeface="Manrope"/>
                <a:ea typeface="Manrope"/>
                <a:cs typeface="Manrope"/>
                <a:sym typeface="Manrope"/>
              </a:rPr>
              <a:t>Cierre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14811375" y="5844630"/>
            <a:ext cx="2600325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875"/>
              <a:buFont typeface="Manrope"/>
              <a:buNone/>
            </a:pPr>
            <a:r>
              <a:rPr b="0" i="0" lang="en-US" sz="1875" u="none" cap="none" strike="noStrike">
                <a:solidFill>
                  <a:srgbClr val="4A4A4A"/>
                </a:solidFill>
                <a:latin typeface="Manrope"/>
                <a:ea typeface="Manrope"/>
                <a:cs typeface="Manrope"/>
                <a:sym typeface="Manrope"/>
              </a:rPr>
              <a:t>Fin grato de la experiencia.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952500" y="7054305"/>
            <a:ext cx="8039100" cy="1333500"/>
          </a:xfrm>
          <a:prstGeom prst="rect">
            <a:avLst/>
          </a:prstGeom>
          <a:solidFill>
            <a:srgbClr val="FFFFFF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5"/>
          <p:cNvSpPr/>
          <p:nvPr/>
        </p:nvSpPr>
        <p:spPr>
          <a:xfrm>
            <a:off x="952500" y="7054305"/>
            <a:ext cx="38100" cy="1333500"/>
          </a:xfrm>
          <a:prstGeom prst="rect">
            <a:avLst/>
          </a:prstGeom>
          <a:solidFill>
            <a:srgbClr val="0F3460">
              <a:alpha val="9686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5"/>
          <p:cNvSpPr/>
          <p:nvPr/>
        </p:nvSpPr>
        <p:spPr>
          <a:xfrm>
            <a:off x="1333500" y="7321005"/>
            <a:ext cx="1767587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2B4E"/>
              </a:buClr>
              <a:buSzPts val="1800"/>
              <a:buFont typeface="Manrope"/>
              <a:buNone/>
            </a:pPr>
            <a:r>
              <a:rPr b="1" i="0" lang="en-US" sz="1800" u="none" cap="none" strike="noStrike">
                <a:solidFill>
                  <a:srgbClr val="6E2B4E"/>
                </a:solidFill>
                <a:latin typeface="Manrope"/>
                <a:ea typeface="Manrope"/>
                <a:cs typeface="Manrope"/>
                <a:sym typeface="Manrope"/>
              </a:rPr>
              <a:t>NOSOTRAS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1333500" y="7730580"/>
            <a:ext cx="804672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460"/>
              </a:buClr>
              <a:buSzPts val="2250"/>
              <a:buFont typeface="Manrope"/>
              <a:buNone/>
            </a:pPr>
            <a:r>
              <a:rPr b="1" i="0" lang="en-US" sz="2250" u="none" cap="none" strike="noStrike">
                <a:solidFill>
                  <a:srgbClr val="0F3460"/>
                </a:solidFill>
                <a:latin typeface="Manrope"/>
                <a:ea typeface="Manrope"/>
                <a:cs typeface="Manrope"/>
                <a:sym typeface="Manrope"/>
              </a:rPr>
              <a:t>Desarrollo VR, telemetría y transmisión vía API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9296400" y="7054305"/>
            <a:ext cx="8039100" cy="1333500"/>
          </a:xfrm>
          <a:prstGeom prst="rect">
            <a:avLst/>
          </a:prstGeom>
          <a:solidFill>
            <a:srgbClr val="0F3460">
              <a:alpha val="90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5"/>
          <p:cNvSpPr/>
          <p:nvPr/>
        </p:nvSpPr>
        <p:spPr>
          <a:xfrm>
            <a:off x="9296400" y="7054305"/>
            <a:ext cx="38100" cy="1333500"/>
          </a:xfrm>
          <a:prstGeom prst="rect">
            <a:avLst/>
          </a:prstGeom>
          <a:solidFill>
            <a:srgbClr val="6E2B4E">
              <a:alpha val="9686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5"/>
          <p:cNvSpPr/>
          <p:nvPr/>
        </p:nvSpPr>
        <p:spPr>
          <a:xfrm>
            <a:off x="9677400" y="7321005"/>
            <a:ext cx="219520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2B4E"/>
              </a:buClr>
              <a:buSzPts val="1800"/>
              <a:buFont typeface="Manrope"/>
              <a:buNone/>
            </a:pPr>
            <a:r>
              <a:rPr b="1" i="0" lang="en-US" sz="1800" u="none" cap="none" strike="noStrike">
                <a:solidFill>
                  <a:srgbClr val="6E2B4E"/>
                </a:solidFill>
                <a:latin typeface="Manrope"/>
                <a:ea typeface="Manrope"/>
                <a:cs typeface="Manrope"/>
                <a:sym typeface="Manrope"/>
              </a:rPr>
              <a:t>EQUIPO DE IA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9677400" y="7730580"/>
            <a:ext cx="804672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460"/>
              </a:buClr>
              <a:buSzPts val="2250"/>
              <a:buFont typeface="Manrope"/>
              <a:buNone/>
            </a:pPr>
            <a:r>
              <a:rPr b="1" i="0" lang="en-US" sz="2250" u="none" cap="none" strike="noStrike">
                <a:solidFill>
                  <a:srgbClr val="0F3460"/>
                </a:solidFill>
                <a:latin typeface="Manrope"/>
                <a:ea typeface="Manrope"/>
                <a:cs typeface="Manrope"/>
                <a:sym typeface="Manrope"/>
              </a:rPr>
              <a:t>Modelo, clasificación y dashboard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952500" y="9286875"/>
            <a:ext cx="2992472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B92"/>
              </a:buClr>
              <a:buSzPts val="1800"/>
              <a:buFont typeface="Manrope"/>
              <a:buNone/>
            </a:pPr>
            <a:r>
              <a:rPr b="0" i="0" lang="en-US" sz="1800" u="none" cap="none" strike="noStrike">
                <a:solidFill>
                  <a:srgbClr val="9A8B92"/>
                </a:solidFill>
                <a:latin typeface="Manrope"/>
                <a:ea typeface="Manrope"/>
                <a:cs typeface="Manrope"/>
                <a:sym typeface="Manrope"/>
              </a:rPr>
              <a:t>EmotionLab · Capstone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17042160" y="9286875"/>
            <a:ext cx="36954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B92"/>
              </a:buClr>
              <a:buSzPts val="1800"/>
              <a:buFont typeface="Manrope"/>
              <a:buNone/>
            </a:pPr>
            <a:r>
              <a:rPr b="0" i="0" lang="en-US" sz="1800" u="none" cap="none" strike="noStrike">
                <a:solidFill>
                  <a:srgbClr val="9A8B92"/>
                </a:solidFill>
                <a:latin typeface="Manrope"/>
                <a:ea typeface="Manrope"/>
                <a:cs typeface="Manrope"/>
                <a:sym typeface="Manrope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6F2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6"/>
          <p:cNvSpPr/>
          <p:nvPr/>
        </p:nvSpPr>
        <p:spPr>
          <a:xfrm>
            <a:off x="952500" y="838200"/>
            <a:ext cx="114300" cy="114300"/>
          </a:xfrm>
          <a:prstGeom prst="ellipse">
            <a:avLst/>
          </a:prstGeom>
          <a:solidFill>
            <a:srgbClr val="6E2B4E">
              <a:alpha val="8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6"/>
          <p:cNvSpPr/>
          <p:nvPr/>
        </p:nvSpPr>
        <p:spPr>
          <a:xfrm>
            <a:off x="1257300" y="723900"/>
            <a:ext cx="2769662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2B4E"/>
              </a:buClr>
              <a:buSzPts val="1950"/>
              <a:buFont typeface="Manrope"/>
              <a:buNone/>
            </a:pPr>
            <a:r>
              <a:rPr b="1" i="0" lang="en-US" sz="1950" u="none" cap="none" strike="noStrike">
                <a:solidFill>
                  <a:srgbClr val="6E2B4E"/>
                </a:solidFill>
                <a:latin typeface="Manrope"/>
                <a:ea typeface="Manrope"/>
                <a:cs typeface="Manrope"/>
                <a:sym typeface="Manrope"/>
              </a:rPr>
              <a:t>FACTIBILIDAD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952500" y="1398676"/>
            <a:ext cx="14127480" cy="16838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9266"/>
              </a:lnSpc>
              <a:spcBef>
                <a:spcPts val="0"/>
              </a:spcBef>
              <a:spcAft>
                <a:spcPts val="0"/>
              </a:spcAft>
              <a:buClr>
                <a:srgbClr val="0F3460"/>
              </a:buClr>
              <a:buSzPts val="6000"/>
              <a:buFont typeface="Manrope"/>
              <a:buNone/>
            </a:pPr>
            <a:r>
              <a:rPr b="1" i="0" lang="en-US" sz="6000" u="none" cap="none" strike="noStrike">
                <a:solidFill>
                  <a:srgbClr val="0F3460"/>
                </a:solidFill>
                <a:latin typeface="Manrope"/>
                <a:ea typeface="Manrope"/>
                <a:cs typeface="Manrope"/>
                <a:sym typeface="Manrope"/>
              </a:rPr>
              <a:t>Viable en 13 semanas, con los recursos disponibles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952500" y="3520667"/>
            <a:ext cx="3810000" cy="2208610"/>
          </a:xfrm>
          <a:prstGeom prst="rect">
            <a:avLst/>
          </a:prstGeom>
          <a:solidFill>
            <a:srgbClr val="FEDDE9">
              <a:alpha val="9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6"/>
          <p:cNvSpPr/>
          <p:nvPr/>
        </p:nvSpPr>
        <p:spPr>
          <a:xfrm>
            <a:off x="952500" y="3520667"/>
            <a:ext cx="3810000" cy="38100"/>
          </a:xfrm>
          <a:prstGeom prst="rect">
            <a:avLst/>
          </a:prstGeom>
          <a:solidFill>
            <a:srgbClr val="6E2B4E">
              <a:alpha val="9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6"/>
          <p:cNvSpPr/>
          <p:nvPr/>
        </p:nvSpPr>
        <p:spPr>
          <a:xfrm>
            <a:off x="1238250" y="3825468"/>
            <a:ext cx="356235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8696"/>
              </a:lnSpc>
              <a:spcBef>
                <a:spcPts val="0"/>
              </a:spcBef>
              <a:spcAft>
                <a:spcPts val="0"/>
              </a:spcAft>
              <a:buClr>
                <a:srgbClr val="0F3460"/>
              </a:buClr>
              <a:buSzPts val="2550"/>
              <a:buFont typeface="Manrope"/>
              <a:buNone/>
            </a:pPr>
            <a:r>
              <a:rPr b="1" i="0" lang="en-US" sz="2550" u="none" cap="none" strike="noStrike">
                <a:solidFill>
                  <a:srgbClr val="0F3460"/>
                </a:solidFill>
                <a:latin typeface="Manrope"/>
                <a:ea typeface="Manrope"/>
                <a:cs typeface="Manrope"/>
                <a:sym typeface="Manrope"/>
              </a:rPr>
              <a:t>Equipamiento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1238250" y="4328358"/>
            <a:ext cx="3335655" cy="115654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811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2025"/>
              <a:buFont typeface="Manrope"/>
              <a:buNone/>
            </a:pPr>
            <a:r>
              <a:rPr b="0" i="0" lang="en-US" sz="2025" u="none" cap="none" strike="noStrike">
                <a:solidFill>
                  <a:srgbClr val="4A4A4A"/>
                </a:solidFill>
                <a:latin typeface="Manrope"/>
                <a:ea typeface="Manrope"/>
                <a:cs typeface="Manrope"/>
                <a:sym typeface="Manrope"/>
              </a:rPr>
              <a:t>Visores Meta Quest y equipos de desarrollo disponibles.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5143500" y="3520667"/>
            <a:ext cx="3810000" cy="2208610"/>
          </a:xfrm>
          <a:prstGeom prst="rect">
            <a:avLst/>
          </a:prstGeom>
          <a:solidFill>
            <a:srgbClr val="FEDDE9">
              <a:alpha val="9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6"/>
          <p:cNvSpPr/>
          <p:nvPr/>
        </p:nvSpPr>
        <p:spPr>
          <a:xfrm>
            <a:off x="5143500" y="3520667"/>
            <a:ext cx="3810000" cy="38100"/>
          </a:xfrm>
          <a:prstGeom prst="rect">
            <a:avLst/>
          </a:prstGeom>
          <a:solidFill>
            <a:srgbClr val="6E2B4E">
              <a:alpha val="9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6"/>
          <p:cNvSpPr/>
          <p:nvPr/>
        </p:nvSpPr>
        <p:spPr>
          <a:xfrm>
            <a:off x="5429250" y="3825468"/>
            <a:ext cx="3335655" cy="81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8696"/>
              </a:lnSpc>
              <a:spcBef>
                <a:spcPts val="0"/>
              </a:spcBef>
              <a:spcAft>
                <a:spcPts val="0"/>
              </a:spcAft>
              <a:buClr>
                <a:srgbClr val="0F3460"/>
              </a:buClr>
              <a:buSzPts val="2550"/>
              <a:buFont typeface="Manrope"/>
              <a:buNone/>
            </a:pPr>
            <a:r>
              <a:rPr b="1" i="0" lang="en-US" sz="2550" u="none" cap="none" strike="noStrike">
                <a:solidFill>
                  <a:srgbClr val="0F3460"/>
                </a:solidFill>
                <a:latin typeface="Manrope"/>
                <a:ea typeface="Manrope"/>
                <a:cs typeface="Manrope"/>
                <a:sym typeface="Manrope"/>
              </a:rPr>
              <a:t>Respaldo institucional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5429250" y="4716948"/>
            <a:ext cx="3335655" cy="7837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811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2025"/>
              <a:buFont typeface="Manrope"/>
              <a:buNone/>
            </a:pPr>
            <a:r>
              <a:rPr b="0" i="0" lang="en-US" sz="2025" u="none" cap="none" strike="noStrike">
                <a:solidFill>
                  <a:srgbClr val="4A4A4A"/>
                </a:solidFill>
                <a:latin typeface="Manrope"/>
                <a:ea typeface="Manrope"/>
                <a:cs typeface="Manrope"/>
                <a:sym typeface="Manrope"/>
              </a:rPr>
              <a:t>Duoc UC y el colegio que recibe la intervención.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9334500" y="3520667"/>
            <a:ext cx="3810000" cy="2208610"/>
          </a:xfrm>
          <a:prstGeom prst="rect">
            <a:avLst/>
          </a:prstGeom>
          <a:solidFill>
            <a:srgbClr val="FEDDE9">
              <a:alpha val="9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6"/>
          <p:cNvSpPr/>
          <p:nvPr/>
        </p:nvSpPr>
        <p:spPr>
          <a:xfrm>
            <a:off x="9334500" y="3520667"/>
            <a:ext cx="3810000" cy="38100"/>
          </a:xfrm>
          <a:prstGeom prst="rect">
            <a:avLst/>
          </a:prstGeom>
          <a:solidFill>
            <a:srgbClr val="6E2B4E">
              <a:alpha val="9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6"/>
          <p:cNvSpPr/>
          <p:nvPr/>
        </p:nvSpPr>
        <p:spPr>
          <a:xfrm>
            <a:off x="9620250" y="3825468"/>
            <a:ext cx="356235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8696"/>
              </a:lnSpc>
              <a:spcBef>
                <a:spcPts val="0"/>
              </a:spcBef>
              <a:spcAft>
                <a:spcPts val="0"/>
              </a:spcAft>
              <a:buClr>
                <a:srgbClr val="0F3460"/>
              </a:buClr>
              <a:buSzPts val="2550"/>
              <a:buFont typeface="Manrope"/>
              <a:buNone/>
            </a:pPr>
            <a:r>
              <a:rPr b="1" i="0" lang="en-US" sz="2550" u="none" cap="none" strike="noStrike">
                <a:solidFill>
                  <a:srgbClr val="0F3460"/>
                </a:solidFill>
                <a:latin typeface="Manrope"/>
                <a:ea typeface="Manrope"/>
                <a:cs typeface="Manrope"/>
                <a:sym typeface="Manrope"/>
              </a:rPr>
              <a:t>Equipo y alcance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9620250" y="4328358"/>
            <a:ext cx="3335655" cy="115654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811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2025"/>
              <a:buFont typeface="Manrope"/>
              <a:buNone/>
            </a:pPr>
            <a:r>
              <a:rPr b="0" i="0" lang="en-US" sz="2025" u="none" cap="none" strike="noStrike">
                <a:solidFill>
                  <a:srgbClr val="4A4A4A"/>
                </a:solidFill>
                <a:latin typeface="Manrope"/>
                <a:ea typeface="Manrope"/>
                <a:cs typeface="Manrope"/>
                <a:sym typeface="Manrope"/>
              </a:rPr>
              <a:t>Tres roles complementarios y un alcance acotado.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13525500" y="3520667"/>
            <a:ext cx="3810000" cy="2208610"/>
          </a:xfrm>
          <a:prstGeom prst="rect">
            <a:avLst/>
          </a:prstGeom>
          <a:solidFill>
            <a:srgbClr val="FEDDE9">
              <a:alpha val="9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6"/>
          <p:cNvSpPr/>
          <p:nvPr/>
        </p:nvSpPr>
        <p:spPr>
          <a:xfrm>
            <a:off x="13525500" y="3520667"/>
            <a:ext cx="3810000" cy="38100"/>
          </a:xfrm>
          <a:prstGeom prst="rect">
            <a:avLst/>
          </a:prstGeom>
          <a:solidFill>
            <a:srgbClr val="6E2B4E">
              <a:alpha val="9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6"/>
          <p:cNvSpPr/>
          <p:nvPr/>
        </p:nvSpPr>
        <p:spPr>
          <a:xfrm>
            <a:off x="13811250" y="3825468"/>
            <a:ext cx="356235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8696"/>
              </a:lnSpc>
              <a:spcBef>
                <a:spcPts val="0"/>
              </a:spcBef>
              <a:spcAft>
                <a:spcPts val="0"/>
              </a:spcAft>
              <a:buClr>
                <a:srgbClr val="0F3460"/>
              </a:buClr>
              <a:buSzPts val="2550"/>
              <a:buFont typeface="Manrope"/>
              <a:buNone/>
            </a:pPr>
            <a:r>
              <a:rPr b="1" i="0" lang="en-US" sz="2550" u="none" cap="none" strike="noStrike">
                <a:solidFill>
                  <a:srgbClr val="0F3460"/>
                </a:solidFill>
                <a:latin typeface="Manrope"/>
                <a:ea typeface="Manrope"/>
                <a:cs typeface="Manrope"/>
                <a:sym typeface="Manrope"/>
              </a:rPr>
              <a:t>Base existente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13811250" y="4328358"/>
            <a:ext cx="3335655" cy="7837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811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2025"/>
              <a:buFont typeface="Manrope"/>
              <a:buNone/>
            </a:pPr>
            <a:r>
              <a:rPr b="0" i="0" lang="en-US" sz="2025" u="none" cap="none" strike="noStrike">
                <a:solidFill>
                  <a:srgbClr val="4A4A4A"/>
                </a:solidFill>
                <a:latin typeface="Manrope"/>
                <a:ea typeface="Manrope"/>
                <a:cs typeface="Manrope"/>
                <a:sym typeface="Manrope"/>
              </a:rPr>
              <a:t>Partimos desde un proyecto ya desarrollado.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952500" y="6205527"/>
            <a:ext cx="7981950" cy="2857500"/>
          </a:xfrm>
          <a:prstGeom prst="rect">
            <a:avLst/>
          </a:prstGeom>
          <a:solidFill>
            <a:srgbClr val="F3E6EC">
              <a:alpha val="9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6"/>
          <p:cNvSpPr/>
          <p:nvPr/>
        </p:nvSpPr>
        <p:spPr>
          <a:xfrm>
            <a:off x="952500" y="6205527"/>
            <a:ext cx="7981950" cy="38100"/>
          </a:xfrm>
          <a:prstGeom prst="rect">
            <a:avLst/>
          </a:prstGeom>
          <a:solidFill>
            <a:srgbClr val="B07F96">
              <a:alpha val="9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6"/>
          <p:cNvSpPr/>
          <p:nvPr/>
        </p:nvSpPr>
        <p:spPr>
          <a:xfrm>
            <a:off x="1333500" y="6567477"/>
            <a:ext cx="7941945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2B4E"/>
              </a:buClr>
              <a:buSzPts val="1800"/>
              <a:buFont typeface="Manrope"/>
              <a:buNone/>
            </a:pPr>
            <a:r>
              <a:rPr b="1" i="0" lang="en-US" sz="1800" u="none" cap="none" strike="noStrike">
                <a:solidFill>
                  <a:srgbClr val="6E2B4E"/>
                </a:solidFill>
                <a:latin typeface="Manrope"/>
                <a:ea typeface="Manrope"/>
                <a:cs typeface="Manrope"/>
                <a:sym typeface="Manrope"/>
              </a:rPr>
              <a:t>PUNTO CRÍTICO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1333500" y="6996102"/>
            <a:ext cx="7941945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1837"/>
              </a:lnSpc>
              <a:spcBef>
                <a:spcPts val="0"/>
              </a:spcBef>
              <a:spcAft>
                <a:spcPts val="0"/>
              </a:spcAft>
              <a:buClr>
                <a:srgbClr val="0F3460"/>
              </a:buClr>
              <a:buSzPts val="2700"/>
              <a:buFont typeface="Manrope"/>
              <a:buNone/>
            </a:pPr>
            <a:r>
              <a:rPr b="1" i="0" lang="en-US" sz="2700" u="none" cap="none" strike="noStrike">
                <a:solidFill>
                  <a:srgbClr val="0F3460"/>
                </a:solidFill>
                <a:latin typeface="Manrope"/>
                <a:ea typeface="Manrope"/>
                <a:cs typeface="Manrope"/>
                <a:sym typeface="Manrope"/>
              </a:rPr>
              <a:t>Resguardo de los datos de los estudiantes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1333500" y="7539027"/>
            <a:ext cx="7436549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9459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2025"/>
              <a:buFont typeface="Manrope"/>
              <a:buNone/>
            </a:pPr>
            <a:r>
              <a:rPr b="0" i="0" lang="en-US" sz="2025" u="none" cap="none" strike="noStrike">
                <a:solidFill>
                  <a:srgbClr val="4A4A4A"/>
                </a:solidFill>
                <a:latin typeface="Manrope"/>
                <a:ea typeface="Manrope"/>
                <a:cs typeface="Manrope"/>
                <a:sym typeface="Manrope"/>
              </a:rPr>
              <a:t>Trabajamos con adolescentes, por lo que el manejo de su información exige un estándar alto.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9353550" y="6205527"/>
            <a:ext cx="7981950" cy="2857500"/>
          </a:xfrm>
          <a:prstGeom prst="rect">
            <a:avLst/>
          </a:prstGeom>
          <a:solidFill>
            <a:srgbClr val="0F3460">
              <a:alpha val="9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6"/>
          <p:cNvSpPr/>
          <p:nvPr/>
        </p:nvSpPr>
        <p:spPr>
          <a:xfrm>
            <a:off x="9353550" y="6205527"/>
            <a:ext cx="7981950" cy="38100"/>
          </a:xfrm>
          <a:prstGeom prst="rect">
            <a:avLst/>
          </a:prstGeom>
          <a:solidFill>
            <a:srgbClr val="E8A0B8">
              <a:alpha val="9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"/>
          <p:cNvSpPr/>
          <p:nvPr/>
        </p:nvSpPr>
        <p:spPr>
          <a:xfrm>
            <a:off x="9734550" y="6567477"/>
            <a:ext cx="7941945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0B8"/>
              </a:buClr>
              <a:buSzPts val="1800"/>
              <a:buFont typeface="Manrope"/>
              <a:buNone/>
            </a:pPr>
            <a:r>
              <a:rPr b="1" i="0" lang="en-US" sz="1800" u="none" cap="none" strike="noStrike">
                <a:solidFill>
                  <a:srgbClr val="E8A0B8"/>
                </a:solidFill>
                <a:latin typeface="Manrope"/>
                <a:ea typeface="Manrope"/>
                <a:cs typeface="Manrope"/>
                <a:sym typeface="Manrope"/>
              </a:rPr>
              <a:t>CÓMO LO ABORDAMOS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9734550" y="6996102"/>
            <a:ext cx="7436549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183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Manrope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Anonimización, cifrado y consentimientos informados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9734550" y="7967652"/>
            <a:ext cx="7436549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9459"/>
              </a:lnSpc>
              <a:spcBef>
                <a:spcPts val="0"/>
              </a:spcBef>
              <a:spcAft>
                <a:spcPts val="0"/>
              </a:spcAft>
              <a:buClr>
                <a:srgbClr val="F2D3E0"/>
              </a:buClr>
              <a:buSzPts val="2025"/>
              <a:buFont typeface="Manrope"/>
              <a:buNone/>
            </a:pPr>
            <a:r>
              <a:rPr b="0" i="0" lang="en-US" sz="2025" u="none" cap="none" strike="noStrike">
                <a:solidFill>
                  <a:srgbClr val="F2D3E0"/>
                </a:solidFill>
                <a:latin typeface="Manrope"/>
                <a:ea typeface="Manrope"/>
                <a:cs typeface="Manrope"/>
                <a:sym typeface="Manrope"/>
              </a:rPr>
              <a:t>Ningún dato identifica a un estudiante y cada participación cuenta con la autorización de su apoderado.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952500" y="9363075"/>
            <a:ext cx="2992472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Manrope"/>
              <a:buNone/>
            </a:pPr>
            <a:r>
              <a:rPr b="0" i="0" lang="en-US" sz="1800" u="none" cap="none" strike="noStrike">
                <a:solidFill>
                  <a:srgbClr val="8C8C8C"/>
                </a:solidFill>
                <a:latin typeface="Manrope"/>
                <a:ea typeface="Manrope"/>
                <a:cs typeface="Manrope"/>
                <a:sym typeface="Manrope"/>
              </a:rPr>
              <a:t>EmotionLab · Capstone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17033825" y="9363075"/>
            <a:ext cx="377875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Manrope"/>
              <a:buNone/>
            </a:pPr>
            <a:r>
              <a:rPr b="0" i="0" lang="en-US" sz="1800" u="none" cap="none" strike="noStrike">
                <a:solidFill>
                  <a:srgbClr val="8C8C8C"/>
                </a:solidFill>
                <a:latin typeface="Manrope"/>
                <a:ea typeface="Manrope"/>
                <a:cs typeface="Manrope"/>
                <a:sym typeface="Manrope"/>
              </a:rPr>
              <a:t>04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DDE9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"/>
          <p:cNvSpPr/>
          <p:nvPr/>
        </p:nvSpPr>
        <p:spPr>
          <a:xfrm>
            <a:off x="12926027" y="-2694973"/>
            <a:ext cx="8056945" cy="8056945"/>
          </a:xfrm>
          <a:prstGeom prst="ellipse">
            <a:avLst/>
          </a:prstGeom>
          <a:gradFill>
            <a:gsLst>
              <a:gs pos="0">
                <a:srgbClr val="E82D7D">
                  <a:alpha val="12941"/>
                </a:srgbClr>
              </a:gs>
              <a:gs pos="70000">
                <a:srgbClr val="E82D7D">
                  <a:alpha val="0"/>
                </a:srgbClr>
              </a:gs>
              <a:gs pos="100000">
                <a:srgbClr val="E82D7D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7"/>
          <p:cNvSpPr/>
          <p:nvPr/>
        </p:nvSpPr>
        <p:spPr>
          <a:xfrm>
            <a:off x="952500" y="914400"/>
            <a:ext cx="114300" cy="114300"/>
          </a:xfrm>
          <a:prstGeom prst="ellipse">
            <a:avLst/>
          </a:prstGeom>
          <a:solidFill>
            <a:srgbClr val="6E2B4E">
              <a:alpha val="8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7"/>
          <p:cNvSpPr/>
          <p:nvPr/>
        </p:nvSpPr>
        <p:spPr>
          <a:xfrm>
            <a:off x="1257300" y="800100"/>
            <a:ext cx="2201257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2B4E"/>
              </a:buClr>
              <a:buSzPts val="1950"/>
              <a:buFont typeface="Manrope"/>
              <a:buNone/>
            </a:pPr>
            <a:r>
              <a:rPr b="1" i="0" lang="en-US" sz="1950" u="none" cap="none" strike="noStrike">
                <a:solidFill>
                  <a:srgbClr val="6E2B4E"/>
                </a:solidFill>
                <a:latin typeface="Manrope"/>
                <a:ea typeface="Manrope"/>
                <a:cs typeface="Manrope"/>
                <a:sym typeface="Manrope"/>
              </a:rPr>
              <a:t>OBJETIVOS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952500" y="1437237"/>
            <a:ext cx="16383000" cy="3538389"/>
          </a:xfrm>
          <a:prstGeom prst="rect">
            <a:avLst/>
          </a:prstGeom>
          <a:solidFill>
            <a:srgbClr val="FFFFFF">
              <a:alpha val="7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7"/>
          <p:cNvSpPr/>
          <p:nvPr/>
        </p:nvSpPr>
        <p:spPr>
          <a:xfrm>
            <a:off x="952500" y="1437237"/>
            <a:ext cx="47625" cy="3538389"/>
          </a:xfrm>
          <a:prstGeom prst="rect">
            <a:avLst/>
          </a:prstGeom>
          <a:solidFill>
            <a:srgbClr val="0F3460">
              <a:alpha val="9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7"/>
          <p:cNvSpPr/>
          <p:nvPr/>
        </p:nvSpPr>
        <p:spPr>
          <a:xfrm>
            <a:off x="1438275" y="1742037"/>
            <a:ext cx="333119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2B4E"/>
              </a:buClr>
              <a:buSzPts val="1800"/>
              <a:buFont typeface="Manrope"/>
              <a:buNone/>
            </a:pPr>
            <a:r>
              <a:rPr b="1" i="0" lang="en-US" sz="1800" u="none" cap="none" strike="noStrike">
                <a:solidFill>
                  <a:srgbClr val="6E2B4E"/>
                </a:solidFill>
                <a:latin typeface="Manrope"/>
                <a:ea typeface="Manrope"/>
                <a:cs typeface="Manrope"/>
                <a:sym typeface="Manrope"/>
              </a:rPr>
              <a:t>OBJETIVO GENERAL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1438275" y="2227812"/>
            <a:ext cx="15922847" cy="248111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8654"/>
              </a:lnSpc>
              <a:spcBef>
                <a:spcPts val="0"/>
              </a:spcBef>
              <a:spcAft>
                <a:spcPts val="0"/>
              </a:spcAft>
              <a:buClr>
                <a:srgbClr val="0F3460"/>
              </a:buClr>
              <a:buSzPts val="2850"/>
              <a:buFont typeface="Manrope"/>
              <a:buNone/>
            </a:pPr>
            <a:r>
              <a:rPr b="1" i="0" lang="en-US" sz="2850" u="none" cap="none" strike="noStrike">
                <a:solidFill>
                  <a:srgbClr val="0F3460"/>
                </a:solidFill>
                <a:latin typeface="Manrope"/>
                <a:ea typeface="Manrope"/>
                <a:cs typeface="Manrope"/>
                <a:sym typeface="Manrope"/>
              </a:rPr>
              <a:t>Diseñar y desarrollar una experiencia de realidad virtual para la regulación emocional de estudiantes de enseñanza media frente a situaciones de exposición o entrevista, junto con la arquitectura que captura y transmite los datos comportamentales al equipo de IA, encargado de clasificarlos y generar los insights que apoyan la toma de decisiones del docente o psicopedagogo.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952500" y="5432825"/>
            <a:ext cx="419100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2B4E"/>
              </a:buClr>
              <a:buSzPts val="1800"/>
              <a:buFont typeface="Manrope"/>
              <a:buNone/>
            </a:pPr>
            <a:r>
              <a:rPr b="1" i="0" lang="en-US" sz="1800" u="none" cap="none" strike="noStrike">
                <a:solidFill>
                  <a:srgbClr val="6E2B4E"/>
                </a:solidFill>
                <a:latin typeface="Manrope"/>
                <a:ea typeface="Manrope"/>
                <a:cs typeface="Manrope"/>
                <a:sym typeface="Manrope"/>
              </a:rPr>
              <a:t>O1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952500" y="5880500"/>
            <a:ext cx="3523577" cy="28575"/>
          </a:xfrm>
          <a:prstGeom prst="rect">
            <a:avLst/>
          </a:prstGeom>
          <a:solidFill>
            <a:srgbClr val="B07F96">
              <a:alpha val="9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7"/>
          <p:cNvSpPr/>
          <p:nvPr/>
        </p:nvSpPr>
        <p:spPr>
          <a:xfrm>
            <a:off x="952500" y="6118625"/>
            <a:ext cx="4191000" cy="4429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2391"/>
              </a:lnSpc>
              <a:spcBef>
                <a:spcPts val="0"/>
              </a:spcBef>
              <a:spcAft>
                <a:spcPts val="0"/>
              </a:spcAft>
              <a:buClr>
                <a:srgbClr val="0F3460"/>
              </a:buClr>
              <a:buSzPts val="2550"/>
              <a:buFont typeface="Manrope"/>
              <a:buNone/>
            </a:pPr>
            <a:r>
              <a:rPr b="1" i="0" lang="en-US" sz="2550" u="none" cap="none" strike="noStrike">
                <a:solidFill>
                  <a:srgbClr val="0F3460"/>
                </a:solidFill>
                <a:latin typeface="Manrope"/>
                <a:ea typeface="Manrope"/>
                <a:cs typeface="Manrope"/>
                <a:sym typeface="Manrope"/>
              </a:rPr>
              <a:t>Diseñar la experiencia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952500" y="6656788"/>
            <a:ext cx="3924300" cy="7837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811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2025"/>
              <a:buFont typeface="Manrope"/>
              <a:buNone/>
            </a:pPr>
            <a:r>
              <a:rPr b="0" i="0" lang="en-US" sz="2025" u="none" cap="none" strike="noStrike">
                <a:solidFill>
                  <a:srgbClr val="4A4A4A"/>
                </a:solidFill>
                <a:latin typeface="Manrope"/>
                <a:ea typeface="Manrope"/>
                <a:cs typeface="Manrope"/>
                <a:sym typeface="Manrope"/>
              </a:rPr>
              <a:t>Escenarios, recorrido y gamificación.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5143500" y="5432825"/>
            <a:ext cx="419100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2B4E"/>
              </a:buClr>
              <a:buSzPts val="1800"/>
              <a:buFont typeface="Manrope"/>
              <a:buNone/>
            </a:pPr>
            <a:r>
              <a:rPr b="1" i="0" lang="en-US" sz="1800" u="none" cap="none" strike="noStrike">
                <a:solidFill>
                  <a:srgbClr val="6E2B4E"/>
                </a:solidFill>
                <a:latin typeface="Manrope"/>
                <a:ea typeface="Manrope"/>
                <a:cs typeface="Manrope"/>
                <a:sym typeface="Manrope"/>
              </a:rPr>
              <a:t>O2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5143500" y="5880500"/>
            <a:ext cx="3523577" cy="28575"/>
          </a:xfrm>
          <a:prstGeom prst="rect">
            <a:avLst/>
          </a:prstGeom>
          <a:solidFill>
            <a:srgbClr val="B07F96">
              <a:alpha val="9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7"/>
          <p:cNvSpPr/>
          <p:nvPr/>
        </p:nvSpPr>
        <p:spPr>
          <a:xfrm>
            <a:off x="5143500" y="6118625"/>
            <a:ext cx="3924300" cy="847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2391"/>
              </a:lnSpc>
              <a:spcBef>
                <a:spcPts val="0"/>
              </a:spcBef>
              <a:spcAft>
                <a:spcPts val="0"/>
              </a:spcAft>
              <a:buClr>
                <a:srgbClr val="0F3460"/>
              </a:buClr>
              <a:buSzPts val="2550"/>
              <a:buFont typeface="Manrope"/>
              <a:buNone/>
            </a:pPr>
            <a:r>
              <a:rPr b="1" i="0" lang="en-US" sz="2550" u="none" cap="none" strike="noStrike">
                <a:solidFill>
                  <a:srgbClr val="0F3460"/>
                </a:solidFill>
                <a:latin typeface="Manrope"/>
                <a:ea typeface="Manrope"/>
                <a:cs typeface="Manrope"/>
                <a:sym typeface="Manrope"/>
              </a:rPr>
              <a:t>Construir la arquitectura de datos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5143500" y="7061600"/>
            <a:ext cx="4191000" cy="41091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811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2025"/>
              <a:buFont typeface="Manrope"/>
              <a:buNone/>
            </a:pPr>
            <a:r>
              <a:rPr b="0" i="0" lang="en-US" sz="2025" u="none" cap="none" strike="noStrike">
                <a:solidFill>
                  <a:srgbClr val="4A4A4A"/>
                </a:solidFill>
                <a:latin typeface="Manrope"/>
                <a:ea typeface="Manrope"/>
                <a:cs typeface="Manrope"/>
                <a:sym typeface="Manrope"/>
              </a:rPr>
              <a:t>Captura y transmisión a la nube.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9334500" y="5432825"/>
            <a:ext cx="419100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2B4E"/>
              </a:buClr>
              <a:buSzPts val="1800"/>
              <a:buFont typeface="Manrope"/>
              <a:buNone/>
            </a:pPr>
            <a:r>
              <a:rPr b="1" i="0" lang="en-US" sz="1800" u="none" cap="none" strike="noStrike">
                <a:solidFill>
                  <a:srgbClr val="6E2B4E"/>
                </a:solidFill>
                <a:latin typeface="Manrope"/>
                <a:ea typeface="Manrope"/>
                <a:cs typeface="Manrope"/>
                <a:sym typeface="Manrope"/>
              </a:rPr>
              <a:t>O3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9334500" y="5880500"/>
            <a:ext cx="3523577" cy="28575"/>
          </a:xfrm>
          <a:prstGeom prst="rect">
            <a:avLst/>
          </a:prstGeom>
          <a:solidFill>
            <a:srgbClr val="B07F96">
              <a:alpha val="9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7"/>
          <p:cNvSpPr/>
          <p:nvPr/>
        </p:nvSpPr>
        <p:spPr>
          <a:xfrm>
            <a:off x="9334500" y="6118625"/>
            <a:ext cx="3924300" cy="847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2391"/>
              </a:lnSpc>
              <a:spcBef>
                <a:spcPts val="0"/>
              </a:spcBef>
              <a:spcAft>
                <a:spcPts val="0"/>
              </a:spcAft>
              <a:buClr>
                <a:srgbClr val="0F3460"/>
              </a:buClr>
              <a:buSzPts val="2550"/>
              <a:buFont typeface="Manrope"/>
              <a:buNone/>
            </a:pPr>
            <a:r>
              <a:rPr b="1" i="0" lang="en-US" sz="2550" u="none" cap="none" strike="noStrike">
                <a:solidFill>
                  <a:srgbClr val="0F3460"/>
                </a:solidFill>
                <a:latin typeface="Manrope"/>
                <a:ea typeface="Manrope"/>
                <a:cs typeface="Manrope"/>
                <a:sym typeface="Manrope"/>
              </a:rPr>
              <a:t>Ejecutar las pruebas de campo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9334500" y="7061600"/>
            <a:ext cx="4191000" cy="41091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811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2025"/>
              <a:buFont typeface="Manrope"/>
              <a:buNone/>
            </a:pPr>
            <a:r>
              <a:rPr b="0" i="0" lang="en-US" sz="2025" u="none" cap="none" strike="noStrike">
                <a:solidFill>
                  <a:srgbClr val="4A4A4A"/>
                </a:solidFill>
                <a:latin typeface="Manrope"/>
                <a:ea typeface="Manrope"/>
                <a:cs typeface="Manrope"/>
                <a:sym typeface="Manrope"/>
              </a:rPr>
              <a:t>Sesiones en el colegio.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13525500" y="5432825"/>
            <a:ext cx="419100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2B4E"/>
              </a:buClr>
              <a:buSzPts val="1800"/>
              <a:buFont typeface="Manrope"/>
              <a:buNone/>
            </a:pPr>
            <a:r>
              <a:rPr b="1" i="0" lang="en-US" sz="1800" u="none" cap="none" strike="noStrike">
                <a:solidFill>
                  <a:srgbClr val="6E2B4E"/>
                </a:solidFill>
                <a:latin typeface="Manrope"/>
                <a:ea typeface="Manrope"/>
                <a:cs typeface="Manrope"/>
                <a:sym typeface="Manrope"/>
              </a:rPr>
              <a:t>O4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13525500" y="5880500"/>
            <a:ext cx="3523577" cy="28575"/>
          </a:xfrm>
          <a:prstGeom prst="rect">
            <a:avLst/>
          </a:prstGeom>
          <a:solidFill>
            <a:srgbClr val="B07F96">
              <a:alpha val="9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7"/>
          <p:cNvSpPr/>
          <p:nvPr/>
        </p:nvSpPr>
        <p:spPr>
          <a:xfrm>
            <a:off x="13525500" y="6118625"/>
            <a:ext cx="3924300" cy="847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2391"/>
              </a:lnSpc>
              <a:spcBef>
                <a:spcPts val="0"/>
              </a:spcBef>
              <a:spcAft>
                <a:spcPts val="0"/>
              </a:spcAft>
              <a:buClr>
                <a:srgbClr val="0F3460"/>
              </a:buClr>
              <a:buSzPts val="2550"/>
              <a:buFont typeface="Manrope"/>
              <a:buNone/>
            </a:pPr>
            <a:r>
              <a:rPr b="1" i="0" lang="en-US" sz="2550" u="none" cap="none" strike="noStrike">
                <a:solidFill>
                  <a:srgbClr val="0F3460"/>
                </a:solidFill>
                <a:latin typeface="Manrope"/>
                <a:ea typeface="Manrope"/>
                <a:cs typeface="Manrope"/>
                <a:sym typeface="Manrope"/>
              </a:rPr>
              <a:t>Resguardar la privacidad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13525500" y="7061600"/>
            <a:ext cx="3924300" cy="7837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811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2025"/>
              <a:buFont typeface="Manrope"/>
              <a:buNone/>
            </a:pPr>
            <a:r>
              <a:rPr b="0" i="0" lang="en-US" sz="2025" u="none" cap="none" strike="noStrike">
                <a:solidFill>
                  <a:srgbClr val="4A4A4A"/>
                </a:solidFill>
                <a:latin typeface="Manrope"/>
                <a:ea typeface="Manrope"/>
                <a:cs typeface="Manrope"/>
                <a:sym typeface="Manrope"/>
              </a:rPr>
              <a:t>Anonimización y consentimientos.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952500" y="8226329"/>
            <a:ext cx="16383000" cy="895350"/>
          </a:xfrm>
          <a:prstGeom prst="rect">
            <a:avLst/>
          </a:prstGeom>
          <a:solidFill>
            <a:srgbClr val="0F3460">
              <a:alpha val="9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"/>
          <p:cNvSpPr/>
          <p:nvPr/>
        </p:nvSpPr>
        <p:spPr>
          <a:xfrm>
            <a:off x="1738313" y="8473979"/>
            <a:ext cx="6050265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EDDE9"/>
              </a:buClr>
              <a:buSzPts val="2325"/>
              <a:buFont typeface="Manrope"/>
              <a:buNone/>
            </a:pPr>
            <a:r>
              <a:rPr b="1" i="0" lang="en-US" sz="2325" u="none" cap="none" strike="noStrike">
                <a:solidFill>
                  <a:srgbClr val="FEDDE9"/>
                </a:solidFill>
                <a:latin typeface="Manrope"/>
                <a:ea typeface="Manrope"/>
                <a:cs typeface="Manrope"/>
                <a:sym typeface="Manrope"/>
              </a:rPr>
              <a:t>O1 + O2 + O3 + O4 = nuestro entregable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7467154" y="8483504"/>
            <a:ext cx="9990787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BFD0"/>
              </a:buClr>
              <a:buSzPts val="2175"/>
              <a:buFont typeface="Manrope"/>
              <a:buNone/>
            </a:pPr>
            <a:r>
              <a:rPr b="0" i="0" lang="en-US" sz="2175" u="none" cap="none" strike="noStrike">
                <a:solidFill>
                  <a:srgbClr val="E8BFD0"/>
                </a:solidFill>
                <a:latin typeface="Manrope"/>
                <a:ea typeface="Manrope"/>
                <a:cs typeface="Manrope"/>
                <a:sym typeface="Manrope"/>
              </a:rPr>
              <a:t>experiencia VR probada en aula y arquitectura lista para el acoplamiento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952500" y="9437043"/>
            <a:ext cx="2992472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B92"/>
              </a:buClr>
              <a:buSzPts val="1800"/>
              <a:buFont typeface="Manrope"/>
              <a:buNone/>
            </a:pPr>
            <a:r>
              <a:rPr b="0" i="0" lang="en-US" sz="1800" u="none" cap="none" strike="noStrike">
                <a:solidFill>
                  <a:srgbClr val="9A8B92"/>
                </a:solidFill>
                <a:latin typeface="Manrope"/>
                <a:ea typeface="Manrope"/>
                <a:cs typeface="Manrope"/>
                <a:sym typeface="Manrope"/>
              </a:rPr>
              <a:t>EmotionLab · Capstone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17036504" y="9437043"/>
            <a:ext cx="375196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B92"/>
              </a:buClr>
              <a:buSzPts val="1800"/>
              <a:buFont typeface="Manrope"/>
              <a:buNone/>
            </a:pPr>
            <a:r>
              <a:rPr b="0" i="0" lang="en-US" sz="1800" u="none" cap="none" strike="noStrike">
                <a:solidFill>
                  <a:srgbClr val="9A8B92"/>
                </a:solidFill>
                <a:latin typeface="Manrope"/>
                <a:ea typeface="Manrope"/>
                <a:cs typeface="Manrope"/>
                <a:sym typeface="Manrope"/>
              </a:rPr>
              <a:t>05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6F2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8"/>
          <p:cNvSpPr/>
          <p:nvPr/>
        </p:nvSpPr>
        <p:spPr>
          <a:xfrm>
            <a:off x="952500" y="838200"/>
            <a:ext cx="114300" cy="114300"/>
          </a:xfrm>
          <a:prstGeom prst="ellipse">
            <a:avLst/>
          </a:prstGeom>
          <a:solidFill>
            <a:srgbClr val="6E2B4E">
              <a:alpha val="8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8"/>
          <p:cNvSpPr/>
          <p:nvPr/>
        </p:nvSpPr>
        <p:spPr>
          <a:xfrm>
            <a:off x="1257300" y="723900"/>
            <a:ext cx="6366391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2B4E"/>
              </a:buClr>
              <a:buSzPts val="1950"/>
              <a:buFont typeface="Manrope"/>
              <a:buNone/>
            </a:pPr>
            <a:r>
              <a:rPr b="1" i="0" lang="en-US" sz="1950" u="none" cap="none" strike="noStrike">
                <a:solidFill>
                  <a:srgbClr val="6E2B4E"/>
                </a:solidFill>
                <a:latin typeface="Manrope"/>
                <a:ea typeface="Manrope"/>
                <a:cs typeface="Manrope"/>
                <a:sym typeface="Manrope"/>
              </a:rPr>
              <a:t>ARQUITECTURA Y TECNOLOGÍAS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952500" y="1399137"/>
            <a:ext cx="13735050" cy="16016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8923"/>
              </a:lnSpc>
              <a:spcBef>
                <a:spcPts val="0"/>
              </a:spcBef>
              <a:spcAft>
                <a:spcPts val="0"/>
              </a:spcAft>
              <a:buClr>
                <a:srgbClr val="0F3460"/>
              </a:buClr>
              <a:buSzPts val="5700"/>
              <a:buFont typeface="Manrope"/>
              <a:buNone/>
            </a:pPr>
            <a:r>
              <a:rPr b="1" i="0" lang="en-US" sz="5700" u="none" cap="none" strike="noStrike">
                <a:solidFill>
                  <a:srgbClr val="0F3460"/>
                </a:solidFill>
                <a:latin typeface="Manrope"/>
                <a:ea typeface="Manrope"/>
                <a:cs typeface="Manrope"/>
                <a:sym typeface="Manrope"/>
              </a:rPr>
              <a:t>Del visor a la nube, hasta el punto de acoplamiento</a:t>
            </a:r>
            <a:endParaRPr b="0" i="0" sz="5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952500" y="3458025"/>
            <a:ext cx="1060192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2B4E"/>
              </a:buClr>
              <a:buSzPts val="1800"/>
              <a:buFont typeface="Manrope"/>
              <a:buNone/>
            </a:pPr>
            <a:r>
              <a:rPr b="1" i="0" lang="en-US" sz="1800" u="none" cap="none" strike="noStrike">
                <a:solidFill>
                  <a:srgbClr val="6E2B4E"/>
                </a:solidFill>
                <a:latin typeface="Manrope"/>
                <a:ea typeface="Manrope"/>
                <a:cs typeface="Manrope"/>
                <a:sym typeface="Manrope"/>
              </a:rPr>
              <a:t>NUESTRO ALCANCE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952500" y="3981900"/>
            <a:ext cx="1889075" cy="3067050"/>
          </a:xfrm>
          <a:prstGeom prst="rect">
            <a:avLst/>
          </a:prstGeom>
          <a:solidFill>
            <a:srgbClr val="FEDDE9">
              <a:alpha val="9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8"/>
          <p:cNvSpPr/>
          <p:nvPr/>
        </p:nvSpPr>
        <p:spPr>
          <a:xfrm>
            <a:off x="952500" y="3981900"/>
            <a:ext cx="1889075" cy="38100"/>
          </a:xfrm>
          <a:prstGeom prst="rect">
            <a:avLst/>
          </a:prstGeom>
          <a:solidFill>
            <a:srgbClr val="0F3460">
              <a:alpha val="9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8"/>
          <p:cNvSpPr/>
          <p:nvPr/>
        </p:nvSpPr>
        <p:spPr>
          <a:xfrm>
            <a:off x="1181100" y="4267650"/>
            <a:ext cx="1575063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2B4E"/>
              </a:buClr>
              <a:buSzPts val="1800"/>
              <a:buFont typeface="Manrope"/>
              <a:buNone/>
            </a:pPr>
            <a:r>
              <a:rPr b="1" i="0" lang="en-US" sz="1800" u="none" cap="none" strike="noStrike">
                <a:solidFill>
                  <a:srgbClr val="6E2B4E"/>
                </a:solidFill>
                <a:latin typeface="Manrope"/>
                <a:ea typeface="Manrope"/>
                <a:cs typeface="Manrope"/>
                <a:sym typeface="Manrope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1181100" y="4677225"/>
            <a:ext cx="1508075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7805"/>
              </a:lnSpc>
              <a:spcBef>
                <a:spcPts val="0"/>
              </a:spcBef>
              <a:spcAft>
                <a:spcPts val="0"/>
              </a:spcAft>
              <a:buClr>
                <a:srgbClr val="0F3460"/>
              </a:buClr>
              <a:buSzPts val="2250"/>
              <a:buFont typeface="Manrope"/>
              <a:buNone/>
            </a:pPr>
            <a:r>
              <a:rPr b="1" i="0" lang="en-US" sz="2250" u="none" cap="none" strike="noStrike">
                <a:solidFill>
                  <a:srgbClr val="0F3460"/>
                </a:solidFill>
                <a:latin typeface="Manrope"/>
                <a:ea typeface="Manrope"/>
                <a:cs typeface="Manrope"/>
                <a:sym typeface="Manrope"/>
              </a:rPr>
              <a:t>Visor Meta Quest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1181100" y="5801176"/>
            <a:ext cx="1508075" cy="103822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875"/>
              <a:buFont typeface="Manrope"/>
              <a:buNone/>
            </a:pPr>
            <a:r>
              <a:rPr b="0" i="0" lang="en-US" sz="1875" u="none" cap="none" strike="noStrike">
                <a:solidFill>
                  <a:srgbClr val="4A4A4A"/>
                </a:solidFill>
                <a:latin typeface="Manrope"/>
                <a:ea typeface="Manrope"/>
                <a:cs typeface="Manrope"/>
                <a:sym typeface="Manrope"/>
              </a:rPr>
              <a:t>Experiencia desarrollada en Unity.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3013025" y="3981900"/>
            <a:ext cx="2284958" cy="3067050"/>
          </a:xfrm>
          <a:prstGeom prst="rect">
            <a:avLst/>
          </a:prstGeom>
          <a:solidFill>
            <a:srgbClr val="FEDDE9">
              <a:alpha val="9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8"/>
          <p:cNvSpPr/>
          <p:nvPr/>
        </p:nvSpPr>
        <p:spPr>
          <a:xfrm>
            <a:off x="3013025" y="3981900"/>
            <a:ext cx="2284958" cy="38100"/>
          </a:xfrm>
          <a:prstGeom prst="rect">
            <a:avLst/>
          </a:prstGeom>
          <a:solidFill>
            <a:srgbClr val="0F3460">
              <a:alpha val="9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8"/>
          <p:cNvSpPr/>
          <p:nvPr/>
        </p:nvSpPr>
        <p:spPr>
          <a:xfrm>
            <a:off x="3241625" y="4267650"/>
            <a:ext cx="2010534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2B4E"/>
              </a:buClr>
              <a:buSzPts val="1800"/>
              <a:buFont typeface="Manrope"/>
              <a:buNone/>
            </a:pPr>
            <a:r>
              <a:rPr b="1" i="0" lang="en-US" sz="1800" u="none" cap="none" strike="noStrike">
                <a:solidFill>
                  <a:srgbClr val="6E2B4E"/>
                </a:solidFill>
                <a:latin typeface="Manrope"/>
                <a:ea typeface="Manrope"/>
                <a:cs typeface="Manrope"/>
                <a:sym typeface="Manrope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3241625" y="4677225"/>
            <a:ext cx="1903958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7805"/>
              </a:lnSpc>
              <a:spcBef>
                <a:spcPts val="0"/>
              </a:spcBef>
              <a:spcAft>
                <a:spcPts val="0"/>
              </a:spcAft>
              <a:buClr>
                <a:srgbClr val="0F3460"/>
              </a:buClr>
              <a:buSzPts val="2250"/>
              <a:buFont typeface="Manrope"/>
              <a:buNone/>
            </a:pPr>
            <a:r>
              <a:rPr b="1" i="0" lang="en-US" sz="2250" u="none" cap="none" strike="noStrike">
                <a:solidFill>
                  <a:srgbClr val="0F3460"/>
                </a:solidFill>
                <a:latin typeface="Manrope"/>
                <a:ea typeface="Manrope"/>
                <a:cs typeface="Manrope"/>
                <a:sym typeface="Manrope"/>
              </a:rPr>
              <a:t>Captura de datos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3241625" y="5458276"/>
            <a:ext cx="1903958" cy="103822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875"/>
              <a:buFont typeface="Manrope"/>
              <a:buNone/>
            </a:pPr>
            <a:r>
              <a:rPr b="0" i="0" lang="en-US" sz="1875" u="none" cap="none" strike="noStrike">
                <a:solidFill>
                  <a:srgbClr val="4A4A4A"/>
                </a:solidFill>
                <a:latin typeface="Manrope"/>
                <a:ea typeface="Manrope"/>
                <a:cs typeface="Manrope"/>
                <a:sym typeface="Manrope"/>
              </a:rPr>
              <a:t>Registro comportamental del recorrido.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5469434" y="3981900"/>
            <a:ext cx="2152055" cy="3067050"/>
          </a:xfrm>
          <a:prstGeom prst="rect">
            <a:avLst/>
          </a:prstGeom>
          <a:solidFill>
            <a:srgbClr val="FEDDE9">
              <a:alpha val="9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8"/>
          <p:cNvSpPr/>
          <p:nvPr/>
        </p:nvSpPr>
        <p:spPr>
          <a:xfrm>
            <a:off x="5469434" y="3981900"/>
            <a:ext cx="2152055" cy="38100"/>
          </a:xfrm>
          <a:prstGeom prst="rect">
            <a:avLst/>
          </a:prstGeom>
          <a:solidFill>
            <a:srgbClr val="0F3460">
              <a:alpha val="9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8"/>
          <p:cNvSpPr/>
          <p:nvPr/>
        </p:nvSpPr>
        <p:spPr>
          <a:xfrm>
            <a:off x="5698034" y="4267650"/>
            <a:ext cx="186434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2B4E"/>
              </a:buClr>
              <a:buSzPts val="1800"/>
              <a:buFont typeface="Manrope"/>
              <a:buNone/>
            </a:pPr>
            <a:r>
              <a:rPr b="1" i="0" lang="en-US" sz="1800" u="none" cap="none" strike="noStrike">
                <a:solidFill>
                  <a:srgbClr val="6E2B4E"/>
                </a:solidFill>
                <a:latin typeface="Manrope"/>
                <a:ea typeface="Manrope"/>
                <a:cs typeface="Manrope"/>
                <a:sym typeface="Manrope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5698034" y="4677225"/>
            <a:ext cx="186434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7805"/>
              </a:lnSpc>
              <a:spcBef>
                <a:spcPts val="0"/>
              </a:spcBef>
              <a:spcAft>
                <a:spcPts val="0"/>
              </a:spcAft>
              <a:buClr>
                <a:srgbClr val="0F3460"/>
              </a:buClr>
              <a:buSzPts val="2250"/>
              <a:buFont typeface="Manrope"/>
              <a:buNone/>
            </a:pPr>
            <a:r>
              <a:rPr b="1" i="0" lang="en-US" sz="2250" u="none" cap="none" strike="noStrike">
                <a:solidFill>
                  <a:srgbClr val="0F3460"/>
                </a:solidFill>
                <a:latin typeface="Manrope"/>
                <a:ea typeface="Manrope"/>
                <a:cs typeface="Manrope"/>
                <a:sym typeface="Manrope"/>
              </a:rPr>
              <a:t>Transmisión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5698034" y="5115376"/>
            <a:ext cx="1771055" cy="1038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875"/>
              <a:buFont typeface="Manrope"/>
              <a:buNone/>
            </a:pPr>
            <a:r>
              <a:rPr b="0" i="0" lang="en-US" sz="1875" u="none" cap="none" strike="noStrike">
                <a:solidFill>
                  <a:srgbClr val="4A4A4A"/>
                </a:solidFill>
                <a:latin typeface="Manrope"/>
                <a:ea typeface="Manrope"/>
                <a:cs typeface="Manrope"/>
                <a:sym typeface="Manrope"/>
              </a:rPr>
              <a:t>Envío a la nube vía AWS Lambda.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8"/>
          <p:cNvSpPr/>
          <p:nvPr/>
        </p:nvSpPr>
        <p:spPr>
          <a:xfrm>
            <a:off x="7792938" y="3981900"/>
            <a:ext cx="2797671" cy="3067050"/>
          </a:xfrm>
          <a:prstGeom prst="rect">
            <a:avLst/>
          </a:prstGeom>
          <a:solidFill>
            <a:srgbClr val="FEDDE9">
              <a:alpha val="9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8"/>
          <p:cNvSpPr/>
          <p:nvPr/>
        </p:nvSpPr>
        <p:spPr>
          <a:xfrm>
            <a:off x="7792938" y="3981900"/>
            <a:ext cx="2797671" cy="38100"/>
          </a:xfrm>
          <a:prstGeom prst="rect">
            <a:avLst/>
          </a:prstGeom>
          <a:solidFill>
            <a:srgbClr val="0F3460">
              <a:alpha val="9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8"/>
          <p:cNvSpPr/>
          <p:nvPr/>
        </p:nvSpPr>
        <p:spPr>
          <a:xfrm>
            <a:off x="8021538" y="4267650"/>
            <a:ext cx="2574518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2B4E"/>
              </a:buClr>
              <a:buSzPts val="1800"/>
              <a:buFont typeface="Manrope"/>
              <a:buNone/>
            </a:pPr>
            <a:r>
              <a:rPr b="1" i="0" lang="en-US" sz="1800" u="none" cap="none" strike="noStrike">
                <a:solidFill>
                  <a:srgbClr val="6E2B4E"/>
                </a:solidFill>
                <a:latin typeface="Manrope"/>
                <a:ea typeface="Manrope"/>
                <a:cs typeface="Manrope"/>
                <a:sym typeface="Manrope"/>
              </a:rPr>
              <a:t>04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8021538" y="4677225"/>
            <a:ext cx="2574518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7805"/>
              </a:lnSpc>
              <a:spcBef>
                <a:spcPts val="0"/>
              </a:spcBef>
              <a:spcAft>
                <a:spcPts val="0"/>
              </a:spcAft>
              <a:buClr>
                <a:srgbClr val="0F3460"/>
              </a:buClr>
              <a:buSzPts val="2250"/>
              <a:buFont typeface="Manrope"/>
              <a:buNone/>
            </a:pPr>
            <a:r>
              <a:rPr b="1" i="0" lang="en-US" sz="2250" u="none" cap="none" strike="noStrike">
                <a:solidFill>
                  <a:srgbClr val="0F3460"/>
                </a:solidFill>
                <a:latin typeface="Manrope"/>
                <a:ea typeface="Manrope"/>
                <a:cs typeface="Manrope"/>
                <a:sym typeface="Manrope"/>
              </a:rPr>
              <a:t>Almacenamiento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8021538" y="5115376"/>
            <a:ext cx="2416671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875"/>
              <a:buFont typeface="Manrope"/>
              <a:buNone/>
            </a:pPr>
            <a:r>
              <a:rPr b="0" i="0" lang="en-US" sz="1875" u="none" cap="none" strike="noStrike">
                <a:solidFill>
                  <a:srgbClr val="4A4A4A"/>
                </a:solidFill>
                <a:latin typeface="Manrope"/>
                <a:ea typeface="Manrope"/>
                <a:cs typeface="Manrope"/>
                <a:sym typeface="Manrope"/>
              </a:rPr>
              <a:t>Datos anonimizados en AWS.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10971609" y="3887688"/>
            <a:ext cx="986284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7F96"/>
              </a:buClr>
              <a:buSzPts val="1800"/>
              <a:buFont typeface="Manrope"/>
              <a:buNone/>
            </a:pPr>
            <a:r>
              <a:rPr b="1" i="0" lang="en-US" sz="1800" u="none" cap="none" strike="noStrike">
                <a:solidFill>
                  <a:srgbClr val="B07F96"/>
                </a:solidFill>
                <a:latin typeface="Manrope"/>
                <a:ea typeface="Manrope"/>
                <a:cs typeface="Manrope"/>
                <a:sym typeface="Manrope"/>
              </a:rPr>
              <a:t>LÍMITE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8"/>
          <p:cNvSpPr/>
          <p:nvPr/>
        </p:nvSpPr>
        <p:spPr>
          <a:xfrm>
            <a:off x="11412438" y="4354413"/>
            <a:ext cx="28575" cy="2686050"/>
          </a:xfrm>
          <a:prstGeom prst="rect">
            <a:avLst/>
          </a:prstGeom>
          <a:blipFill rotWithShape="1">
            <a:blip r:embed="rId3">
              <a:alphaModFix/>
            </a:blip>
            <a:tile algn="tl" flip="none" tx="0" sx="100000" ty="0" sy="100000"/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8"/>
          <p:cNvSpPr/>
          <p:nvPr/>
        </p:nvSpPr>
        <p:spPr>
          <a:xfrm>
            <a:off x="12262842" y="3458025"/>
            <a:ext cx="5579924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2B4E"/>
              </a:buClr>
              <a:buSzPts val="1800"/>
              <a:buFont typeface="Manrope"/>
              <a:buNone/>
            </a:pPr>
            <a:r>
              <a:rPr b="1" i="0" lang="en-US" sz="1800" u="none" cap="none" strike="noStrike">
                <a:solidFill>
                  <a:srgbClr val="6E2B4E"/>
                </a:solidFill>
                <a:latin typeface="Manrope"/>
                <a:ea typeface="Manrope"/>
                <a:cs typeface="Manrope"/>
                <a:sym typeface="Manrope"/>
              </a:rPr>
              <a:t>EQUIPO DE IA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12262842" y="3981900"/>
            <a:ext cx="5072658" cy="3067050"/>
          </a:xfrm>
          <a:prstGeom prst="rect">
            <a:avLst/>
          </a:prstGeom>
          <a:solidFill>
            <a:srgbClr val="0F3460">
              <a:alpha val="90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8"/>
          <p:cNvSpPr/>
          <p:nvPr/>
        </p:nvSpPr>
        <p:spPr>
          <a:xfrm>
            <a:off x="12262842" y="3981900"/>
            <a:ext cx="5072658" cy="38100"/>
          </a:xfrm>
          <a:prstGeom prst="rect">
            <a:avLst/>
          </a:prstGeom>
          <a:solidFill>
            <a:srgbClr val="6E2B4E">
              <a:alpha val="9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8"/>
          <p:cNvSpPr/>
          <p:nvPr/>
        </p:nvSpPr>
        <p:spPr>
          <a:xfrm>
            <a:off x="12567642" y="4305751"/>
            <a:ext cx="4909364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2B4E"/>
              </a:buClr>
              <a:buSzPts val="1800"/>
              <a:buFont typeface="Manrope"/>
              <a:buNone/>
            </a:pPr>
            <a:r>
              <a:rPr b="1" i="0" lang="en-US" sz="1800" u="none" cap="none" strike="noStrike">
                <a:solidFill>
                  <a:srgbClr val="6E2B4E"/>
                </a:solidFill>
                <a:latin typeface="Manrope"/>
                <a:ea typeface="Manrope"/>
                <a:cs typeface="Manrope"/>
                <a:sym typeface="Manrope"/>
              </a:rPr>
              <a:t>05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8"/>
          <p:cNvSpPr/>
          <p:nvPr/>
        </p:nvSpPr>
        <p:spPr>
          <a:xfrm>
            <a:off x="12567642" y="4753426"/>
            <a:ext cx="4909364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7805"/>
              </a:lnSpc>
              <a:spcBef>
                <a:spcPts val="0"/>
              </a:spcBef>
              <a:spcAft>
                <a:spcPts val="0"/>
              </a:spcAft>
              <a:buClr>
                <a:srgbClr val="0F3460"/>
              </a:buClr>
              <a:buSzPts val="2250"/>
              <a:buFont typeface="Manrope"/>
              <a:buNone/>
            </a:pPr>
            <a:r>
              <a:rPr b="1" i="0" lang="en-US" sz="2250" u="none" cap="none" strike="noStrike">
                <a:solidFill>
                  <a:srgbClr val="0F3460"/>
                </a:solidFill>
                <a:latin typeface="Manrope"/>
                <a:ea typeface="Manrope"/>
                <a:cs typeface="Manrope"/>
                <a:sym typeface="Manrope"/>
              </a:rPr>
              <a:t>Punto de acoplamiento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12567642" y="5229676"/>
            <a:ext cx="4596950" cy="70484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875"/>
              <a:buFont typeface="Manrope"/>
              <a:buNone/>
            </a:pPr>
            <a:r>
              <a:rPr b="0" i="0" lang="en-US" sz="1875" u="none" cap="none" strike="noStrike">
                <a:solidFill>
                  <a:srgbClr val="4A4A4A"/>
                </a:solidFill>
                <a:latin typeface="Manrope"/>
                <a:ea typeface="Manrope"/>
                <a:cs typeface="Manrope"/>
                <a:sym typeface="Manrope"/>
              </a:rPr>
              <a:t>Modelo de clasificación y dashboard para el docente o psicopedagogo.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952500" y="7525201"/>
            <a:ext cx="1802130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2B4E"/>
              </a:buClr>
              <a:buSzPts val="1800"/>
              <a:buFont typeface="Manrope"/>
              <a:buNone/>
            </a:pPr>
            <a:r>
              <a:rPr b="1" i="0" lang="en-US" sz="1800" u="none" cap="none" strike="noStrike">
                <a:solidFill>
                  <a:srgbClr val="6E2B4E"/>
                </a:solidFill>
                <a:latin typeface="Manrope"/>
                <a:ea typeface="Manrope"/>
                <a:cs typeface="Manrope"/>
                <a:sym typeface="Manrope"/>
              </a:rPr>
              <a:t>TECNOLOGÍAS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952500" y="8010976"/>
            <a:ext cx="1227237" cy="695325"/>
          </a:xfrm>
          <a:prstGeom prst="rect">
            <a:avLst/>
          </a:prstGeom>
          <a:solidFill>
            <a:srgbClr val="0F3460">
              <a:alpha val="9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8"/>
          <p:cNvSpPr/>
          <p:nvPr/>
        </p:nvSpPr>
        <p:spPr>
          <a:xfrm>
            <a:off x="1238250" y="8163376"/>
            <a:ext cx="731937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EDDE9"/>
              </a:buClr>
              <a:buSzPts val="2025"/>
              <a:buFont typeface="Manrope"/>
              <a:buNone/>
            </a:pPr>
            <a:r>
              <a:rPr b="1" i="0" lang="en-US" sz="2025" u="none" cap="none" strike="noStrike">
                <a:solidFill>
                  <a:srgbClr val="FEDDE9"/>
                </a:solidFill>
                <a:latin typeface="Manrope"/>
                <a:ea typeface="Manrope"/>
                <a:cs typeface="Manrope"/>
                <a:sym typeface="Manrope"/>
              </a:rPr>
              <a:t>Unity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2351187" y="8010976"/>
            <a:ext cx="1998762" cy="695325"/>
          </a:xfrm>
          <a:prstGeom prst="rect">
            <a:avLst/>
          </a:prstGeom>
          <a:solidFill>
            <a:srgbClr val="0F3460">
              <a:alpha val="9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8"/>
          <p:cNvSpPr/>
          <p:nvPr/>
        </p:nvSpPr>
        <p:spPr>
          <a:xfrm>
            <a:off x="2636937" y="8163376"/>
            <a:ext cx="1503462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EDDE9"/>
              </a:buClr>
              <a:buSzPts val="2025"/>
              <a:buFont typeface="Manrope"/>
              <a:buNone/>
            </a:pPr>
            <a:r>
              <a:rPr b="1" i="0" lang="en-US" sz="2025" u="none" cap="none" strike="noStrike">
                <a:solidFill>
                  <a:srgbClr val="FEDDE9"/>
                </a:solidFill>
                <a:latin typeface="Manrope"/>
                <a:ea typeface="Manrope"/>
                <a:cs typeface="Manrope"/>
                <a:sym typeface="Manrope"/>
              </a:rPr>
              <a:t>Meta Quest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4521398" y="8010976"/>
            <a:ext cx="1130796" cy="695325"/>
          </a:xfrm>
          <a:prstGeom prst="rect">
            <a:avLst/>
          </a:prstGeom>
          <a:solidFill>
            <a:srgbClr val="0F3460">
              <a:alpha val="9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8"/>
          <p:cNvSpPr/>
          <p:nvPr/>
        </p:nvSpPr>
        <p:spPr>
          <a:xfrm>
            <a:off x="4807148" y="8163376"/>
            <a:ext cx="635496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EDDE9"/>
              </a:buClr>
              <a:buSzPts val="2025"/>
              <a:buFont typeface="Manrope"/>
              <a:buNone/>
            </a:pPr>
            <a:r>
              <a:rPr b="1" i="0" lang="en-US" sz="2025" u="none" cap="none" strike="noStrike">
                <a:solidFill>
                  <a:srgbClr val="FEDDE9"/>
                </a:solidFill>
                <a:latin typeface="Manrope"/>
                <a:ea typeface="Manrope"/>
                <a:cs typeface="Manrope"/>
                <a:sym typeface="Manrope"/>
              </a:rPr>
              <a:t>AWS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5823645" y="8010976"/>
            <a:ext cx="2149971" cy="695325"/>
          </a:xfrm>
          <a:prstGeom prst="rect">
            <a:avLst/>
          </a:prstGeom>
          <a:solidFill>
            <a:srgbClr val="0F3460">
              <a:alpha val="9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8"/>
          <p:cNvSpPr/>
          <p:nvPr/>
        </p:nvSpPr>
        <p:spPr>
          <a:xfrm>
            <a:off x="6109395" y="8163376"/>
            <a:ext cx="1654671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EDDE9"/>
              </a:buClr>
              <a:buSzPts val="2025"/>
              <a:buFont typeface="Manrope"/>
              <a:buNone/>
            </a:pPr>
            <a:r>
              <a:rPr b="1" i="0" lang="en-US" sz="2025" u="none" cap="none" strike="noStrike">
                <a:solidFill>
                  <a:srgbClr val="FEDDE9"/>
                </a:solidFill>
                <a:latin typeface="Manrope"/>
                <a:ea typeface="Manrope"/>
                <a:cs typeface="Manrope"/>
                <a:sym typeface="Manrope"/>
              </a:rPr>
              <a:t>AWS Lambda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8"/>
          <p:cNvSpPr/>
          <p:nvPr/>
        </p:nvSpPr>
        <p:spPr>
          <a:xfrm>
            <a:off x="8145066" y="8010976"/>
            <a:ext cx="2382589" cy="695325"/>
          </a:xfrm>
          <a:prstGeom prst="rect">
            <a:avLst/>
          </a:prstGeom>
          <a:solidFill>
            <a:srgbClr val="F3E6EC">
              <a:alpha val="96078"/>
            </a:srgbClr>
          </a:solidFill>
          <a:ln cap="flat" cmpd="sng" w="19050">
            <a:solidFill>
              <a:srgbClr val="B07F96">
                <a:alpha val="9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8"/>
          <p:cNvSpPr/>
          <p:nvPr/>
        </p:nvSpPr>
        <p:spPr>
          <a:xfrm>
            <a:off x="8449866" y="8182426"/>
            <a:ext cx="1849189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460"/>
              </a:buClr>
              <a:buSzPts val="2025"/>
              <a:buFont typeface="Manrope"/>
              <a:buNone/>
            </a:pPr>
            <a:r>
              <a:rPr b="1" i="0" lang="en-US" sz="2025" u="none" cap="none" strike="noStrike">
                <a:solidFill>
                  <a:srgbClr val="0F3460"/>
                </a:solidFill>
                <a:latin typeface="Manrope"/>
                <a:ea typeface="Manrope"/>
                <a:cs typeface="Manrope"/>
                <a:sym typeface="Manrope"/>
              </a:rPr>
              <a:t>Terraform · IaC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10699105" y="8010976"/>
            <a:ext cx="1469231" cy="695325"/>
          </a:xfrm>
          <a:prstGeom prst="rect">
            <a:avLst/>
          </a:prstGeom>
          <a:solidFill>
            <a:srgbClr val="F3E6EC">
              <a:alpha val="96078"/>
            </a:srgbClr>
          </a:solidFill>
          <a:ln cap="flat" cmpd="sng" w="19050">
            <a:solidFill>
              <a:srgbClr val="B07F96">
                <a:alpha val="9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8"/>
          <p:cNvSpPr/>
          <p:nvPr/>
        </p:nvSpPr>
        <p:spPr>
          <a:xfrm>
            <a:off x="11003905" y="8182426"/>
            <a:ext cx="935831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460"/>
              </a:buClr>
              <a:buSzPts val="2025"/>
              <a:buFont typeface="Manrope"/>
              <a:buNone/>
            </a:pPr>
            <a:r>
              <a:rPr b="1" i="0" lang="en-US" sz="2025" u="none" cap="none" strike="noStrike">
                <a:solidFill>
                  <a:srgbClr val="0F3460"/>
                </a:solidFill>
                <a:latin typeface="Manrope"/>
                <a:ea typeface="Manrope"/>
                <a:cs typeface="Manrope"/>
                <a:sym typeface="Manrope"/>
              </a:rPr>
              <a:t>GitHub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8"/>
          <p:cNvSpPr/>
          <p:nvPr/>
        </p:nvSpPr>
        <p:spPr>
          <a:xfrm>
            <a:off x="12339786" y="8010976"/>
            <a:ext cx="2552551" cy="695325"/>
          </a:xfrm>
          <a:prstGeom prst="rect">
            <a:avLst/>
          </a:prstGeom>
          <a:solidFill>
            <a:srgbClr val="F3E6EC">
              <a:alpha val="96078"/>
            </a:srgbClr>
          </a:solidFill>
          <a:ln cap="flat" cmpd="sng" w="19050">
            <a:solidFill>
              <a:srgbClr val="B07F96">
                <a:alpha val="9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8"/>
          <p:cNvSpPr/>
          <p:nvPr/>
        </p:nvSpPr>
        <p:spPr>
          <a:xfrm>
            <a:off x="12644586" y="8182426"/>
            <a:ext cx="2019528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460"/>
              </a:buClr>
              <a:buSzPts val="2025"/>
              <a:buFont typeface="Manrope"/>
              <a:buNone/>
            </a:pPr>
            <a:r>
              <a:rPr b="1" i="0" lang="en-US" sz="2025" u="none" cap="none" strike="noStrike">
                <a:solidFill>
                  <a:srgbClr val="0F3460"/>
                </a:solidFill>
                <a:latin typeface="Manrope"/>
                <a:ea typeface="Manrope"/>
                <a:cs typeface="Manrope"/>
                <a:sym typeface="Manrope"/>
              </a:rPr>
              <a:t>GitHub Projects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952500" y="9363075"/>
            <a:ext cx="2992472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Manrope"/>
              <a:buNone/>
            </a:pPr>
            <a:r>
              <a:rPr b="0" i="0" lang="en-US" sz="1800" u="none" cap="none" strike="noStrike">
                <a:solidFill>
                  <a:srgbClr val="8C8C8C"/>
                </a:solidFill>
                <a:latin typeface="Manrope"/>
                <a:ea typeface="Manrope"/>
                <a:cs typeface="Manrope"/>
                <a:sym typeface="Manrope"/>
              </a:rPr>
              <a:t>EmotionLab · Capstone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8"/>
          <p:cNvSpPr/>
          <p:nvPr/>
        </p:nvSpPr>
        <p:spPr>
          <a:xfrm>
            <a:off x="17026682" y="9363075"/>
            <a:ext cx="385018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Manrope"/>
              <a:buNone/>
            </a:pPr>
            <a:r>
              <a:rPr b="0" i="0" lang="en-US" sz="1800" u="none" cap="none" strike="noStrike">
                <a:solidFill>
                  <a:srgbClr val="8C8C8C"/>
                </a:solidFill>
                <a:latin typeface="Manrope"/>
                <a:ea typeface="Manrope"/>
                <a:cs typeface="Manrope"/>
                <a:sym typeface="Manrope"/>
              </a:rPr>
              <a:t>06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DDE9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9"/>
          <p:cNvSpPr/>
          <p:nvPr/>
        </p:nvSpPr>
        <p:spPr>
          <a:xfrm>
            <a:off x="-2886047" y="5495953"/>
            <a:ext cx="8058093" cy="8058094"/>
          </a:xfrm>
          <a:prstGeom prst="ellipse">
            <a:avLst/>
          </a:prstGeom>
          <a:gradFill>
            <a:gsLst>
              <a:gs pos="0">
                <a:srgbClr val="E82D7D">
                  <a:alpha val="12941"/>
                </a:srgbClr>
              </a:gs>
              <a:gs pos="70000">
                <a:srgbClr val="E82D7D">
                  <a:alpha val="0"/>
                </a:srgbClr>
              </a:gs>
              <a:gs pos="100000">
                <a:srgbClr val="E82D7D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9"/>
          <p:cNvSpPr/>
          <p:nvPr/>
        </p:nvSpPr>
        <p:spPr>
          <a:xfrm>
            <a:off x="952500" y="952500"/>
            <a:ext cx="114300" cy="114300"/>
          </a:xfrm>
          <a:prstGeom prst="ellipse">
            <a:avLst/>
          </a:prstGeom>
          <a:solidFill>
            <a:srgbClr val="6E2B4E">
              <a:alpha val="8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9"/>
          <p:cNvSpPr/>
          <p:nvPr/>
        </p:nvSpPr>
        <p:spPr>
          <a:xfrm>
            <a:off x="1257300" y="838200"/>
            <a:ext cx="2858229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2B4E"/>
              </a:buClr>
              <a:buSzPts val="1950"/>
              <a:buFont typeface="Manrope"/>
              <a:buNone/>
            </a:pPr>
            <a:r>
              <a:rPr b="1" i="0" lang="en-US" sz="1950" u="none" cap="none" strike="noStrike">
                <a:solidFill>
                  <a:srgbClr val="6E2B4E"/>
                </a:solidFill>
                <a:latin typeface="Manrope"/>
                <a:ea typeface="Manrope"/>
                <a:cs typeface="Manrope"/>
                <a:sym typeface="Manrope"/>
              </a:rPr>
              <a:t>METODOLOGÍA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9"/>
          <p:cNvSpPr/>
          <p:nvPr/>
        </p:nvSpPr>
        <p:spPr>
          <a:xfrm>
            <a:off x="952500" y="1512996"/>
            <a:ext cx="14519910" cy="164276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9472"/>
              </a:lnSpc>
              <a:spcBef>
                <a:spcPts val="0"/>
              </a:spcBef>
              <a:spcAft>
                <a:spcPts val="0"/>
              </a:spcAft>
              <a:buClr>
                <a:srgbClr val="0F3460"/>
              </a:buClr>
              <a:buSzPts val="5850"/>
              <a:buFont typeface="Manrope"/>
              <a:buNone/>
            </a:pPr>
            <a:r>
              <a:rPr b="1" i="0" lang="en-US" sz="5850" u="none" cap="none" strike="noStrike">
                <a:solidFill>
                  <a:srgbClr val="0F3460"/>
                </a:solidFill>
                <a:latin typeface="Manrope"/>
                <a:ea typeface="Manrope"/>
                <a:cs typeface="Manrope"/>
                <a:sym typeface="Manrope"/>
              </a:rPr>
              <a:t>Metodología ágil con Kanban y control de versiones</a:t>
            </a:r>
            <a:endParaRPr b="0" i="0" sz="5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9"/>
          <p:cNvSpPr/>
          <p:nvPr/>
        </p:nvSpPr>
        <p:spPr>
          <a:xfrm>
            <a:off x="952500" y="3784411"/>
            <a:ext cx="5206901" cy="2002929"/>
          </a:xfrm>
          <a:prstGeom prst="rect">
            <a:avLst/>
          </a:prstGeom>
          <a:solidFill>
            <a:srgbClr val="FFFFFF">
              <a:alpha val="690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9"/>
          <p:cNvSpPr/>
          <p:nvPr/>
        </p:nvSpPr>
        <p:spPr>
          <a:xfrm>
            <a:off x="952500" y="3784411"/>
            <a:ext cx="47625" cy="2002929"/>
          </a:xfrm>
          <a:prstGeom prst="rect">
            <a:avLst/>
          </a:prstGeom>
          <a:solidFill>
            <a:srgbClr val="0F3460">
              <a:alpha val="9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9"/>
          <p:cNvSpPr/>
          <p:nvPr/>
        </p:nvSpPr>
        <p:spPr>
          <a:xfrm>
            <a:off x="1362075" y="4127311"/>
            <a:ext cx="4878913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460"/>
              </a:buClr>
              <a:buSzPts val="2550"/>
              <a:buFont typeface="Manrope"/>
              <a:buNone/>
            </a:pPr>
            <a:r>
              <a:rPr b="1" i="0" lang="en-US" sz="2550" u="none" cap="none" strike="noStrike">
                <a:solidFill>
                  <a:srgbClr val="0F3460"/>
                </a:solidFill>
                <a:latin typeface="Manrope"/>
                <a:ea typeface="Manrope"/>
                <a:cs typeface="Manrope"/>
                <a:sym typeface="Manrope"/>
              </a:rPr>
              <a:t>Tablero Kanban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9"/>
          <p:cNvSpPr/>
          <p:nvPr/>
        </p:nvSpPr>
        <p:spPr>
          <a:xfrm>
            <a:off x="1362075" y="4698811"/>
            <a:ext cx="4568437" cy="7837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811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2025"/>
              <a:buFont typeface="Manrope"/>
              <a:buNone/>
            </a:pPr>
            <a:r>
              <a:rPr b="0" i="0" lang="en-US" sz="2025" u="none" cap="none" strike="noStrike">
                <a:solidFill>
                  <a:srgbClr val="4A4A4A"/>
                </a:solidFill>
                <a:latin typeface="Manrope"/>
                <a:ea typeface="Manrope"/>
                <a:cs typeface="Manrope"/>
                <a:sym typeface="Manrope"/>
              </a:rPr>
              <a:t>GitHub Projects: flujo de tareas, estados y avance por fase.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9"/>
          <p:cNvSpPr/>
          <p:nvPr/>
        </p:nvSpPr>
        <p:spPr>
          <a:xfrm>
            <a:off x="6540401" y="3784411"/>
            <a:ext cx="5207050" cy="2002929"/>
          </a:xfrm>
          <a:prstGeom prst="rect">
            <a:avLst/>
          </a:prstGeom>
          <a:solidFill>
            <a:srgbClr val="FFFFFF">
              <a:alpha val="690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9"/>
          <p:cNvSpPr/>
          <p:nvPr/>
        </p:nvSpPr>
        <p:spPr>
          <a:xfrm>
            <a:off x="6540401" y="3784411"/>
            <a:ext cx="47625" cy="2002929"/>
          </a:xfrm>
          <a:prstGeom prst="rect">
            <a:avLst/>
          </a:prstGeom>
          <a:solidFill>
            <a:srgbClr val="0F3460">
              <a:alpha val="9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9"/>
          <p:cNvSpPr/>
          <p:nvPr/>
        </p:nvSpPr>
        <p:spPr>
          <a:xfrm>
            <a:off x="6949976" y="4127311"/>
            <a:ext cx="4879077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460"/>
              </a:buClr>
              <a:buSzPts val="2550"/>
              <a:buFont typeface="Manrope"/>
              <a:buNone/>
            </a:pPr>
            <a:r>
              <a:rPr b="1" i="0" lang="en-US" sz="2550" u="none" cap="none" strike="noStrike">
                <a:solidFill>
                  <a:srgbClr val="0F3460"/>
                </a:solidFill>
                <a:latin typeface="Manrope"/>
                <a:ea typeface="Manrope"/>
                <a:cs typeface="Manrope"/>
                <a:sym typeface="Manrope"/>
              </a:rPr>
              <a:t>Control de versiones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9"/>
          <p:cNvSpPr/>
          <p:nvPr/>
        </p:nvSpPr>
        <p:spPr>
          <a:xfrm>
            <a:off x="6949976" y="4698811"/>
            <a:ext cx="4568590" cy="7837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811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2025"/>
              <a:buFont typeface="Manrope"/>
              <a:buNone/>
            </a:pPr>
            <a:r>
              <a:rPr b="0" i="0" lang="en-US" sz="2025" u="none" cap="none" strike="noStrike">
                <a:solidFill>
                  <a:srgbClr val="4A4A4A"/>
                </a:solidFill>
                <a:latin typeface="Manrope"/>
                <a:ea typeface="Manrope"/>
                <a:cs typeface="Manrope"/>
                <a:sym typeface="Manrope"/>
              </a:rPr>
              <a:t>Estrategia de ramas en GitHub para desarrollo e integración.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12128450" y="3784411"/>
            <a:ext cx="5207050" cy="2002929"/>
          </a:xfrm>
          <a:prstGeom prst="rect">
            <a:avLst/>
          </a:prstGeom>
          <a:solidFill>
            <a:srgbClr val="FFFFFF">
              <a:alpha val="690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9"/>
          <p:cNvSpPr/>
          <p:nvPr/>
        </p:nvSpPr>
        <p:spPr>
          <a:xfrm>
            <a:off x="12128450" y="3784411"/>
            <a:ext cx="47625" cy="2002929"/>
          </a:xfrm>
          <a:prstGeom prst="rect">
            <a:avLst/>
          </a:prstGeom>
          <a:solidFill>
            <a:srgbClr val="0F3460">
              <a:alpha val="9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9"/>
          <p:cNvSpPr/>
          <p:nvPr/>
        </p:nvSpPr>
        <p:spPr>
          <a:xfrm>
            <a:off x="12538025" y="4127311"/>
            <a:ext cx="4879077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460"/>
              </a:buClr>
              <a:buSzPts val="2550"/>
              <a:buFont typeface="Manrope"/>
              <a:buNone/>
            </a:pPr>
            <a:r>
              <a:rPr b="1" i="0" lang="en-US" sz="2550" u="none" cap="none" strike="noStrike">
                <a:solidFill>
                  <a:srgbClr val="0F3460"/>
                </a:solidFill>
                <a:latin typeface="Manrope"/>
                <a:ea typeface="Manrope"/>
                <a:cs typeface="Manrope"/>
                <a:sym typeface="Manrope"/>
              </a:rPr>
              <a:t>Responsables por hito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9"/>
          <p:cNvSpPr/>
          <p:nvPr/>
        </p:nvSpPr>
        <p:spPr>
          <a:xfrm>
            <a:off x="12538025" y="4698811"/>
            <a:ext cx="4568590" cy="7837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811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2025"/>
              <a:buFont typeface="Manrope"/>
              <a:buNone/>
            </a:pPr>
            <a:r>
              <a:rPr b="0" i="0" lang="en-US" sz="2025" u="none" cap="none" strike="noStrike">
                <a:solidFill>
                  <a:srgbClr val="4A4A4A"/>
                </a:solidFill>
                <a:latin typeface="Manrope"/>
                <a:ea typeface="Manrope"/>
                <a:cs typeface="Manrope"/>
                <a:sym typeface="Manrope"/>
              </a:rPr>
              <a:t>Cada hito tiene una responsable definida y un entregable asociado.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9"/>
          <p:cNvSpPr/>
          <p:nvPr/>
        </p:nvSpPr>
        <p:spPr>
          <a:xfrm>
            <a:off x="952500" y="6320740"/>
            <a:ext cx="5206901" cy="2831306"/>
          </a:xfrm>
          <a:prstGeom prst="rect">
            <a:avLst/>
          </a:prstGeom>
          <a:solidFill>
            <a:srgbClr val="0F3460">
              <a:alpha val="9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9"/>
          <p:cNvSpPr/>
          <p:nvPr/>
        </p:nvSpPr>
        <p:spPr>
          <a:xfrm>
            <a:off x="1333500" y="6682690"/>
            <a:ext cx="4889391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0B8"/>
              </a:buClr>
              <a:buSzPts val="1800"/>
              <a:buFont typeface="Manrope"/>
              <a:buNone/>
            </a:pPr>
            <a:r>
              <a:rPr b="1" i="0" lang="en-US" sz="1800" u="none" cap="none" strike="noStrike">
                <a:solidFill>
                  <a:srgbClr val="E8A0B8"/>
                </a:solidFill>
                <a:latin typeface="Manrope"/>
                <a:ea typeface="Manrope"/>
                <a:cs typeface="Manrope"/>
                <a:sym typeface="Manrope"/>
              </a:rPr>
              <a:t>FASE 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9"/>
          <p:cNvSpPr/>
          <p:nvPr/>
        </p:nvSpPr>
        <p:spPr>
          <a:xfrm>
            <a:off x="1333500" y="7149415"/>
            <a:ext cx="4889391" cy="4494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8163"/>
              </a:lnSpc>
              <a:spcBef>
                <a:spcPts val="0"/>
              </a:spcBef>
              <a:spcAft>
                <a:spcPts val="0"/>
              </a:spcAft>
              <a:buClr>
                <a:srgbClr val="FEDDE9"/>
              </a:buClr>
              <a:buSzPts val="2700"/>
              <a:buFont typeface="Manrope"/>
              <a:buNone/>
            </a:pPr>
            <a:r>
              <a:rPr b="1" i="0" lang="en-US" sz="2700" u="none" cap="none" strike="noStrike">
                <a:solidFill>
                  <a:srgbClr val="FEDDE9"/>
                </a:solidFill>
                <a:latin typeface="Manrope"/>
                <a:ea typeface="Manrope"/>
                <a:cs typeface="Manrope"/>
                <a:sym typeface="Manrope"/>
              </a:rPr>
              <a:t>Planificación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9"/>
          <p:cNvSpPr/>
          <p:nvPr/>
        </p:nvSpPr>
        <p:spPr>
          <a:xfrm>
            <a:off x="1333500" y="7713176"/>
            <a:ext cx="4578248" cy="75604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722"/>
              </a:lnSpc>
              <a:spcBef>
                <a:spcPts val="0"/>
              </a:spcBef>
              <a:spcAft>
                <a:spcPts val="0"/>
              </a:spcAft>
              <a:buClr>
                <a:srgbClr val="F2D3E0"/>
              </a:buClr>
              <a:buSzPts val="1950"/>
              <a:buFont typeface="Manrope"/>
              <a:buNone/>
            </a:pPr>
            <a:r>
              <a:rPr b="0" i="0" lang="en-US" sz="1950" u="none" cap="none" strike="noStrike">
                <a:solidFill>
                  <a:srgbClr val="F2D3E0"/>
                </a:solidFill>
                <a:latin typeface="Manrope"/>
                <a:ea typeface="Manrope"/>
                <a:cs typeface="Manrope"/>
                <a:sym typeface="Manrope"/>
              </a:rPr>
              <a:t>Entregables: acta de constitución y especificación de requerimientos.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9"/>
          <p:cNvSpPr/>
          <p:nvPr/>
        </p:nvSpPr>
        <p:spPr>
          <a:xfrm>
            <a:off x="6540401" y="6320740"/>
            <a:ext cx="5207050" cy="2831306"/>
          </a:xfrm>
          <a:prstGeom prst="rect">
            <a:avLst/>
          </a:prstGeom>
          <a:solidFill>
            <a:srgbClr val="0F3460">
              <a:alpha val="9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9"/>
          <p:cNvSpPr/>
          <p:nvPr/>
        </p:nvSpPr>
        <p:spPr>
          <a:xfrm>
            <a:off x="6921401" y="6682690"/>
            <a:ext cx="4889555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0B8"/>
              </a:buClr>
              <a:buSzPts val="1800"/>
              <a:buFont typeface="Manrope"/>
              <a:buNone/>
            </a:pPr>
            <a:r>
              <a:rPr b="1" i="0" lang="en-US" sz="1800" u="none" cap="none" strike="noStrike">
                <a:solidFill>
                  <a:srgbClr val="E8A0B8"/>
                </a:solidFill>
                <a:latin typeface="Manrope"/>
                <a:ea typeface="Manrope"/>
                <a:cs typeface="Manrope"/>
                <a:sym typeface="Manrope"/>
              </a:rPr>
              <a:t>FASE 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9"/>
          <p:cNvSpPr/>
          <p:nvPr/>
        </p:nvSpPr>
        <p:spPr>
          <a:xfrm>
            <a:off x="6921401" y="7149415"/>
            <a:ext cx="4889555" cy="4494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8163"/>
              </a:lnSpc>
              <a:spcBef>
                <a:spcPts val="0"/>
              </a:spcBef>
              <a:spcAft>
                <a:spcPts val="0"/>
              </a:spcAft>
              <a:buClr>
                <a:srgbClr val="FEDDE9"/>
              </a:buClr>
              <a:buSzPts val="2700"/>
              <a:buFont typeface="Manrope"/>
              <a:buNone/>
            </a:pPr>
            <a:r>
              <a:rPr b="1" i="0" lang="en-US" sz="2700" u="none" cap="none" strike="noStrike">
                <a:solidFill>
                  <a:srgbClr val="FEDDE9"/>
                </a:solidFill>
                <a:latin typeface="Manrope"/>
                <a:ea typeface="Manrope"/>
                <a:cs typeface="Manrope"/>
                <a:sym typeface="Manrope"/>
              </a:rPr>
              <a:t>Desarrollo y pruebas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9"/>
          <p:cNvSpPr/>
          <p:nvPr/>
        </p:nvSpPr>
        <p:spPr>
          <a:xfrm>
            <a:off x="6921401" y="7713176"/>
            <a:ext cx="4578401" cy="1115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722"/>
              </a:lnSpc>
              <a:spcBef>
                <a:spcPts val="0"/>
              </a:spcBef>
              <a:spcAft>
                <a:spcPts val="0"/>
              </a:spcAft>
              <a:buClr>
                <a:srgbClr val="F2D3E0"/>
              </a:buClr>
              <a:buSzPts val="1950"/>
              <a:buFont typeface="Manrope"/>
              <a:buNone/>
            </a:pPr>
            <a:r>
              <a:rPr b="0" i="0" lang="en-US" sz="1950" u="none" cap="none" strike="noStrike">
                <a:solidFill>
                  <a:srgbClr val="F2D3E0"/>
                </a:solidFill>
                <a:latin typeface="Manrope"/>
                <a:ea typeface="Manrope"/>
                <a:cs typeface="Manrope"/>
                <a:sym typeface="Manrope"/>
              </a:rPr>
              <a:t>Entregables: experiencia VR, arquitectura en AWS y pruebas de campo.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9"/>
          <p:cNvSpPr/>
          <p:nvPr/>
        </p:nvSpPr>
        <p:spPr>
          <a:xfrm>
            <a:off x="12128450" y="6320740"/>
            <a:ext cx="5207050" cy="2831306"/>
          </a:xfrm>
          <a:prstGeom prst="rect">
            <a:avLst/>
          </a:prstGeom>
          <a:solidFill>
            <a:srgbClr val="0F3460">
              <a:alpha val="9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9"/>
          <p:cNvSpPr/>
          <p:nvPr/>
        </p:nvSpPr>
        <p:spPr>
          <a:xfrm>
            <a:off x="12509450" y="6682690"/>
            <a:ext cx="4889555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0B8"/>
              </a:buClr>
              <a:buSzPts val="1800"/>
              <a:buFont typeface="Manrope"/>
              <a:buNone/>
            </a:pPr>
            <a:r>
              <a:rPr b="1" i="0" lang="en-US" sz="1800" u="none" cap="none" strike="noStrike">
                <a:solidFill>
                  <a:srgbClr val="E8A0B8"/>
                </a:solidFill>
                <a:latin typeface="Manrope"/>
                <a:ea typeface="Manrope"/>
                <a:cs typeface="Manrope"/>
                <a:sym typeface="Manrope"/>
              </a:rPr>
              <a:t>FASE 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9"/>
          <p:cNvSpPr/>
          <p:nvPr/>
        </p:nvSpPr>
        <p:spPr>
          <a:xfrm>
            <a:off x="12509450" y="7149415"/>
            <a:ext cx="4889555" cy="4494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8163"/>
              </a:lnSpc>
              <a:spcBef>
                <a:spcPts val="0"/>
              </a:spcBef>
              <a:spcAft>
                <a:spcPts val="0"/>
              </a:spcAft>
              <a:buClr>
                <a:srgbClr val="FEDDE9"/>
              </a:buClr>
              <a:buSzPts val="2700"/>
              <a:buFont typeface="Manrope"/>
              <a:buNone/>
            </a:pPr>
            <a:r>
              <a:rPr b="1" i="0" lang="en-US" sz="2700" u="none" cap="none" strike="noStrike">
                <a:solidFill>
                  <a:srgbClr val="FEDDE9"/>
                </a:solidFill>
                <a:latin typeface="Manrope"/>
                <a:ea typeface="Manrope"/>
                <a:cs typeface="Manrope"/>
                <a:sym typeface="Manrope"/>
              </a:rPr>
              <a:t>Cierre y defensa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9"/>
          <p:cNvSpPr/>
          <p:nvPr/>
        </p:nvSpPr>
        <p:spPr>
          <a:xfrm>
            <a:off x="12509450" y="7713176"/>
            <a:ext cx="4578401" cy="75604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722"/>
              </a:lnSpc>
              <a:spcBef>
                <a:spcPts val="0"/>
              </a:spcBef>
              <a:spcAft>
                <a:spcPts val="0"/>
              </a:spcAft>
              <a:buClr>
                <a:srgbClr val="F2D3E0"/>
              </a:buClr>
              <a:buSzPts val="1950"/>
              <a:buFont typeface="Manrope"/>
              <a:buNone/>
            </a:pPr>
            <a:r>
              <a:rPr b="0" i="0" lang="en-US" sz="1950" u="none" cap="none" strike="noStrike">
                <a:solidFill>
                  <a:srgbClr val="F2D3E0"/>
                </a:solidFill>
                <a:latin typeface="Manrope"/>
                <a:ea typeface="Manrope"/>
                <a:cs typeface="Manrope"/>
                <a:sym typeface="Manrope"/>
              </a:rPr>
              <a:t>Entregables: documentación final y presentación de resultados.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9"/>
          <p:cNvSpPr/>
          <p:nvPr/>
        </p:nvSpPr>
        <p:spPr>
          <a:xfrm>
            <a:off x="952500" y="9248775"/>
            <a:ext cx="2992472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B92"/>
              </a:buClr>
              <a:buSzPts val="1800"/>
              <a:buFont typeface="Manrope"/>
              <a:buNone/>
            </a:pPr>
            <a:r>
              <a:rPr b="0" i="0" lang="en-US" sz="1800" u="none" cap="none" strike="noStrike">
                <a:solidFill>
                  <a:srgbClr val="9A8B92"/>
                </a:solidFill>
                <a:latin typeface="Manrope"/>
                <a:ea typeface="Manrope"/>
                <a:cs typeface="Manrope"/>
                <a:sym typeface="Manrope"/>
              </a:rPr>
              <a:t>EmotionLab · Capstone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9"/>
          <p:cNvSpPr/>
          <p:nvPr/>
        </p:nvSpPr>
        <p:spPr>
          <a:xfrm>
            <a:off x="17053768" y="9248775"/>
            <a:ext cx="357932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B92"/>
              </a:buClr>
              <a:buSzPts val="1800"/>
              <a:buFont typeface="Manrope"/>
              <a:buNone/>
            </a:pPr>
            <a:r>
              <a:rPr b="0" i="0" lang="en-US" sz="1800" u="none" cap="none" strike="noStrike">
                <a:solidFill>
                  <a:srgbClr val="9A8B92"/>
                </a:solidFill>
                <a:latin typeface="Manrope"/>
                <a:ea typeface="Manrope"/>
                <a:cs typeface="Manrope"/>
                <a:sym typeface="Manrope"/>
              </a:rPr>
              <a:t>07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6F2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0"/>
          <p:cNvSpPr/>
          <p:nvPr/>
        </p:nvSpPr>
        <p:spPr>
          <a:xfrm>
            <a:off x="952500" y="952500"/>
            <a:ext cx="114300" cy="114300"/>
          </a:xfrm>
          <a:prstGeom prst="ellipse">
            <a:avLst/>
          </a:prstGeom>
          <a:solidFill>
            <a:srgbClr val="6E2B4E">
              <a:alpha val="8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0"/>
          <p:cNvSpPr/>
          <p:nvPr/>
        </p:nvSpPr>
        <p:spPr>
          <a:xfrm>
            <a:off x="1257300" y="838200"/>
            <a:ext cx="2779648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2B4E"/>
              </a:buClr>
              <a:buSzPts val="1950"/>
              <a:buFont typeface="Manrope"/>
              <a:buNone/>
            </a:pPr>
            <a:r>
              <a:rPr b="1" i="0" lang="en-US" sz="1950" u="none" cap="none" strike="noStrike">
                <a:solidFill>
                  <a:srgbClr val="6E2B4E"/>
                </a:solidFill>
                <a:latin typeface="Manrope"/>
                <a:ea typeface="Manrope"/>
                <a:cs typeface="Manrope"/>
                <a:sym typeface="Manrope"/>
              </a:rPr>
              <a:t>CRONOGRAMA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0"/>
          <p:cNvSpPr/>
          <p:nvPr/>
        </p:nvSpPr>
        <p:spPr>
          <a:xfrm>
            <a:off x="952500" y="1418066"/>
            <a:ext cx="18021300" cy="6552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9024"/>
              </a:lnSpc>
              <a:spcBef>
                <a:spcPts val="0"/>
              </a:spcBef>
              <a:spcAft>
                <a:spcPts val="0"/>
              </a:spcAft>
              <a:buClr>
                <a:srgbClr val="0F3460"/>
              </a:buClr>
              <a:buSzPts val="4500"/>
              <a:buFont typeface="Manrope"/>
              <a:buNone/>
            </a:pPr>
            <a:r>
              <a:rPr b="1" i="0" lang="en-US" sz="4500" u="none" cap="none" strike="noStrike">
                <a:solidFill>
                  <a:srgbClr val="0F3460"/>
                </a:solidFill>
                <a:latin typeface="Manrope"/>
                <a:ea typeface="Manrope"/>
                <a:cs typeface="Manrope"/>
                <a:sym typeface="Manrope"/>
              </a:rPr>
              <a:t>13 semanas: 10 de agosto al 8 de noviembre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0"/>
          <p:cNvSpPr/>
          <p:nvPr/>
        </p:nvSpPr>
        <p:spPr>
          <a:xfrm>
            <a:off x="952500" y="2407890"/>
            <a:ext cx="16383000" cy="7258050"/>
          </a:xfrm>
          <a:prstGeom prst="rect">
            <a:avLst/>
          </a:prstGeom>
          <a:noFill/>
          <a:ln cap="flat" cmpd="sng" w="9525">
            <a:solidFill>
              <a:srgbClr val="EADC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0"/>
          <p:cNvSpPr/>
          <p:nvPr/>
        </p:nvSpPr>
        <p:spPr>
          <a:xfrm>
            <a:off x="962025" y="3627090"/>
            <a:ext cx="16363950" cy="9525"/>
          </a:xfrm>
          <a:prstGeom prst="rect">
            <a:avLst/>
          </a:prstGeom>
          <a:solidFill>
            <a:srgbClr val="EAD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0"/>
          <p:cNvSpPr/>
          <p:nvPr/>
        </p:nvSpPr>
        <p:spPr>
          <a:xfrm>
            <a:off x="5143500" y="2417415"/>
            <a:ext cx="9525" cy="1209675"/>
          </a:xfrm>
          <a:prstGeom prst="rect">
            <a:avLst/>
          </a:prstGeom>
          <a:solidFill>
            <a:srgbClr val="EADCE4">
              <a:alpha val="8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0"/>
          <p:cNvSpPr/>
          <p:nvPr/>
        </p:nvSpPr>
        <p:spPr>
          <a:xfrm>
            <a:off x="1190625" y="2850803"/>
            <a:ext cx="1920166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2B4E"/>
              </a:buClr>
              <a:buSzPts val="1950"/>
              <a:buFont typeface="Manrope"/>
              <a:buNone/>
            </a:pPr>
            <a:r>
              <a:rPr b="1" i="0" lang="en-US" sz="1950" u="none" cap="none" strike="noStrike">
                <a:solidFill>
                  <a:srgbClr val="6E2B4E"/>
                </a:solidFill>
                <a:latin typeface="Manrope"/>
                <a:ea typeface="Manrope"/>
                <a:cs typeface="Manrope"/>
                <a:sym typeface="Manrope"/>
              </a:rPr>
              <a:t>ACTIVIDAD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0"/>
          <p:cNvSpPr/>
          <p:nvPr/>
        </p:nvSpPr>
        <p:spPr>
          <a:xfrm>
            <a:off x="5153025" y="2417415"/>
            <a:ext cx="3745409" cy="638175"/>
          </a:xfrm>
          <a:prstGeom prst="rect">
            <a:avLst/>
          </a:prstGeom>
          <a:solidFill>
            <a:srgbClr val="F3E6EC">
              <a:alpha val="8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0"/>
          <p:cNvSpPr/>
          <p:nvPr/>
        </p:nvSpPr>
        <p:spPr>
          <a:xfrm>
            <a:off x="5153025" y="3046065"/>
            <a:ext cx="3745409" cy="9525"/>
          </a:xfrm>
          <a:prstGeom prst="rect">
            <a:avLst/>
          </a:prstGeom>
          <a:solidFill>
            <a:srgbClr val="EADCE4">
              <a:alpha val="8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0"/>
          <p:cNvSpPr/>
          <p:nvPr/>
        </p:nvSpPr>
        <p:spPr>
          <a:xfrm>
            <a:off x="5153025" y="2417415"/>
            <a:ext cx="9525" cy="638175"/>
          </a:xfrm>
          <a:prstGeom prst="rect">
            <a:avLst/>
          </a:prstGeom>
          <a:solidFill>
            <a:srgbClr val="EADCE4">
              <a:alpha val="8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0"/>
          <p:cNvSpPr/>
          <p:nvPr/>
        </p:nvSpPr>
        <p:spPr>
          <a:xfrm>
            <a:off x="6576417" y="2550765"/>
            <a:ext cx="9842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2B4E"/>
              </a:buClr>
              <a:buSzPts val="2100"/>
              <a:buFont typeface="Manrope"/>
              <a:buNone/>
            </a:pPr>
            <a:r>
              <a:rPr b="1" i="0" lang="en-US" sz="2100" u="none" cap="none" strike="noStrike">
                <a:solidFill>
                  <a:srgbClr val="6E2B4E"/>
                </a:solidFill>
                <a:latin typeface="Manrope"/>
                <a:ea typeface="Manrope"/>
                <a:cs typeface="Manrope"/>
                <a:sym typeface="Manrope"/>
              </a:rPr>
              <a:t>FASE 1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0"/>
          <p:cNvSpPr/>
          <p:nvPr/>
        </p:nvSpPr>
        <p:spPr>
          <a:xfrm>
            <a:off x="8898434" y="2417415"/>
            <a:ext cx="6554688" cy="638175"/>
          </a:xfrm>
          <a:prstGeom prst="rect">
            <a:avLst/>
          </a:prstGeom>
          <a:solidFill>
            <a:srgbClr val="FEDDE9">
              <a:alpha val="8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0"/>
          <p:cNvSpPr/>
          <p:nvPr/>
        </p:nvSpPr>
        <p:spPr>
          <a:xfrm>
            <a:off x="8898434" y="3046065"/>
            <a:ext cx="6554688" cy="9525"/>
          </a:xfrm>
          <a:prstGeom prst="rect">
            <a:avLst/>
          </a:prstGeom>
          <a:solidFill>
            <a:srgbClr val="EADCE4">
              <a:alpha val="8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0"/>
          <p:cNvSpPr/>
          <p:nvPr/>
        </p:nvSpPr>
        <p:spPr>
          <a:xfrm>
            <a:off x="8898434" y="2417415"/>
            <a:ext cx="9525" cy="638175"/>
          </a:xfrm>
          <a:prstGeom prst="rect">
            <a:avLst/>
          </a:prstGeom>
          <a:solidFill>
            <a:srgbClr val="EADCE4">
              <a:alpha val="8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0"/>
          <p:cNvSpPr/>
          <p:nvPr/>
        </p:nvSpPr>
        <p:spPr>
          <a:xfrm>
            <a:off x="11705481" y="2550765"/>
            <a:ext cx="1026319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2B4E"/>
              </a:buClr>
              <a:buSzPts val="2100"/>
              <a:buFont typeface="Manrope"/>
              <a:buNone/>
            </a:pPr>
            <a:r>
              <a:rPr b="1" i="0" lang="en-US" sz="2100" u="none" cap="none" strike="noStrike">
                <a:solidFill>
                  <a:srgbClr val="6E2B4E"/>
                </a:solidFill>
                <a:latin typeface="Manrope"/>
                <a:ea typeface="Manrope"/>
                <a:cs typeface="Manrope"/>
                <a:sym typeface="Manrope"/>
              </a:rPr>
              <a:t>FASE 2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0"/>
          <p:cNvSpPr/>
          <p:nvPr/>
        </p:nvSpPr>
        <p:spPr>
          <a:xfrm>
            <a:off x="15453122" y="2417415"/>
            <a:ext cx="1872853" cy="638175"/>
          </a:xfrm>
          <a:prstGeom prst="rect">
            <a:avLst/>
          </a:prstGeom>
          <a:solidFill>
            <a:srgbClr val="E8C0D2">
              <a:alpha val="8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0"/>
          <p:cNvSpPr/>
          <p:nvPr/>
        </p:nvSpPr>
        <p:spPr>
          <a:xfrm>
            <a:off x="15453122" y="3046065"/>
            <a:ext cx="1872853" cy="9525"/>
          </a:xfrm>
          <a:prstGeom prst="rect">
            <a:avLst/>
          </a:prstGeom>
          <a:solidFill>
            <a:srgbClr val="EADCE4">
              <a:alpha val="8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0"/>
          <p:cNvSpPr/>
          <p:nvPr/>
        </p:nvSpPr>
        <p:spPr>
          <a:xfrm>
            <a:off x="15453122" y="2417415"/>
            <a:ext cx="9525" cy="638175"/>
          </a:xfrm>
          <a:prstGeom prst="rect">
            <a:avLst/>
          </a:prstGeom>
          <a:solidFill>
            <a:srgbClr val="EADCE4">
              <a:alpha val="8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0"/>
          <p:cNvSpPr/>
          <p:nvPr/>
        </p:nvSpPr>
        <p:spPr>
          <a:xfrm>
            <a:off x="15921037" y="2550765"/>
            <a:ext cx="1022598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2B4E"/>
              </a:buClr>
              <a:buSzPts val="2100"/>
              <a:buFont typeface="Manrope"/>
              <a:buNone/>
            </a:pPr>
            <a:r>
              <a:rPr b="1" i="0" lang="en-US" sz="2100" u="none" cap="none" strike="noStrike">
                <a:solidFill>
                  <a:srgbClr val="6E2B4E"/>
                </a:solidFill>
                <a:latin typeface="Manrope"/>
                <a:ea typeface="Manrope"/>
                <a:cs typeface="Manrope"/>
                <a:sym typeface="Manrope"/>
              </a:rPr>
              <a:t>FASE 3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0"/>
          <p:cNvSpPr/>
          <p:nvPr/>
        </p:nvSpPr>
        <p:spPr>
          <a:xfrm>
            <a:off x="5153025" y="3055590"/>
            <a:ext cx="9525" cy="571500"/>
          </a:xfrm>
          <a:prstGeom prst="rect">
            <a:avLst/>
          </a:prstGeom>
          <a:solidFill>
            <a:srgbClr val="EADCE4">
              <a:alpha val="8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0"/>
          <p:cNvSpPr/>
          <p:nvPr/>
        </p:nvSpPr>
        <p:spPr>
          <a:xfrm>
            <a:off x="5124450" y="3169890"/>
            <a:ext cx="1002953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3460"/>
              </a:buClr>
              <a:buSzPts val="1950"/>
              <a:buFont typeface="Manrope"/>
              <a:buNone/>
            </a:pPr>
            <a:r>
              <a:rPr b="1" i="0" lang="en-US" sz="1950" u="none" cap="none" strike="noStrike">
                <a:solidFill>
                  <a:srgbClr val="0F3460"/>
                </a:solidFill>
                <a:latin typeface="Manrope"/>
                <a:ea typeface="Manrope"/>
                <a:cs typeface="Manrope"/>
                <a:sym typeface="Manrope"/>
              </a:rPr>
              <a:t>S 1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0"/>
          <p:cNvSpPr/>
          <p:nvPr/>
        </p:nvSpPr>
        <p:spPr>
          <a:xfrm>
            <a:off x="6089303" y="3055590"/>
            <a:ext cx="9525" cy="571500"/>
          </a:xfrm>
          <a:prstGeom prst="rect">
            <a:avLst/>
          </a:prstGeom>
          <a:solidFill>
            <a:srgbClr val="EADCE4">
              <a:alpha val="8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0"/>
          <p:cNvSpPr/>
          <p:nvPr/>
        </p:nvSpPr>
        <p:spPr>
          <a:xfrm>
            <a:off x="6060728" y="3169890"/>
            <a:ext cx="1003102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3460"/>
              </a:buClr>
              <a:buSzPts val="1950"/>
              <a:buFont typeface="Manrope"/>
              <a:buNone/>
            </a:pPr>
            <a:r>
              <a:rPr b="1" i="0" lang="en-US" sz="1950" u="none" cap="none" strike="noStrike">
                <a:solidFill>
                  <a:srgbClr val="0F3460"/>
                </a:solidFill>
                <a:latin typeface="Manrope"/>
                <a:ea typeface="Manrope"/>
                <a:cs typeface="Manrope"/>
                <a:sym typeface="Manrope"/>
              </a:rPr>
              <a:t>S 2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0"/>
          <p:cNvSpPr/>
          <p:nvPr/>
        </p:nvSpPr>
        <p:spPr>
          <a:xfrm>
            <a:off x="7025729" y="3055590"/>
            <a:ext cx="9525" cy="571500"/>
          </a:xfrm>
          <a:prstGeom prst="rect">
            <a:avLst/>
          </a:prstGeom>
          <a:solidFill>
            <a:srgbClr val="EADCE4">
              <a:alpha val="8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0"/>
          <p:cNvSpPr/>
          <p:nvPr/>
        </p:nvSpPr>
        <p:spPr>
          <a:xfrm>
            <a:off x="6997154" y="3169890"/>
            <a:ext cx="1003102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3460"/>
              </a:buClr>
              <a:buSzPts val="1950"/>
              <a:buFont typeface="Manrope"/>
              <a:buNone/>
            </a:pPr>
            <a:r>
              <a:rPr b="1" i="0" lang="en-US" sz="1950" u="none" cap="none" strike="noStrike">
                <a:solidFill>
                  <a:srgbClr val="0F3460"/>
                </a:solidFill>
                <a:latin typeface="Manrope"/>
                <a:ea typeface="Manrope"/>
                <a:cs typeface="Manrope"/>
                <a:sym typeface="Manrope"/>
              </a:rPr>
              <a:t>S 3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0"/>
          <p:cNvSpPr/>
          <p:nvPr/>
        </p:nvSpPr>
        <p:spPr>
          <a:xfrm>
            <a:off x="7962156" y="3055590"/>
            <a:ext cx="9525" cy="571500"/>
          </a:xfrm>
          <a:prstGeom prst="rect">
            <a:avLst/>
          </a:prstGeom>
          <a:solidFill>
            <a:srgbClr val="EADCE4">
              <a:alpha val="8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0"/>
          <p:cNvSpPr/>
          <p:nvPr/>
        </p:nvSpPr>
        <p:spPr>
          <a:xfrm>
            <a:off x="7933581" y="3169890"/>
            <a:ext cx="1002953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3460"/>
              </a:buClr>
              <a:buSzPts val="1950"/>
              <a:buFont typeface="Manrope"/>
              <a:buNone/>
            </a:pPr>
            <a:r>
              <a:rPr b="1" i="0" lang="en-US" sz="1950" u="none" cap="none" strike="noStrike">
                <a:solidFill>
                  <a:srgbClr val="0F3460"/>
                </a:solidFill>
                <a:latin typeface="Manrope"/>
                <a:ea typeface="Manrope"/>
                <a:cs typeface="Manrope"/>
                <a:sym typeface="Manrope"/>
              </a:rPr>
              <a:t>S 4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0"/>
          <p:cNvSpPr/>
          <p:nvPr/>
        </p:nvSpPr>
        <p:spPr>
          <a:xfrm>
            <a:off x="8898434" y="3055590"/>
            <a:ext cx="9525" cy="571500"/>
          </a:xfrm>
          <a:prstGeom prst="rect">
            <a:avLst/>
          </a:prstGeom>
          <a:solidFill>
            <a:srgbClr val="EADCE4">
              <a:alpha val="8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0"/>
          <p:cNvSpPr/>
          <p:nvPr/>
        </p:nvSpPr>
        <p:spPr>
          <a:xfrm>
            <a:off x="8869859" y="3169890"/>
            <a:ext cx="1003102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3460"/>
              </a:buClr>
              <a:buSzPts val="1950"/>
              <a:buFont typeface="Manrope"/>
              <a:buNone/>
            </a:pPr>
            <a:r>
              <a:rPr b="1" i="0" lang="en-US" sz="1950" u="none" cap="none" strike="noStrike">
                <a:solidFill>
                  <a:srgbClr val="0F3460"/>
                </a:solidFill>
                <a:latin typeface="Manrope"/>
                <a:ea typeface="Manrope"/>
                <a:cs typeface="Manrope"/>
                <a:sym typeface="Manrope"/>
              </a:rPr>
              <a:t>S 5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0"/>
          <p:cNvSpPr/>
          <p:nvPr/>
        </p:nvSpPr>
        <p:spPr>
          <a:xfrm>
            <a:off x="9834860" y="3055590"/>
            <a:ext cx="9525" cy="571500"/>
          </a:xfrm>
          <a:prstGeom prst="rect">
            <a:avLst/>
          </a:prstGeom>
          <a:solidFill>
            <a:srgbClr val="EADCE4">
              <a:alpha val="8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0"/>
          <p:cNvSpPr/>
          <p:nvPr/>
        </p:nvSpPr>
        <p:spPr>
          <a:xfrm>
            <a:off x="9806285" y="3169890"/>
            <a:ext cx="1003102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3460"/>
              </a:buClr>
              <a:buSzPts val="1950"/>
              <a:buFont typeface="Manrope"/>
              <a:buNone/>
            </a:pPr>
            <a:r>
              <a:rPr b="1" i="0" lang="en-US" sz="1950" u="none" cap="none" strike="noStrike">
                <a:solidFill>
                  <a:srgbClr val="0F3460"/>
                </a:solidFill>
                <a:latin typeface="Manrope"/>
                <a:ea typeface="Manrope"/>
                <a:cs typeface="Manrope"/>
                <a:sym typeface="Manrope"/>
              </a:rPr>
              <a:t>S 6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0"/>
          <p:cNvSpPr/>
          <p:nvPr/>
        </p:nvSpPr>
        <p:spPr>
          <a:xfrm>
            <a:off x="10771287" y="3055590"/>
            <a:ext cx="9525" cy="571500"/>
          </a:xfrm>
          <a:prstGeom prst="rect">
            <a:avLst/>
          </a:prstGeom>
          <a:solidFill>
            <a:srgbClr val="EADCE4">
              <a:alpha val="8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0"/>
          <p:cNvSpPr/>
          <p:nvPr/>
        </p:nvSpPr>
        <p:spPr>
          <a:xfrm>
            <a:off x="10742712" y="3169890"/>
            <a:ext cx="1002953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3460"/>
              </a:buClr>
              <a:buSzPts val="1950"/>
              <a:buFont typeface="Manrope"/>
              <a:buNone/>
            </a:pPr>
            <a:r>
              <a:rPr b="1" i="0" lang="en-US" sz="1950" u="none" cap="none" strike="noStrike">
                <a:solidFill>
                  <a:srgbClr val="0F3460"/>
                </a:solidFill>
                <a:latin typeface="Manrope"/>
                <a:ea typeface="Manrope"/>
                <a:cs typeface="Manrope"/>
                <a:sym typeface="Manrope"/>
              </a:rPr>
              <a:t>S 7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0"/>
          <p:cNvSpPr/>
          <p:nvPr/>
        </p:nvSpPr>
        <p:spPr>
          <a:xfrm>
            <a:off x="11707564" y="3055590"/>
            <a:ext cx="9525" cy="571500"/>
          </a:xfrm>
          <a:prstGeom prst="rect">
            <a:avLst/>
          </a:prstGeom>
          <a:solidFill>
            <a:srgbClr val="EADCE4">
              <a:alpha val="8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0"/>
          <p:cNvSpPr/>
          <p:nvPr/>
        </p:nvSpPr>
        <p:spPr>
          <a:xfrm>
            <a:off x="11678989" y="3169890"/>
            <a:ext cx="1003102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3460"/>
              </a:buClr>
              <a:buSzPts val="1950"/>
              <a:buFont typeface="Manrope"/>
              <a:buNone/>
            </a:pPr>
            <a:r>
              <a:rPr b="1" i="0" lang="en-US" sz="1950" u="none" cap="none" strike="noStrike">
                <a:solidFill>
                  <a:srgbClr val="0F3460"/>
                </a:solidFill>
                <a:latin typeface="Manrope"/>
                <a:ea typeface="Manrope"/>
                <a:cs typeface="Manrope"/>
                <a:sym typeface="Manrope"/>
              </a:rPr>
              <a:t>S 8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0"/>
          <p:cNvSpPr/>
          <p:nvPr/>
        </p:nvSpPr>
        <p:spPr>
          <a:xfrm>
            <a:off x="12643991" y="3055590"/>
            <a:ext cx="9525" cy="571500"/>
          </a:xfrm>
          <a:prstGeom prst="rect">
            <a:avLst/>
          </a:prstGeom>
          <a:solidFill>
            <a:srgbClr val="EADCE4">
              <a:alpha val="8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0"/>
          <p:cNvSpPr/>
          <p:nvPr/>
        </p:nvSpPr>
        <p:spPr>
          <a:xfrm>
            <a:off x="12615416" y="3169890"/>
            <a:ext cx="1003102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3460"/>
              </a:buClr>
              <a:buSzPts val="1950"/>
              <a:buFont typeface="Manrope"/>
              <a:buNone/>
            </a:pPr>
            <a:r>
              <a:rPr b="1" i="0" lang="en-US" sz="1950" u="none" cap="none" strike="noStrike">
                <a:solidFill>
                  <a:srgbClr val="0F3460"/>
                </a:solidFill>
                <a:latin typeface="Manrope"/>
                <a:ea typeface="Manrope"/>
                <a:cs typeface="Manrope"/>
                <a:sym typeface="Manrope"/>
              </a:rPr>
              <a:t>S 9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0"/>
          <p:cNvSpPr/>
          <p:nvPr/>
        </p:nvSpPr>
        <p:spPr>
          <a:xfrm>
            <a:off x="13580418" y="3055590"/>
            <a:ext cx="9525" cy="571500"/>
          </a:xfrm>
          <a:prstGeom prst="rect">
            <a:avLst/>
          </a:prstGeom>
          <a:solidFill>
            <a:srgbClr val="EADCE4">
              <a:alpha val="8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0"/>
          <p:cNvSpPr/>
          <p:nvPr/>
        </p:nvSpPr>
        <p:spPr>
          <a:xfrm>
            <a:off x="13551843" y="3169890"/>
            <a:ext cx="1002953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3460"/>
              </a:buClr>
              <a:buSzPts val="1950"/>
              <a:buFont typeface="Manrope"/>
              <a:buNone/>
            </a:pPr>
            <a:r>
              <a:rPr b="1" i="0" lang="en-US" sz="1950" u="none" cap="none" strike="noStrike">
                <a:solidFill>
                  <a:srgbClr val="0F3460"/>
                </a:solidFill>
                <a:latin typeface="Manrope"/>
                <a:ea typeface="Manrope"/>
                <a:cs typeface="Manrope"/>
                <a:sym typeface="Manrope"/>
              </a:rPr>
              <a:t>S 10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0"/>
          <p:cNvSpPr/>
          <p:nvPr/>
        </p:nvSpPr>
        <p:spPr>
          <a:xfrm>
            <a:off x="14516695" y="3055590"/>
            <a:ext cx="9525" cy="571500"/>
          </a:xfrm>
          <a:prstGeom prst="rect">
            <a:avLst/>
          </a:prstGeom>
          <a:solidFill>
            <a:srgbClr val="EADCE4">
              <a:alpha val="8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0"/>
          <p:cNvSpPr/>
          <p:nvPr/>
        </p:nvSpPr>
        <p:spPr>
          <a:xfrm>
            <a:off x="14488120" y="3169890"/>
            <a:ext cx="1003102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3460"/>
              </a:buClr>
              <a:buSzPts val="1950"/>
              <a:buFont typeface="Manrope"/>
              <a:buNone/>
            </a:pPr>
            <a:r>
              <a:rPr b="1" i="0" lang="en-US" sz="1950" u="none" cap="none" strike="noStrike">
                <a:solidFill>
                  <a:srgbClr val="0F3460"/>
                </a:solidFill>
                <a:latin typeface="Manrope"/>
                <a:ea typeface="Manrope"/>
                <a:cs typeface="Manrope"/>
                <a:sym typeface="Manrope"/>
              </a:rPr>
              <a:t>S 11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0"/>
          <p:cNvSpPr/>
          <p:nvPr/>
        </p:nvSpPr>
        <p:spPr>
          <a:xfrm>
            <a:off x="15453122" y="3055590"/>
            <a:ext cx="9525" cy="571500"/>
          </a:xfrm>
          <a:prstGeom prst="rect">
            <a:avLst/>
          </a:prstGeom>
          <a:solidFill>
            <a:srgbClr val="EADCE4">
              <a:alpha val="8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0"/>
          <p:cNvSpPr/>
          <p:nvPr/>
        </p:nvSpPr>
        <p:spPr>
          <a:xfrm>
            <a:off x="15424547" y="3169890"/>
            <a:ext cx="1003102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3460"/>
              </a:buClr>
              <a:buSzPts val="1950"/>
              <a:buFont typeface="Manrope"/>
              <a:buNone/>
            </a:pPr>
            <a:r>
              <a:rPr b="1" i="0" lang="en-US" sz="1950" u="none" cap="none" strike="noStrike">
                <a:solidFill>
                  <a:srgbClr val="0F3460"/>
                </a:solidFill>
                <a:latin typeface="Manrope"/>
                <a:ea typeface="Manrope"/>
                <a:cs typeface="Manrope"/>
                <a:sym typeface="Manrope"/>
              </a:rPr>
              <a:t>S 12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0"/>
          <p:cNvSpPr/>
          <p:nvPr/>
        </p:nvSpPr>
        <p:spPr>
          <a:xfrm>
            <a:off x="16389548" y="3055590"/>
            <a:ext cx="9525" cy="571500"/>
          </a:xfrm>
          <a:prstGeom prst="rect">
            <a:avLst/>
          </a:prstGeom>
          <a:solidFill>
            <a:srgbClr val="EADCE4">
              <a:alpha val="8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0"/>
          <p:cNvSpPr/>
          <p:nvPr/>
        </p:nvSpPr>
        <p:spPr>
          <a:xfrm>
            <a:off x="16360973" y="3169890"/>
            <a:ext cx="1003102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3460"/>
              </a:buClr>
              <a:buSzPts val="1950"/>
              <a:buFont typeface="Manrope"/>
              <a:buNone/>
            </a:pPr>
            <a:r>
              <a:rPr b="1" i="0" lang="en-US" sz="1950" u="none" cap="none" strike="noStrike">
                <a:solidFill>
                  <a:srgbClr val="0F3460"/>
                </a:solidFill>
                <a:latin typeface="Manrope"/>
                <a:ea typeface="Manrope"/>
                <a:cs typeface="Manrope"/>
                <a:sym typeface="Manrope"/>
              </a:rPr>
              <a:t>S 13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0"/>
          <p:cNvSpPr/>
          <p:nvPr/>
        </p:nvSpPr>
        <p:spPr>
          <a:xfrm>
            <a:off x="962025" y="4379565"/>
            <a:ext cx="16363950" cy="9525"/>
          </a:xfrm>
          <a:prstGeom prst="rect">
            <a:avLst/>
          </a:prstGeom>
          <a:solidFill>
            <a:srgbClr val="EAD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0"/>
          <p:cNvSpPr/>
          <p:nvPr/>
        </p:nvSpPr>
        <p:spPr>
          <a:xfrm>
            <a:off x="5143500" y="3644981"/>
            <a:ext cx="9525" cy="742950"/>
          </a:xfrm>
          <a:prstGeom prst="rect">
            <a:avLst/>
          </a:prstGeom>
          <a:solidFill>
            <a:srgbClr val="EADCE4">
              <a:alpha val="9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0"/>
          <p:cNvSpPr/>
          <p:nvPr/>
        </p:nvSpPr>
        <p:spPr>
          <a:xfrm>
            <a:off x="1190625" y="3849768"/>
            <a:ext cx="3610972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2105"/>
              </a:lnSpc>
              <a:spcBef>
                <a:spcPts val="0"/>
              </a:spcBef>
              <a:spcAft>
                <a:spcPts val="0"/>
              </a:spcAft>
              <a:buClr>
                <a:srgbClr val="0F3460"/>
              </a:buClr>
              <a:buSzPts val="2100"/>
              <a:buFont typeface="Manrope"/>
              <a:buNone/>
            </a:pPr>
            <a:r>
              <a:rPr b="1" i="0" lang="en-US" sz="2100" u="none" cap="none" strike="noStrike">
                <a:solidFill>
                  <a:srgbClr val="0F3460"/>
                </a:solidFill>
                <a:latin typeface="Manrope"/>
                <a:ea typeface="Manrope"/>
                <a:cs typeface="Manrope"/>
                <a:sym typeface="Manrope"/>
              </a:rPr>
              <a:t>Planificación del proyecto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0"/>
          <p:cNvSpPr/>
          <p:nvPr/>
        </p:nvSpPr>
        <p:spPr>
          <a:xfrm>
            <a:off x="5153025" y="3636615"/>
            <a:ext cx="12172950" cy="742950"/>
          </a:xfrm>
          <a:prstGeom prst="rect">
            <a:avLst/>
          </a:prstGeom>
          <a:solidFill>
            <a:srgbClr val="FFFFFF">
              <a:alpha val="5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0"/>
          <p:cNvSpPr/>
          <p:nvPr/>
        </p:nvSpPr>
        <p:spPr>
          <a:xfrm>
            <a:off x="5153025" y="3636615"/>
            <a:ext cx="9525" cy="742950"/>
          </a:xfrm>
          <a:prstGeom prst="rect">
            <a:avLst/>
          </a:prstGeom>
          <a:solidFill>
            <a:srgbClr val="EAD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0"/>
          <p:cNvSpPr/>
          <p:nvPr/>
        </p:nvSpPr>
        <p:spPr>
          <a:xfrm>
            <a:off x="6089303" y="3636615"/>
            <a:ext cx="9525" cy="742950"/>
          </a:xfrm>
          <a:prstGeom prst="rect">
            <a:avLst/>
          </a:prstGeom>
          <a:solidFill>
            <a:srgbClr val="EAD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0"/>
          <p:cNvSpPr/>
          <p:nvPr/>
        </p:nvSpPr>
        <p:spPr>
          <a:xfrm>
            <a:off x="7025729" y="3636615"/>
            <a:ext cx="9525" cy="742950"/>
          </a:xfrm>
          <a:prstGeom prst="rect">
            <a:avLst/>
          </a:prstGeom>
          <a:solidFill>
            <a:srgbClr val="EAD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0"/>
          <p:cNvSpPr/>
          <p:nvPr/>
        </p:nvSpPr>
        <p:spPr>
          <a:xfrm>
            <a:off x="7962156" y="3636615"/>
            <a:ext cx="9525" cy="742950"/>
          </a:xfrm>
          <a:prstGeom prst="rect">
            <a:avLst/>
          </a:prstGeom>
          <a:solidFill>
            <a:srgbClr val="EAD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0"/>
          <p:cNvSpPr/>
          <p:nvPr/>
        </p:nvSpPr>
        <p:spPr>
          <a:xfrm>
            <a:off x="8898434" y="3636615"/>
            <a:ext cx="9525" cy="742950"/>
          </a:xfrm>
          <a:prstGeom prst="rect">
            <a:avLst/>
          </a:prstGeom>
          <a:solidFill>
            <a:srgbClr val="EAD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0"/>
          <p:cNvSpPr/>
          <p:nvPr/>
        </p:nvSpPr>
        <p:spPr>
          <a:xfrm>
            <a:off x="9834860" y="3636615"/>
            <a:ext cx="9525" cy="742950"/>
          </a:xfrm>
          <a:prstGeom prst="rect">
            <a:avLst/>
          </a:prstGeom>
          <a:solidFill>
            <a:srgbClr val="EAD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0"/>
          <p:cNvSpPr/>
          <p:nvPr/>
        </p:nvSpPr>
        <p:spPr>
          <a:xfrm>
            <a:off x="10771287" y="3636615"/>
            <a:ext cx="9525" cy="742950"/>
          </a:xfrm>
          <a:prstGeom prst="rect">
            <a:avLst/>
          </a:prstGeom>
          <a:solidFill>
            <a:srgbClr val="EAD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0"/>
          <p:cNvSpPr/>
          <p:nvPr/>
        </p:nvSpPr>
        <p:spPr>
          <a:xfrm>
            <a:off x="11707564" y="3636615"/>
            <a:ext cx="9525" cy="742950"/>
          </a:xfrm>
          <a:prstGeom prst="rect">
            <a:avLst/>
          </a:prstGeom>
          <a:solidFill>
            <a:srgbClr val="EAD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0"/>
          <p:cNvSpPr/>
          <p:nvPr/>
        </p:nvSpPr>
        <p:spPr>
          <a:xfrm>
            <a:off x="12643991" y="3636615"/>
            <a:ext cx="9525" cy="742950"/>
          </a:xfrm>
          <a:prstGeom prst="rect">
            <a:avLst/>
          </a:prstGeom>
          <a:solidFill>
            <a:srgbClr val="EAD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0"/>
          <p:cNvSpPr/>
          <p:nvPr/>
        </p:nvSpPr>
        <p:spPr>
          <a:xfrm>
            <a:off x="13580418" y="3636615"/>
            <a:ext cx="9525" cy="742950"/>
          </a:xfrm>
          <a:prstGeom prst="rect">
            <a:avLst/>
          </a:prstGeom>
          <a:solidFill>
            <a:srgbClr val="EAD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0"/>
          <p:cNvSpPr/>
          <p:nvPr/>
        </p:nvSpPr>
        <p:spPr>
          <a:xfrm>
            <a:off x="14516695" y="3636615"/>
            <a:ext cx="9525" cy="742950"/>
          </a:xfrm>
          <a:prstGeom prst="rect">
            <a:avLst/>
          </a:prstGeom>
          <a:solidFill>
            <a:srgbClr val="EAD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0"/>
          <p:cNvSpPr/>
          <p:nvPr/>
        </p:nvSpPr>
        <p:spPr>
          <a:xfrm>
            <a:off x="15453122" y="3636615"/>
            <a:ext cx="9525" cy="742950"/>
          </a:xfrm>
          <a:prstGeom prst="rect">
            <a:avLst/>
          </a:prstGeom>
          <a:solidFill>
            <a:srgbClr val="EAD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0"/>
          <p:cNvSpPr/>
          <p:nvPr/>
        </p:nvSpPr>
        <p:spPr>
          <a:xfrm>
            <a:off x="16389548" y="3636615"/>
            <a:ext cx="9525" cy="742950"/>
          </a:xfrm>
          <a:prstGeom prst="rect">
            <a:avLst/>
          </a:prstGeom>
          <a:solidFill>
            <a:srgbClr val="EAD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0"/>
          <p:cNvSpPr/>
          <p:nvPr/>
        </p:nvSpPr>
        <p:spPr>
          <a:xfrm>
            <a:off x="5153025" y="3769965"/>
            <a:ext cx="3466545" cy="47625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0"/>
          <p:cNvSpPr/>
          <p:nvPr/>
        </p:nvSpPr>
        <p:spPr>
          <a:xfrm>
            <a:off x="962025" y="5132040"/>
            <a:ext cx="16363950" cy="9525"/>
          </a:xfrm>
          <a:prstGeom prst="rect">
            <a:avLst/>
          </a:prstGeom>
          <a:solidFill>
            <a:srgbClr val="EAD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0"/>
          <p:cNvSpPr/>
          <p:nvPr/>
        </p:nvSpPr>
        <p:spPr>
          <a:xfrm>
            <a:off x="5143500" y="4397456"/>
            <a:ext cx="9525" cy="742950"/>
          </a:xfrm>
          <a:prstGeom prst="rect">
            <a:avLst/>
          </a:prstGeom>
          <a:solidFill>
            <a:srgbClr val="EADCE4">
              <a:alpha val="9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0"/>
          <p:cNvSpPr/>
          <p:nvPr/>
        </p:nvSpPr>
        <p:spPr>
          <a:xfrm>
            <a:off x="1190625" y="4602243"/>
            <a:ext cx="3958858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2105"/>
              </a:lnSpc>
              <a:spcBef>
                <a:spcPts val="0"/>
              </a:spcBef>
              <a:spcAft>
                <a:spcPts val="0"/>
              </a:spcAft>
              <a:buClr>
                <a:srgbClr val="0F3460"/>
              </a:buClr>
              <a:buSzPts val="2100"/>
              <a:buFont typeface="Manrope"/>
              <a:buNone/>
            </a:pPr>
            <a:r>
              <a:rPr b="1" i="0" lang="en-US" sz="2100" u="none" cap="none" strike="noStrike">
                <a:solidFill>
                  <a:srgbClr val="0F3460"/>
                </a:solidFill>
                <a:latin typeface="Manrope"/>
                <a:ea typeface="Manrope"/>
                <a:cs typeface="Manrope"/>
                <a:sym typeface="Manrope"/>
              </a:rPr>
              <a:t>Diseño e implementación VR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0"/>
          <p:cNvSpPr/>
          <p:nvPr/>
        </p:nvSpPr>
        <p:spPr>
          <a:xfrm>
            <a:off x="5153025" y="4389090"/>
            <a:ext cx="12172950" cy="742950"/>
          </a:xfrm>
          <a:prstGeom prst="rect">
            <a:avLst/>
          </a:prstGeom>
          <a:solidFill>
            <a:srgbClr val="FFFFFF">
              <a:alpha val="5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0"/>
          <p:cNvSpPr/>
          <p:nvPr/>
        </p:nvSpPr>
        <p:spPr>
          <a:xfrm>
            <a:off x="5153025" y="4389090"/>
            <a:ext cx="9525" cy="742950"/>
          </a:xfrm>
          <a:prstGeom prst="rect">
            <a:avLst/>
          </a:prstGeom>
          <a:solidFill>
            <a:srgbClr val="EAD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0"/>
          <p:cNvSpPr/>
          <p:nvPr/>
        </p:nvSpPr>
        <p:spPr>
          <a:xfrm>
            <a:off x="6089303" y="4389090"/>
            <a:ext cx="9525" cy="742950"/>
          </a:xfrm>
          <a:prstGeom prst="rect">
            <a:avLst/>
          </a:prstGeom>
          <a:solidFill>
            <a:srgbClr val="EAD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0"/>
          <p:cNvSpPr/>
          <p:nvPr/>
        </p:nvSpPr>
        <p:spPr>
          <a:xfrm>
            <a:off x="7025729" y="4389090"/>
            <a:ext cx="9525" cy="742950"/>
          </a:xfrm>
          <a:prstGeom prst="rect">
            <a:avLst/>
          </a:prstGeom>
          <a:solidFill>
            <a:srgbClr val="EAD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0"/>
          <p:cNvSpPr/>
          <p:nvPr/>
        </p:nvSpPr>
        <p:spPr>
          <a:xfrm>
            <a:off x="7962156" y="4389090"/>
            <a:ext cx="9525" cy="742950"/>
          </a:xfrm>
          <a:prstGeom prst="rect">
            <a:avLst/>
          </a:prstGeom>
          <a:solidFill>
            <a:srgbClr val="EAD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0"/>
          <p:cNvSpPr/>
          <p:nvPr/>
        </p:nvSpPr>
        <p:spPr>
          <a:xfrm>
            <a:off x="8898434" y="4389090"/>
            <a:ext cx="9525" cy="742950"/>
          </a:xfrm>
          <a:prstGeom prst="rect">
            <a:avLst/>
          </a:prstGeom>
          <a:solidFill>
            <a:srgbClr val="EAD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0"/>
          <p:cNvSpPr/>
          <p:nvPr/>
        </p:nvSpPr>
        <p:spPr>
          <a:xfrm>
            <a:off x="9834860" y="4389090"/>
            <a:ext cx="9525" cy="742950"/>
          </a:xfrm>
          <a:prstGeom prst="rect">
            <a:avLst/>
          </a:prstGeom>
          <a:solidFill>
            <a:srgbClr val="EAD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0"/>
          <p:cNvSpPr/>
          <p:nvPr/>
        </p:nvSpPr>
        <p:spPr>
          <a:xfrm>
            <a:off x="10771287" y="4389090"/>
            <a:ext cx="9525" cy="742950"/>
          </a:xfrm>
          <a:prstGeom prst="rect">
            <a:avLst/>
          </a:prstGeom>
          <a:solidFill>
            <a:srgbClr val="EAD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0"/>
          <p:cNvSpPr/>
          <p:nvPr/>
        </p:nvSpPr>
        <p:spPr>
          <a:xfrm>
            <a:off x="11707564" y="4389090"/>
            <a:ext cx="9525" cy="742950"/>
          </a:xfrm>
          <a:prstGeom prst="rect">
            <a:avLst/>
          </a:prstGeom>
          <a:solidFill>
            <a:srgbClr val="EAD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0"/>
          <p:cNvSpPr/>
          <p:nvPr/>
        </p:nvSpPr>
        <p:spPr>
          <a:xfrm>
            <a:off x="12643991" y="4389090"/>
            <a:ext cx="9525" cy="742950"/>
          </a:xfrm>
          <a:prstGeom prst="rect">
            <a:avLst/>
          </a:prstGeom>
          <a:solidFill>
            <a:srgbClr val="EAD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0"/>
          <p:cNvSpPr/>
          <p:nvPr/>
        </p:nvSpPr>
        <p:spPr>
          <a:xfrm>
            <a:off x="13580418" y="4389090"/>
            <a:ext cx="9525" cy="742950"/>
          </a:xfrm>
          <a:prstGeom prst="rect">
            <a:avLst/>
          </a:prstGeom>
          <a:solidFill>
            <a:srgbClr val="EAD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0"/>
          <p:cNvSpPr/>
          <p:nvPr/>
        </p:nvSpPr>
        <p:spPr>
          <a:xfrm>
            <a:off x="14516695" y="4389090"/>
            <a:ext cx="9525" cy="742950"/>
          </a:xfrm>
          <a:prstGeom prst="rect">
            <a:avLst/>
          </a:prstGeom>
          <a:solidFill>
            <a:srgbClr val="EAD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0"/>
          <p:cNvSpPr/>
          <p:nvPr/>
        </p:nvSpPr>
        <p:spPr>
          <a:xfrm>
            <a:off x="15453122" y="4389090"/>
            <a:ext cx="9525" cy="742950"/>
          </a:xfrm>
          <a:prstGeom prst="rect">
            <a:avLst/>
          </a:prstGeom>
          <a:solidFill>
            <a:srgbClr val="EAD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0"/>
          <p:cNvSpPr/>
          <p:nvPr/>
        </p:nvSpPr>
        <p:spPr>
          <a:xfrm>
            <a:off x="16389548" y="4389090"/>
            <a:ext cx="9525" cy="742950"/>
          </a:xfrm>
          <a:prstGeom prst="rect">
            <a:avLst/>
          </a:prstGeom>
          <a:solidFill>
            <a:srgbClr val="EAD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0"/>
          <p:cNvSpPr/>
          <p:nvPr/>
        </p:nvSpPr>
        <p:spPr>
          <a:xfrm>
            <a:off x="8898434" y="4522440"/>
            <a:ext cx="4333389" cy="47625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0"/>
          <p:cNvSpPr/>
          <p:nvPr/>
        </p:nvSpPr>
        <p:spPr>
          <a:xfrm>
            <a:off x="962025" y="5884515"/>
            <a:ext cx="16363950" cy="9525"/>
          </a:xfrm>
          <a:prstGeom prst="rect">
            <a:avLst/>
          </a:prstGeom>
          <a:solidFill>
            <a:srgbClr val="EAD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0"/>
          <p:cNvSpPr/>
          <p:nvPr/>
        </p:nvSpPr>
        <p:spPr>
          <a:xfrm>
            <a:off x="5143500" y="5149931"/>
            <a:ext cx="9525" cy="742950"/>
          </a:xfrm>
          <a:prstGeom prst="rect">
            <a:avLst/>
          </a:prstGeom>
          <a:solidFill>
            <a:srgbClr val="EADCE4">
              <a:alpha val="9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0"/>
          <p:cNvSpPr/>
          <p:nvPr/>
        </p:nvSpPr>
        <p:spPr>
          <a:xfrm>
            <a:off x="1190625" y="5354719"/>
            <a:ext cx="3048134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2105"/>
              </a:lnSpc>
              <a:spcBef>
                <a:spcPts val="0"/>
              </a:spcBef>
              <a:spcAft>
                <a:spcPts val="0"/>
              </a:spcAft>
              <a:buClr>
                <a:srgbClr val="0F3460"/>
              </a:buClr>
              <a:buSzPts val="2100"/>
              <a:buFont typeface="Manrope"/>
              <a:buNone/>
            </a:pPr>
            <a:r>
              <a:rPr b="1" i="0" lang="en-US" sz="2100" u="none" cap="none" strike="noStrike">
                <a:solidFill>
                  <a:srgbClr val="0F3460"/>
                </a:solidFill>
                <a:latin typeface="Manrope"/>
                <a:ea typeface="Manrope"/>
                <a:cs typeface="Manrope"/>
                <a:sym typeface="Manrope"/>
              </a:rPr>
              <a:t>Arquitectura de datos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0"/>
          <p:cNvSpPr/>
          <p:nvPr/>
        </p:nvSpPr>
        <p:spPr>
          <a:xfrm>
            <a:off x="5153025" y="5141565"/>
            <a:ext cx="12172950" cy="742950"/>
          </a:xfrm>
          <a:prstGeom prst="rect">
            <a:avLst/>
          </a:prstGeom>
          <a:solidFill>
            <a:srgbClr val="FFFFFF">
              <a:alpha val="5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0"/>
          <p:cNvSpPr/>
          <p:nvPr/>
        </p:nvSpPr>
        <p:spPr>
          <a:xfrm>
            <a:off x="5153025" y="5141565"/>
            <a:ext cx="9525" cy="742950"/>
          </a:xfrm>
          <a:prstGeom prst="rect">
            <a:avLst/>
          </a:prstGeom>
          <a:solidFill>
            <a:srgbClr val="EAD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0"/>
          <p:cNvSpPr/>
          <p:nvPr/>
        </p:nvSpPr>
        <p:spPr>
          <a:xfrm>
            <a:off x="6089303" y="5141565"/>
            <a:ext cx="9525" cy="742950"/>
          </a:xfrm>
          <a:prstGeom prst="rect">
            <a:avLst/>
          </a:prstGeom>
          <a:solidFill>
            <a:srgbClr val="EAD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0"/>
          <p:cNvSpPr/>
          <p:nvPr/>
        </p:nvSpPr>
        <p:spPr>
          <a:xfrm>
            <a:off x="7025729" y="5141565"/>
            <a:ext cx="9525" cy="742950"/>
          </a:xfrm>
          <a:prstGeom prst="rect">
            <a:avLst/>
          </a:prstGeom>
          <a:solidFill>
            <a:srgbClr val="EAD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0"/>
          <p:cNvSpPr/>
          <p:nvPr/>
        </p:nvSpPr>
        <p:spPr>
          <a:xfrm>
            <a:off x="7962156" y="5141565"/>
            <a:ext cx="9525" cy="742950"/>
          </a:xfrm>
          <a:prstGeom prst="rect">
            <a:avLst/>
          </a:prstGeom>
          <a:solidFill>
            <a:srgbClr val="EAD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0"/>
          <p:cNvSpPr/>
          <p:nvPr/>
        </p:nvSpPr>
        <p:spPr>
          <a:xfrm>
            <a:off x="8898434" y="5141565"/>
            <a:ext cx="9525" cy="742950"/>
          </a:xfrm>
          <a:prstGeom prst="rect">
            <a:avLst/>
          </a:prstGeom>
          <a:solidFill>
            <a:srgbClr val="EAD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0"/>
          <p:cNvSpPr/>
          <p:nvPr/>
        </p:nvSpPr>
        <p:spPr>
          <a:xfrm>
            <a:off x="9834860" y="5141565"/>
            <a:ext cx="9525" cy="742950"/>
          </a:xfrm>
          <a:prstGeom prst="rect">
            <a:avLst/>
          </a:prstGeom>
          <a:solidFill>
            <a:srgbClr val="EAD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0"/>
          <p:cNvSpPr/>
          <p:nvPr/>
        </p:nvSpPr>
        <p:spPr>
          <a:xfrm>
            <a:off x="10771287" y="5141565"/>
            <a:ext cx="9525" cy="742950"/>
          </a:xfrm>
          <a:prstGeom prst="rect">
            <a:avLst/>
          </a:prstGeom>
          <a:solidFill>
            <a:srgbClr val="EAD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0"/>
          <p:cNvSpPr/>
          <p:nvPr/>
        </p:nvSpPr>
        <p:spPr>
          <a:xfrm>
            <a:off x="11707564" y="5141565"/>
            <a:ext cx="9525" cy="742950"/>
          </a:xfrm>
          <a:prstGeom prst="rect">
            <a:avLst/>
          </a:prstGeom>
          <a:solidFill>
            <a:srgbClr val="EAD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0"/>
          <p:cNvSpPr/>
          <p:nvPr/>
        </p:nvSpPr>
        <p:spPr>
          <a:xfrm>
            <a:off x="12643991" y="5141565"/>
            <a:ext cx="9525" cy="742950"/>
          </a:xfrm>
          <a:prstGeom prst="rect">
            <a:avLst/>
          </a:prstGeom>
          <a:solidFill>
            <a:srgbClr val="EAD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0"/>
          <p:cNvSpPr/>
          <p:nvPr/>
        </p:nvSpPr>
        <p:spPr>
          <a:xfrm>
            <a:off x="13580418" y="5141565"/>
            <a:ext cx="9525" cy="742950"/>
          </a:xfrm>
          <a:prstGeom prst="rect">
            <a:avLst/>
          </a:prstGeom>
          <a:solidFill>
            <a:srgbClr val="EAD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0"/>
          <p:cNvSpPr/>
          <p:nvPr/>
        </p:nvSpPr>
        <p:spPr>
          <a:xfrm>
            <a:off x="14516695" y="5141565"/>
            <a:ext cx="9525" cy="742950"/>
          </a:xfrm>
          <a:prstGeom prst="rect">
            <a:avLst/>
          </a:prstGeom>
          <a:solidFill>
            <a:srgbClr val="EAD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0"/>
          <p:cNvSpPr/>
          <p:nvPr/>
        </p:nvSpPr>
        <p:spPr>
          <a:xfrm>
            <a:off x="15453122" y="5141565"/>
            <a:ext cx="9525" cy="742950"/>
          </a:xfrm>
          <a:prstGeom prst="rect">
            <a:avLst/>
          </a:prstGeom>
          <a:solidFill>
            <a:srgbClr val="EAD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0"/>
          <p:cNvSpPr/>
          <p:nvPr/>
        </p:nvSpPr>
        <p:spPr>
          <a:xfrm>
            <a:off x="16389548" y="5141565"/>
            <a:ext cx="9525" cy="742950"/>
          </a:xfrm>
          <a:prstGeom prst="rect">
            <a:avLst/>
          </a:prstGeom>
          <a:solidFill>
            <a:srgbClr val="EAD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0"/>
          <p:cNvSpPr/>
          <p:nvPr/>
        </p:nvSpPr>
        <p:spPr>
          <a:xfrm>
            <a:off x="8898434" y="5274915"/>
            <a:ext cx="3466684" cy="47625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0"/>
          <p:cNvSpPr/>
          <p:nvPr/>
        </p:nvSpPr>
        <p:spPr>
          <a:xfrm>
            <a:off x="962025" y="6636990"/>
            <a:ext cx="16363950" cy="9525"/>
          </a:xfrm>
          <a:prstGeom prst="rect">
            <a:avLst/>
          </a:prstGeom>
          <a:solidFill>
            <a:srgbClr val="EAD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0"/>
          <p:cNvSpPr/>
          <p:nvPr/>
        </p:nvSpPr>
        <p:spPr>
          <a:xfrm>
            <a:off x="5143500" y="5902406"/>
            <a:ext cx="9525" cy="742950"/>
          </a:xfrm>
          <a:prstGeom prst="rect">
            <a:avLst/>
          </a:prstGeom>
          <a:solidFill>
            <a:srgbClr val="EADCE4">
              <a:alpha val="9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0"/>
          <p:cNvSpPr/>
          <p:nvPr/>
        </p:nvSpPr>
        <p:spPr>
          <a:xfrm>
            <a:off x="1190625" y="6107194"/>
            <a:ext cx="355285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2105"/>
              </a:lnSpc>
              <a:spcBef>
                <a:spcPts val="0"/>
              </a:spcBef>
              <a:spcAft>
                <a:spcPts val="0"/>
              </a:spcAft>
              <a:buClr>
                <a:srgbClr val="0F3460"/>
              </a:buClr>
              <a:buSzPts val="2100"/>
              <a:buFont typeface="Manrope"/>
              <a:buNone/>
            </a:pPr>
            <a:r>
              <a:rPr b="1" i="0" lang="en-US" sz="2100" u="none" cap="none" strike="noStrike">
                <a:solidFill>
                  <a:srgbClr val="0F3460"/>
                </a:solidFill>
                <a:latin typeface="Manrope"/>
                <a:ea typeface="Manrope"/>
                <a:cs typeface="Manrope"/>
                <a:sym typeface="Manrope"/>
              </a:rPr>
              <a:t>Coordinación con colegio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0"/>
          <p:cNvSpPr/>
          <p:nvPr/>
        </p:nvSpPr>
        <p:spPr>
          <a:xfrm>
            <a:off x="5153025" y="5894040"/>
            <a:ext cx="12172950" cy="742950"/>
          </a:xfrm>
          <a:prstGeom prst="rect">
            <a:avLst/>
          </a:prstGeom>
          <a:solidFill>
            <a:srgbClr val="FFFFFF">
              <a:alpha val="5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0"/>
          <p:cNvSpPr/>
          <p:nvPr/>
        </p:nvSpPr>
        <p:spPr>
          <a:xfrm>
            <a:off x="5153025" y="5894040"/>
            <a:ext cx="9525" cy="742950"/>
          </a:xfrm>
          <a:prstGeom prst="rect">
            <a:avLst/>
          </a:prstGeom>
          <a:solidFill>
            <a:srgbClr val="EAD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0"/>
          <p:cNvSpPr/>
          <p:nvPr/>
        </p:nvSpPr>
        <p:spPr>
          <a:xfrm>
            <a:off x="6089303" y="5894040"/>
            <a:ext cx="9525" cy="742950"/>
          </a:xfrm>
          <a:prstGeom prst="rect">
            <a:avLst/>
          </a:prstGeom>
          <a:solidFill>
            <a:srgbClr val="EAD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0"/>
          <p:cNvSpPr/>
          <p:nvPr/>
        </p:nvSpPr>
        <p:spPr>
          <a:xfrm>
            <a:off x="7025729" y="5894040"/>
            <a:ext cx="9525" cy="742950"/>
          </a:xfrm>
          <a:prstGeom prst="rect">
            <a:avLst/>
          </a:prstGeom>
          <a:solidFill>
            <a:srgbClr val="EAD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0"/>
          <p:cNvSpPr/>
          <p:nvPr/>
        </p:nvSpPr>
        <p:spPr>
          <a:xfrm>
            <a:off x="7962156" y="5894040"/>
            <a:ext cx="9525" cy="742950"/>
          </a:xfrm>
          <a:prstGeom prst="rect">
            <a:avLst/>
          </a:prstGeom>
          <a:solidFill>
            <a:srgbClr val="EAD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0"/>
          <p:cNvSpPr/>
          <p:nvPr/>
        </p:nvSpPr>
        <p:spPr>
          <a:xfrm>
            <a:off x="8898434" y="5894040"/>
            <a:ext cx="9525" cy="742950"/>
          </a:xfrm>
          <a:prstGeom prst="rect">
            <a:avLst/>
          </a:prstGeom>
          <a:solidFill>
            <a:srgbClr val="EAD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0"/>
          <p:cNvSpPr/>
          <p:nvPr/>
        </p:nvSpPr>
        <p:spPr>
          <a:xfrm>
            <a:off x="9834860" y="5894040"/>
            <a:ext cx="9525" cy="742950"/>
          </a:xfrm>
          <a:prstGeom prst="rect">
            <a:avLst/>
          </a:prstGeom>
          <a:solidFill>
            <a:srgbClr val="EAD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0"/>
          <p:cNvSpPr/>
          <p:nvPr/>
        </p:nvSpPr>
        <p:spPr>
          <a:xfrm>
            <a:off x="10771287" y="5894040"/>
            <a:ext cx="9525" cy="742950"/>
          </a:xfrm>
          <a:prstGeom prst="rect">
            <a:avLst/>
          </a:prstGeom>
          <a:solidFill>
            <a:srgbClr val="EAD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0"/>
          <p:cNvSpPr/>
          <p:nvPr/>
        </p:nvSpPr>
        <p:spPr>
          <a:xfrm>
            <a:off x="11707564" y="5894040"/>
            <a:ext cx="9525" cy="742950"/>
          </a:xfrm>
          <a:prstGeom prst="rect">
            <a:avLst/>
          </a:prstGeom>
          <a:solidFill>
            <a:srgbClr val="EAD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0"/>
          <p:cNvSpPr/>
          <p:nvPr/>
        </p:nvSpPr>
        <p:spPr>
          <a:xfrm>
            <a:off x="12643991" y="5894040"/>
            <a:ext cx="9525" cy="742950"/>
          </a:xfrm>
          <a:prstGeom prst="rect">
            <a:avLst/>
          </a:prstGeom>
          <a:solidFill>
            <a:srgbClr val="EAD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0"/>
          <p:cNvSpPr/>
          <p:nvPr/>
        </p:nvSpPr>
        <p:spPr>
          <a:xfrm>
            <a:off x="13580418" y="5894040"/>
            <a:ext cx="9525" cy="742950"/>
          </a:xfrm>
          <a:prstGeom prst="rect">
            <a:avLst/>
          </a:prstGeom>
          <a:solidFill>
            <a:srgbClr val="EAD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0"/>
          <p:cNvSpPr/>
          <p:nvPr/>
        </p:nvSpPr>
        <p:spPr>
          <a:xfrm>
            <a:off x="14516695" y="5894040"/>
            <a:ext cx="9525" cy="742950"/>
          </a:xfrm>
          <a:prstGeom prst="rect">
            <a:avLst/>
          </a:prstGeom>
          <a:solidFill>
            <a:srgbClr val="EAD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0"/>
          <p:cNvSpPr/>
          <p:nvPr/>
        </p:nvSpPr>
        <p:spPr>
          <a:xfrm>
            <a:off x="15453122" y="5894040"/>
            <a:ext cx="9525" cy="742950"/>
          </a:xfrm>
          <a:prstGeom prst="rect">
            <a:avLst/>
          </a:prstGeom>
          <a:solidFill>
            <a:srgbClr val="EAD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0"/>
          <p:cNvSpPr/>
          <p:nvPr/>
        </p:nvSpPr>
        <p:spPr>
          <a:xfrm>
            <a:off x="16389548" y="5894040"/>
            <a:ext cx="9525" cy="742950"/>
          </a:xfrm>
          <a:prstGeom prst="rect">
            <a:avLst/>
          </a:prstGeom>
          <a:solidFill>
            <a:srgbClr val="EAD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0"/>
          <p:cNvSpPr/>
          <p:nvPr/>
        </p:nvSpPr>
        <p:spPr>
          <a:xfrm>
            <a:off x="7025729" y="6027390"/>
            <a:ext cx="2599978" cy="47625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0"/>
          <p:cNvSpPr/>
          <p:nvPr/>
        </p:nvSpPr>
        <p:spPr>
          <a:xfrm>
            <a:off x="962025" y="7389465"/>
            <a:ext cx="16363950" cy="9525"/>
          </a:xfrm>
          <a:prstGeom prst="rect">
            <a:avLst/>
          </a:prstGeom>
          <a:solidFill>
            <a:srgbClr val="EAD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0"/>
          <p:cNvSpPr/>
          <p:nvPr/>
        </p:nvSpPr>
        <p:spPr>
          <a:xfrm>
            <a:off x="5143500" y="6654881"/>
            <a:ext cx="9525" cy="742950"/>
          </a:xfrm>
          <a:prstGeom prst="rect">
            <a:avLst/>
          </a:prstGeom>
          <a:solidFill>
            <a:srgbClr val="EADCE4">
              <a:alpha val="9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0"/>
          <p:cNvSpPr/>
          <p:nvPr/>
        </p:nvSpPr>
        <p:spPr>
          <a:xfrm>
            <a:off x="1190625" y="6859669"/>
            <a:ext cx="376109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2105"/>
              </a:lnSpc>
              <a:spcBef>
                <a:spcPts val="0"/>
              </a:spcBef>
              <a:spcAft>
                <a:spcPts val="0"/>
              </a:spcAft>
              <a:buClr>
                <a:srgbClr val="0F3460"/>
              </a:buClr>
              <a:buSzPts val="2100"/>
              <a:buFont typeface="Manrope"/>
              <a:buNone/>
            </a:pPr>
            <a:r>
              <a:rPr b="1" i="0" lang="en-US" sz="2100" u="none" cap="none" strike="noStrike">
                <a:solidFill>
                  <a:srgbClr val="0F3460"/>
                </a:solidFill>
                <a:latin typeface="Manrope"/>
                <a:ea typeface="Manrope"/>
                <a:cs typeface="Manrope"/>
                <a:sym typeface="Manrope"/>
              </a:rPr>
              <a:t>Consentimiento informado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0"/>
          <p:cNvSpPr/>
          <p:nvPr/>
        </p:nvSpPr>
        <p:spPr>
          <a:xfrm>
            <a:off x="5153025" y="6646515"/>
            <a:ext cx="12172950" cy="742950"/>
          </a:xfrm>
          <a:prstGeom prst="rect">
            <a:avLst/>
          </a:prstGeom>
          <a:solidFill>
            <a:srgbClr val="FFFFFF">
              <a:alpha val="5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0"/>
          <p:cNvSpPr/>
          <p:nvPr/>
        </p:nvSpPr>
        <p:spPr>
          <a:xfrm>
            <a:off x="5153025" y="6646515"/>
            <a:ext cx="9525" cy="742950"/>
          </a:xfrm>
          <a:prstGeom prst="rect">
            <a:avLst/>
          </a:prstGeom>
          <a:solidFill>
            <a:srgbClr val="EAD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0"/>
          <p:cNvSpPr/>
          <p:nvPr/>
        </p:nvSpPr>
        <p:spPr>
          <a:xfrm>
            <a:off x="6089303" y="6646515"/>
            <a:ext cx="9525" cy="742950"/>
          </a:xfrm>
          <a:prstGeom prst="rect">
            <a:avLst/>
          </a:prstGeom>
          <a:solidFill>
            <a:srgbClr val="EAD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0"/>
          <p:cNvSpPr/>
          <p:nvPr/>
        </p:nvSpPr>
        <p:spPr>
          <a:xfrm>
            <a:off x="7025729" y="6646515"/>
            <a:ext cx="9525" cy="742950"/>
          </a:xfrm>
          <a:prstGeom prst="rect">
            <a:avLst/>
          </a:prstGeom>
          <a:solidFill>
            <a:srgbClr val="EAD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0"/>
          <p:cNvSpPr/>
          <p:nvPr/>
        </p:nvSpPr>
        <p:spPr>
          <a:xfrm>
            <a:off x="7962156" y="6646515"/>
            <a:ext cx="9525" cy="742950"/>
          </a:xfrm>
          <a:prstGeom prst="rect">
            <a:avLst/>
          </a:prstGeom>
          <a:solidFill>
            <a:srgbClr val="EAD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0"/>
          <p:cNvSpPr/>
          <p:nvPr/>
        </p:nvSpPr>
        <p:spPr>
          <a:xfrm>
            <a:off x="8898434" y="6646515"/>
            <a:ext cx="9525" cy="742950"/>
          </a:xfrm>
          <a:prstGeom prst="rect">
            <a:avLst/>
          </a:prstGeom>
          <a:solidFill>
            <a:srgbClr val="EAD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0"/>
          <p:cNvSpPr/>
          <p:nvPr/>
        </p:nvSpPr>
        <p:spPr>
          <a:xfrm>
            <a:off x="9834860" y="6646515"/>
            <a:ext cx="9525" cy="742950"/>
          </a:xfrm>
          <a:prstGeom prst="rect">
            <a:avLst/>
          </a:prstGeom>
          <a:solidFill>
            <a:srgbClr val="EAD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0"/>
          <p:cNvSpPr/>
          <p:nvPr/>
        </p:nvSpPr>
        <p:spPr>
          <a:xfrm>
            <a:off x="10771287" y="6646515"/>
            <a:ext cx="9525" cy="742950"/>
          </a:xfrm>
          <a:prstGeom prst="rect">
            <a:avLst/>
          </a:prstGeom>
          <a:solidFill>
            <a:srgbClr val="EAD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0"/>
          <p:cNvSpPr/>
          <p:nvPr/>
        </p:nvSpPr>
        <p:spPr>
          <a:xfrm>
            <a:off x="11707564" y="6646515"/>
            <a:ext cx="9525" cy="742950"/>
          </a:xfrm>
          <a:prstGeom prst="rect">
            <a:avLst/>
          </a:prstGeom>
          <a:solidFill>
            <a:srgbClr val="EAD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0"/>
          <p:cNvSpPr/>
          <p:nvPr/>
        </p:nvSpPr>
        <p:spPr>
          <a:xfrm>
            <a:off x="12643991" y="6646515"/>
            <a:ext cx="9525" cy="742950"/>
          </a:xfrm>
          <a:prstGeom prst="rect">
            <a:avLst/>
          </a:prstGeom>
          <a:solidFill>
            <a:srgbClr val="EAD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0"/>
          <p:cNvSpPr/>
          <p:nvPr/>
        </p:nvSpPr>
        <p:spPr>
          <a:xfrm>
            <a:off x="13580418" y="6646515"/>
            <a:ext cx="9525" cy="742950"/>
          </a:xfrm>
          <a:prstGeom prst="rect">
            <a:avLst/>
          </a:prstGeom>
          <a:solidFill>
            <a:srgbClr val="EAD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0"/>
          <p:cNvSpPr/>
          <p:nvPr/>
        </p:nvSpPr>
        <p:spPr>
          <a:xfrm>
            <a:off x="14516695" y="6646515"/>
            <a:ext cx="9525" cy="742950"/>
          </a:xfrm>
          <a:prstGeom prst="rect">
            <a:avLst/>
          </a:prstGeom>
          <a:solidFill>
            <a:srgbClr val="EAD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0"/>
          <p:cNvSpPr/>
          <p:nvPr/>
        </p:nvSpPr>
        <p:spPr>
          <a:xfrm>
            <a:off x="15453122" y="6646515"/>
            <a:ext cx="9525" cy="742950"/>
          </a:xfrm>
          <a:prstGeom prst="rect">
            <a:avLst/>
          </a:prstGeom>
          <a:solidFill>
            <a:srgbClr val="EAD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0"/>
          <p:cNvSpPr/>
          <p:nvPr/>
        </p:nvSpPr>
        <p:spPr>
          <a:xfrm>
            <a:off x="16389548" y="6646515"/>
            <a:ext cx="9525" cy="742950"/>
          </a:xfrm>
          <a:prstGeom prst="rect">
            <a:avLst/>
          </a:prstGeom>
          <a:solidFill>
            <a:srgbClr val="EAD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0"/>
          <p:cNvSpPr/>
          <p:nvPr/>
        </p:nvSpPr>
        <p:spPr>
          <a:xfrm>
            <a:off x="8898434" y="6779865"/>
            <a:ext cx="1733410" cy="47625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0"/>
          <p:cNvSpPr/>
          <p:nvPr/>
        </p:nvSpPr>
        <p:spPr>
          <a:xfrm>
            <a:off x="962025" y="8141940"/>
            <a:ext cx="16363950" cy="9525"/>
          </a:xfrm>
          <a:prstGeom prst="rect">
            <a:avLst/>
          </a:prstGeom>
          <a:solidFill>
            <a:srgbClr val="EAD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0"/>
          <p:cNvSpPr/>
          <p:nvPr/>
        </p:nvSpPr>
        <p:spPr>
          <a:xfrm>
            <a:off x="5143500" y="7407356"/>
            <a:ext cx="9525" cy="742950"/>
          </a:xfrm>
          <a:prstGeom prst="rect">
            <a:avLst/>
          </a:prstGeom>
          <a:solidFill>
            <a:srgbClr val="EADCE4">
              <a:alpha val="9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0"/>
          <p:cNvSpPr/>
          <p:nvPr/>
        </p:nvSpPr>
        <p:spPr>
          <a:xfrm>
            <a:off x="1190625" y="7612144"/>
            <a:ext cx="2574191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2105"/>
              </a:lnSpc>
              <a:spcBef>
                <a:spcPts val="0"/>
              </a:spcBef>
              <a:spcAft>
                <a:spcPts val="0"/>
              </a:spcAft>
              <a:buClr>
                <a:srgbClr val="0F3460"/>
              </a:buClr>
              <a:buSzPts val="2100"/>
              <a:buFont typeface="Manrope"/>
              <a:buNone/>
            </a:pPr>
            <a:r>
              <a:rPr b="1" i="0" lang="en-US" sz="2100" u="none" cap="none" strike="noStrike">
                <a:solidFill>
                  <a:srgbClr val="0F3460"/>
                </a:solidFill>
                <a:latin typeface="Manrope"/>
                <a:ea typeface="Manrope"/>
                <a:cs typeface="Manrope"/>
                <a:sym typeface="Manrope"/>
              </a:rPr>
              <a:t>Pruebas de campo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0"/>
          <p:cNvSpPr/>
          <p:nvPr/>
        </p:nvSpPr>
        <p:spPr>
          <a:xfrm>
            <a:off x="5153025" y="7398990"/>
            <a:ext cx="12172950" cy="742950"/>
          </a:xfrm>
          <a:prstGeom prst="rect">
            <a:avLst/>
          </a:prstGeom>
          <a:solidFill>
            <a:srgbClr val="FFFFFF">
              <a:alpha val="5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0"/>
          <p:cNvSpPr/>
          <p:nvPr/>
        </p:nvSpPr>
        <p:spPr>
          <a:xfrm>
            <a:off x="5153025" y="7398990"/>
            <a:ext cx="9525" cy="742950"/>
          </a:xfrm>
          <a:prstGeom prst="rect">
            <a:avLst/>
          </a:prstGeom>
          <a:solidFill>
            <a:srgbClr val="EAD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0"/>
          <p:cNvSpPr/>
          <p:nvPr/>
        </p:nvSpPr>
        <p:spPr>
          <a:xfrm>
            <a:off x="6089303" y="7398990"/>
            <a:ext cx="9525" cy="742950"/>
          </a:xfrm>
          <a:prstGeom prst="rect">
            <a:avLst/>
          </a:prstGeom>
          <a:solidFill>
            <a:srgbClr val="EAD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0"/>
          <p:cNvSpPr/>
          <p:nvPr/>
        </p:nvSpPr>
        <p:spPr>
          <a:xfrm>
            <a:off x="7025729" y="7398990"/>
            <a:ext cx="9525" cy="742950"/>
          </a:xfrm>
          <a:prstGeom prst="rect">
            <a:avLst/>
          </a:prstGeom>
          <a:solidFill>
            <a:srgbClr val="EAD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0"/>
          <p:cNvSpPr/>
          <p:nvPr/>
        </p:nvSpPr>
        <p:spPr>
          <a:xfrm>
            <a:off x="7962156" y="7398990"/>
            <a:ext cx="9525" cy="742950"/>
          </a:xfrm>
          <a:prstGeom prst="rect">
            <a:avLst/>
          </a:prstGeom>
          <a:solidFill>
            <a:srgbClr val="EAD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0"/>
          <p:cNvSpPr/>
          <p:nvPr/>
        </p:nvSpPr>
        <p:spPr>
          <a:xfrm>
            <a:off x="8898434" y="7398990"/>
            <a:ext cx="9525" cy="742950"/>
          </a:xfrm>
          <a:prstGeom prst="rect">
            <a:avLst/>
          </a:prstGeom>
          <a:solidFill>
            <a:srgbClr val="EAD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0"/>
          <p:cNvSpPr/>
          <p:nvPr/>
        </p:nvSpPr>
        <p:spPr>
          <a:xfrm>
            <a:off x="9834860" y="7398990"/>
            <a:ext cx="9525" cy="742950"/>
          </a:xfrm>
          <a:prstGeom prst="rect">
            <a:avLst/>
          </a:prstGeom>
          <a:solidFill>
            <a:srgbClr val="EAD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0"/>
          <p:cNvSpPr/>
          <p:nvPr/>
        </p:nvSpPr>
        <p:spPr>
          <a:xfrm>
            <a:off x="10771287" y="7398990"/>
            <a:ext cx="9525" cy="742950"/>
          </a:xfrm>
          <a:prstGeom prst="rect">
            <a:avLst/>
          </a:prstGeom>
          <a:solidFill>
            <a:srgbClr val="EAD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0"/>
          <p:cNvSpPr/>
          <p:nvPr/>
        </p:nvSpPr>
        <p:spPr>
          <a:xfrm>
            <a:off x="11707564" y="7398990"/>
            <a:ext cx="9525" cy="742950"/>
          </a:xfrm>
          <a:prstGeom prst="rect">
            <a:avLst/>
          </a:prstGeom>
          <a:solidFill>
            <a:srgbClr val="EAD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0"/>
          <p:cNvSpPr/>
          <p:nvPr/>
        </p:nvSpPr>
        <p:spPr>
          <a:xfrm>
            <a:off x="12643991" y="7398990"/>
            <a:ext cx="9525" cy="742950"/>
          </a:xfrm>
          <a:prstGeom prst="rect">
            <a:avLst/>
          </a:prstGeom>
          <a:solidFill>
            <a:srgbClr val="EAD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0"/>
          <p:cNvSpPr/>
          <p:nvPr/>
        </p:nvSpPr>
        <p:spPr>
          <a:xfrm>
            <a:off x="13580418" y="7398990"/>
            <a:ext cx="9525" cy="742950"/>
          </a:xfrm>
          <a:prstGeom prst="rect">
            <a:avLst/>
          </a:prstGeom>
          <a:solidFill>
            <a:srgbClr val="EAD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0"/>
          <p:cNvSpPr/>
          <p:nvPr/>
        </p:nvSpPr>
        <p:spPr>
          <a:xfrm>
            <a:off x="14516695" y="7398990"/>
            <a:ext cx="9525" cy="742950"/>
          </a:xfrm>
          <a:prstGeom prst="rect">
            <a:avLst/>
          </a:prstGeom>
          <a:solidFill>
            <a:srgbClr val="EAD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0"/>
          <p:cNvSpPr/>
          <p:nvPr/>
        </p:nvSpPr>
        <p:spPr>
          <a:xfrm>
            <a:off x="15453122" y="7398990"/>
            <a:ext cx="9525" cy="742950"/>
          </a:xfrm>
          <a:prstGeom prst="rect">
            <a:avLst/>
          </a:prstGeom>
          <a:solidFill>
            <a:srgbClr val="EAD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0"/>
          <p:cNvSpPr/>
          <p:nvPr/>
        </p:nvSpPr>
        <p:spPr>
          <a:xfrm>
            <a:off x="16389548" y="7398990"/>
            <a:ext cx="9525" cy="742950"/>
          </a:xfrm>
          <a:prstGeom prst="rect">
            <a:avLst/>
          </a:prstGeom>
          <a:solidFill>
            <a:srgbClr val="EAD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10"/>
          <p:cNvSpPr/>
          <p:nvPr/>
        </p:nvSpPr>
        <p:spPr>
          <a:xfrm>
            <a:off x="11707564" y="7532340"/>
            <a:ext cx="2599979" cy="47625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10"/>
          <p:cNvSpPr/>
          <p:nvPr/>
        </p:nvSpPr>
        <p:spPr>
          <a:xfrm>
            <a:off x="962025" y="8894415"/>
            <a:ext cx="16363950" cy="9525"/>
          </a:xfrm>
          <a:prstGeom prst="rect">
            <a:avLst/>
          </a:prstGeom>
          <a:solidFill>
            <a:srgbClr val="EAD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0"/>
          <p:cNvSpPr/>
          <p:nvPr/>
        </p:nvSpPr>
        <p:spPr>
          <a:xfrm>
            <a:off x="5143500" y="8159831"/>
            <a:ext cx="9525" cy="742950"/>
          </a:xfrm>
          <a:prstGeom prst="rect">
            <a:avLst/>
          </a:prstGeom>
          <a:solidFill>
            <a:srgbClr val="EADCE4">
              <a:alpha val="9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0"/>
          <p:cNvSpPr/>
          <p:nvPr/>
        </p:nvSpPr>
        <p:spPr>
          <a:xfrm>
            <a:off x="1190625" y="8364619"/>
            <a:ext cx="3669417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2105"/>
              </a:lnSpc>
              <a:spcBef>
                <a:spcPts val="0"/>
              </a:spcBef>
              <a:spcAft>
                <a:spcPts val="0"/>
              </a:spcAft>
              <a:buClr>
                <a:srgbClr val="0F3460"/>
              </a:buClr>
              <a:buSzPts val="2100"/>
              <a:buFont typeface="Manrope"/>
              <a:buNone/>
            </a:pPr>
            <a:r>
              <a:rPr b="1" i="0" lang="en-US" sz="2100" u="none" cap="none" strike="noStrike">
                <a:solidFill>
                  <a:srgbClr val="0F3460"/>
                </a:solidFill>
                <a:latin typeface="Manrope"/>
                <a:ea typeface="Manrope"/>
                <a:cs typeface="Manrope"/>
                <a:sym typeface="Manrope"/>
              </a:rPr>
              <a:t>Transmisión de datos AWS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0"/>
          <p:cNvSpPr/>
          <p:nvPr/>
        </p:nvSpPr>
        <p:spPr>
          <a:xfrm>
            <a:off x="5153025" y="8151465"/>
            <a:ext cx="12172950" cy="742950"/>
          </a:xfrm>
          <a:prstGeom prst="rect">
            <a:avLst/>
          </a:prstGeom>
          <a:solidFill>
            <a:srgbClr val="FFFFFF">
              <a:alpha val="5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0"/>
          <p:cNvSpPr/>
          <p:nvPr/>
        </p:nvSpPr>
        <p:spPr>
          <a:xfrm>
            <a:off x="5153025" y="8151465"/>
            <a:ext cx="9525" cy="742950"/>
          </a:xfrm>
          <a:prstGeom prst="rect">
            <a:avLst/>
          </a:prstGeom>
          <a:solidFill>
            <a:srgbClr val="EAD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0"/>
          <p:cNvSpPr/>
          <p:nvPr/>
        </p:nvSpPr>
        <p:spPr>
          <a:xfrm>
            <a:off x="6089303" y="8151465"/>
            <a:ext cx="9525" cy="742950"/>
          </a:xfrm>
          <a:prstGeom prst="rect">
            <a:avLst/>
          </a:prstGeom>
          <a:solidFill>
            <a:srgbClr val="EAD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10"/>
          <p:cNvSpPr/>
          <p:nvPr/>
        </p:nvSpPr>
        <p:spPr>
          <a:xfrm>
            <a:off x="7025729" y="8151465"/>
            <a:ext cx="9525" cy="742950"/>
          </a:xfrm>
          <a:prstGeom prst="rect">
            <a:avLst/>
          </a:prstGeom>
          <a:solidFill>
            <a:srgbClr val="EAD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0"/>
          <p:cNvSpPr/>
          <p:nvPr/>
        </p:nvSpPr>
        <p:spPr>
          <a:xfrm>
            <a:off x="7962156" y="8151465"/>
            <a:ext cx="9525" cy="742950"/>
          </a:xfrm>
          <a:prstGeom prst="rect">
            <a:avLst/>
          </a:prstGeom>
          <a:solidFill>
            <a:srgbClr val="EAD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10"/>
          <p:cNvSpPr/>
          <p:nvPr/>
        </p:nvSpPr>
        <p:spPr>
          <a:xfrm>
            <a:off x="8898434" y="8151465"/>
            <a:ext cx="9525" cy="742950"/>
          </a:xfrm>
          <a:prstGeom prst="rect">
            <a:avLst/>
          </a:prstGeom>
          <a:solidFill>
            <a:srgbClr val="EAD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10"/>
          <p:cNvSpPr/>
          <p:nvPr/>
        </p:nvSpPr>
        <p:spPr>
          <a:xfrm>
            <a:off x="9834860" y="8151465"/>
            <a:ext cx="9525" cy="742950"/>
          </a:xfrm>
          <a:prstGeom prst="rect">
            <a:avLst/>
          </a:prstGeom>
          <a:solidFill>
            <a:srgbClr val="EAD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0"/>
          <p:cNvSpPr/>
          <p:nvPr/>
        </p:nvSpPr>
        <p:spPr>
          <a:xfrm>
            <a:off x="10771287" y="8151465"/>
            <a:ext cx="9525" cy="742950"/>
          </a:xfrm>
          <a:prstGeom prst="rect">
            <a:avLst/>
          </a:prstGeom>
          <a:solidFill>
            <a:srgbClr val="EAD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10"/>
          <p:cNvSpPr/>
          <p:nvPr/>
        </p:nvSpPr>
        <p:spPr>
          <a:xfrm>
            <a:off x="11707564" y="8151465"/>
            <a:ext cx="9525" cy="742950"/>
          </a:xfrm>
          <a:prstGeom prst="rect">
            <a:avLst/>
          </a:prstGeom>
          <a:solidFill>
            <a:srgbClr val="EAD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10"/>
          <p:cNvSpPr/>
          <p:nvPr/>
        </p:nvSpPr>
        <p:spPr>
          <a:xfrm>
            <a:off x="12643991" y="8151465"/>
            <a:ext cx="9525" cy="742950"/>
          </a:xfrm>
          <a:prstGeom prst="rect">
            <a:avLst/>
          </a:prstGeom>
          <a:solidFill>
            <a:srgbClr val="EAD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10"/>
          <p:cNvSpPr/>
          <p:nvPr/>
        </p:nvSpPr>
        <p:spPr>
          <a:xfrm>
            <a:off x="13580418" y="8151465"/>
            <a:ext cx="9525" cy="742950"/>
          </a:xfrm>
          <a:prstGeom prst="rect">
            <a:avLst/>
          </a:prstGeom>
          <a:solidFill>
            <a:srgbClr val="EAD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10"/>
          <p:cNvSpPr/>
          <p:nvPr/>
        </p:nvSpPr>
        <p:spPr>
          <a:xfrm>
            <a:off x="14516695" y="8151465"/>
            <a:ext cx="9525" cy="742950"/>
          </a:xfrm>
          <a:prstGeom prst="rect">
            <a:avLst/>
          </a:prstGeom>
          <a:solidFill>
            <a:srgbClr val="EAD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10"/>
          <p:cNvSpPr/>
          <p:nvPr/>
        </p:nvSpPr>
        <p:spPr>
          <a:xfrm>
            <a:off x="15453122" y="8151465"/>
            <a:ext cx="9525" cy="742950"/>
          </a:xfrm>
          <a:prstGeom prst="rect">
            <a:avLst/>
          </a:prstGeom>
          <a:solidFill>
            <a:srgbClr val="EAD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10"/>
          <p:cNvSpPr/>
          <p:nvPr/>
        </p:nvSpPr>
        <p:spPr>
          <a:xfrm>
            <a:off x="16389548" y="8151465"/>
            <a:ext cx="9525" cy="742950"/>
          </a:xfrm>
          <a:prstGeom prst="rect">
            <a:avLst/>
          </a:prstGeom>
          <a:solidFill>
            <a:srgbClr val="EAD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10"/>
          <p:cNvSpPr/>
          <p:nvPr/>
        </p:nvSpPr>
        <p:spPr>
          <a:xfrm>
            <a:off x="13580418" y="8284815"/>
            <a:ext cx="1733273" cy="47625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0"/>
          <p:cNvSpPr/>
          <p:nvPr/>
        </p:nvSpPr>
        <p:spPr>
          <a:xfrm>
            <a:off x="962025" y="9646890"/>
            <a:ext cx="16363950" cy="9525"/>
          </a:xfrm>
          <a:prstGeom prst="rect">
            <a:avLst/>
          </a:prstGeom>
          <a:solidFill>
            <a:srgbClr val="EAD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0"/>
          <p:cNvSpPr/>
          <p:nvPr/>
        </p:nvSpPr>
        <p:spPr>
          <a:xfrm>
            <a:off x="5143500" y="8912306"/>
            <a:ext cx="9525" cy="742950"/>
          </a:xfrm>
          <a:prstGeom prst="rect">
            <a:avLst/>
          </a:prstGeom>
          <a:solidFill>
            <a:srgbClr val="EADCE4">
              <a:alpha val="9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10"/>
          <p:cNvSpPr/>
          <p:nvPr/>
        </p:nvSpPr>
        <p:spPr>
          <a:xfrm>
            <a:off x="1190625" y="9117094"/>
            <a:ext cx="295023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2105"/>
              </a:lnSpc>
              <a:spcBef>
                <a:spcPts val="0"/>
              </a:spcBef>
              <a:spcAft>
                <a:spcPts val="0"/>
              </a:spcAft>
              <a:buClr>
                <a:srgbClr val="0F3460"/>
              </a:buClr>
              <a:buSzPts val="2100"/>
              <a:buFont typeface="Manrope"/>
              <a:buNone/>
            </a:pPr>
            <a:r>
              <a:rPr b="1" i="0" lang="en-US" sz="2100" u="none" cap="none" strike="noStrike">
                <a:solidFill>
                  <a:srgbClr val="0F3460"/>
                </a:solidFill>
                <a:latin typeface="Manrope"/>
                <a:ea typeface="Manrope"/>
                <a:cs typeface="Manrope"/>
                <a:sym typeface="Manrope"/>
              </a:rPr>
              <a:t>Cierre y defensa final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0"/>
          <p:cNvSpPr/>
          <p:nvPr/>
        </p:nvSpPr>
        <p:spPr>
          <a:xfrm>
            <a:off x="5153025" y="8903940"/>
            <a:ext cx="12172950" cy="742950"/>
          </a:xfrm>
          <a:prstGeom prst="rect">
            <a:avLst/>
          </a:prstGeom>
          <a:solidFill>
            <a:srgbClr val="FFFFFF">
              <a:alpha val="5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10"/>
          <p:cNvSpPr/>
          <p:nvPr/>
        </p:nvSpPr>
        <p:spPr>
          <a:xfrm>
            <a:off x="5153025" y="8903940"/>
            <a:ext cx="9525" cy="742950"/>
          </a:xfrm>
          <a:prstGeom prst="rect">
            <a:avLst/>
          </a:prstGeom>
          <a:solidFill>
            <a:srgbClr val="EAD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10"/>
          <p:cNvSpPr/>
          <p:nvPr/>
        </p:nvSpPr>
        <p:spPr>
          <a:xfrm>
            <a:off x="6089303" y="8903940"/>
            <a:ext cx="9525" cy="742950"/>
          </a:xfrm>
          <a:prstGeom prst="rect">
            <a:avLst/>
          </a:prstGeom>
          <a:solidFill>
            <a:srgbClr val="EAD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10"/>
          <p:cNvSpPr/>
          <p:nvPr/>
        </p:nvSpPr>
        <p:spPr>
          <a:xfrm>
            <a:off x="7025729" y="8903940"/>
            <a:ext cx="9525" cy="742950"/>
          </a:xfrm>
          <a:prstGeom prst="rect">
            <a:avLst/>
          </a:prstGeom>
          <a:solidFill>
            <a:srgbClr val="EAD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10"/>
          <p:cNvSpPr/>
          <p:nvPr/>
        </p:nvSpPr>
        <p:spPr>
          <a:xfrm>
            <a:off x="7962156" y="8903940"/>
            <a:ext cx="9525" cy="742950"/>
          </a:xfrm>
          <a:prstGeom prst="rect">
            <a:avLst/>
          </a:prstGeom>
          <a:solidFill>
            <a:srgbClr val="EAD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10"/>
          <p:cNvSpPr/>
          <p:nvPr/>
        </p:nvSpPr>
        <p:spPr>
          <a:xfrm>
            <a:off x="8898434" y="8903940"/>
            <a:ext cx="9525" cy="742950"/>
          </a:xfrm>
          <a:prstGeom prst="rect">
            <a:avLst/>
          </a:prstGeom>
          <a:solidFill>
            <a:srgbClr val="EAD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10"/>
          <p:cNvSpPr/>
          <p:nvPr/>
        </p:nvSpPr>
        <p:spPr>
          <a:xfrm>
            <a:off x="9834860" y="8903940"/>
            <a:ext cx="9525" cy="742950"/>
          </a:xfrm>
          <a:prstGeom prst="rect">
            <a:avLst/>
          </a:prstGeom>
          <a:solidFill>
            <a:srgbClr val="EAD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10"/>
          <p:cNvSpPr/>
          <p:nvPr/>
        </p:nvSpPr>
        <p:spPr>
          <a:xfrm>
            <a:off x="10771287" y="8903940"/>
            <a:ext cx="9525" cy="742950"/>
          </a:xfrm>
          <a:prstGeom prst="rect">
            <a:avLst/>
          </a:prstGeom>
          <a:solidFill>
            <a:srgbClr val="EAD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10"/>
          <p:cNvSpPr/>
          <p:nvPr/>
        </p:nvSpPr>
        <p:spPr>
          <a:xfrm>
            <a:off x="11707564" y="8903940"/>
            <a:ext cx="9525" cy="742950"/>
          </a:xfrm>
          <a:prstGeom prst="rect">
            <a:avLst/>
          </a:prstGeom>
          <a:solidFill>
            <a:srgbClr val="EAD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10"/>
          <p:cNvSpPr/>
          <p:nvPr/>
        </p:nvSpPr>
        <p:spPr>
          <a:xfrm>
            <a:off x="12643991" y="8903940"/>
            <a:ext cx="9525" cy="742950"/>
          </a:xfrm>
          <a:prstGeom prst="rect">
            <a:avLst/>
          </a:prstGeom>
          <a:solidFill>
            <a:srgbClr val="EAD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10"/>
          <p:cNvSpPr/>
          <p:nvPr/>
        </p:nvSpPr>
        <p:spPr>
          <a:xfrm>
            <a:off x="13580418" y="8903940"/>
            <a:ext cx="9525" cy="742950"/>
          </a:xfrm>
          <a:prstGeom prst="rect">
            <a:avLst/>
          </a:prstGeom>
          <a:solidFill>
            <a:srgbClr val="EAD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10"/>
          <p:cNvSpPr/>
          <p:nvPr/>
        </p:nvSpPr>
        <p:spPr>
          <a:xfrm>
            <a:off x="14516695" y="8903940"/>
            <a:ext cx="9525" cy="742950"/>
          </a:xfrm>
          <a:prstGeom prst="rect">
            <a:avLst/>
          </a:prstGeom>
          <a:solidFill>
            <a:srgbClr val="EAD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10"/>
          <p:cNvSpPr/>
          <p:nvPr/>
        </p:nvSpPr>
        <p:spPr>
          <a:xfrm>
            <a:off x="15453122" y="8903940"/>
            <a:ext cx="9525" cy="742950"/>
          </a:xfrm>
          <a:prstGeom prst="rect">
            <a:avLst/>
          </a:prstGeom>
          <a:solidFill>
            <a:srgbClr val="EAD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10"/>
          <p:cNvSpPr/>
          <p:nvPr/>
        </p:nvSpPr>
        <p:spPr>
          <a:xfrm>
            <a:off x="16389548" y="8903940"/>
            <a:ext cx="9525" cy="742950"/>
          </a:xfrm>
          <a:prstGeom prst="rect">
            <a:avLst/>
          </a:prstGeom>
          <a:solidFill>
            <a:srgbClr val="EAD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10"/>
          <p:cNvSpPr/>
          <p:nvPr/>
        </p:nvSpPr>
        <p:spPr>
          <a:xfrm>
            <a:off x="15453122" y="9037290"/>
            <a:ext cx="1733410" cy="47625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10"/>
          <p:cNvSpPr/>
          <p:nvPr/>
        </p:nvSpPr>
        <p:spPr>
          <a:xfrm>
            <a:off x="952500" y="9665940"/>
            <a:ext cx="2992472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Manrope"/>
              <a:buNone/>
            </a:pPr>
            <a:r>
              <a:rPr b="0" i="0" lang="en-US" sz="1800" u="none" cap="none" strike="noStrike">
                <a:solidFill>
                  <a:srgbClr val="8C8C8C"/>
                </a:solidFill>
                <a:latin typeface="Manrope"/>
                <a:ea typeface="Manrope"/>
                <a:cs typeface="Manrope"/>
                <a:sym typeface="Manrope"/>
              </a:rPr>
              <a:t>EmotionLab · Capstone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0"/>
          <p:cNvSpPr/>
          <p:nvPr/>
        </p:nvSpPr>
        <p:spPr>
          <a:xfrm>
            <a:off x="17035909" y="9665940"/>
            <a:ext cx="375791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Manrope"/>
              <a:buNone/>
            </a:pPr>
            <a:r>
              <a:rPr b="0" i="0" lang="en-US" sz="1800" u="none" cap="none" strike="noStrike">
                <a:solidFill>
                  <a:srgbClr val="8C8C8C"/>
                </a:solidFill>
                <a:latin typeface="Manrope"/>
                <a:ea typeface="Manrope"/>
                <a:cs typeface="Manrope"/>
                <a:sym typeface="Manrope"/>
              </a:rPr>
              <a:t>08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DDE9"/>
        </a:solidFill>
      </p:bgPr>
    </p:bg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11"/>
          <p:cNvSpPr/>
          <p:nvPr/>
        </p:nvSpPr>
        <p:spPr>
          <a:xfrm>
            <a:off x="13117174" y="5497174"/>
            <a:ext cx="7865152" cy="7865152"/>
          </a:xfrm>
          <a:prstGeom prst="ellipse">
            <a:avLst/>
          </a:prstGeom>
          <a:gradFill>
            <a:gsLst>
              <a:gs pos="0">
                <a:srgbClr val="E82D7D">
                  <a:alpha val="12941"/>
                </a:srgbClr>
              </a:gs>
              <a:gs pos="70000">
                <a:srgbClr val="E82D7D">
                  <a:alpha val="0"/>
                </a:srgbClr>
              </a:gs>
              <a:gs pos="100000">
                <a:srgbClr val="E82D7D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11"/>
          <p:cNvSpPr/>
          <p:nvPr/>
        </p:nvSpPr>
        <p:spPr>
          <a:xfrm>
            <a:off x="952500" y="952500"/>
            <a:ext cx="114300" cy="114300"/>
          </a:xfrm>
          <a:prstGeom prst="ellipse">
            <a:avLst/>
          </a:prstGeom>
          <a:solidFill>
            <a:srgbClr val="6E2B4E">
              <a:alpha val="8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11"/>
          <p:cNvSpPr/>
          <p:nvPr/>
        </p:nvSpPr>
        <p:spPr>
          <a:xfrm>
            <a:off x="1257300" y="838200"/>
            <a:ext cx="414712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2B4E"/>
              </a:buClr>
              <a:buSzPts val="1950"/>
              <a:buFont typeface="Manrope"/>
              <a:buNone/>
            </a:pPr>
            <a:r>
              <a:rPr b="1" i="0" lang="en-US" sz="1950" u="none" cap="none" strike="noStrike">
                <a:solidFill>
                  <a:srgbClr val="6E2B4E"/>
                </a:solidFill>
                <a:latin typeface="Manrope"/>
                <a:ea typeface="Manrope"/>
                <a:cs typeface="Manrope"/>
                <a:sym typeface="Manrope"/>
              </a:rPr>
              <a:t>HITOS Y EVIDENCIAS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1"/>
          <p:cNvSpPr/>
          <p:nvPr/>
        </p:nvSpPr>
        <p:spPr>
          <a:xfrm>
            <a:off x="952500" y="1513422"/>
            <a:ext cx="18021300" cy="84043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9472"/>
              </a:lnSpc>
              <a:spcBef>
                <a:spcPts val="0"/>
              </a:spcBef>
              <a:spcAft>
                <a:spcPts val="0"/>
              </a:spcAft>
              <a:buClr>
                <a:srgbClr val="0F3460"/>
              </a:buClr>
              <a:buSzPts val="5850"/>
              <a:buFont typeface="Manrope"/>
              <a:buNone/>
            </a:pPr>
            <a:r>
              <a:rPr b="1" i="0" lang="en-US" sz="5850" u="none" cap="none" strike="noStrike">
                <a:solidFill>
                  <a:srgbClr val="0F3460"/>
                </a:solidFill>
                <a:latin typeface="Manrope"/>
                <a:ea typeface="Manrope"/>
                <a:cs typeface="Manrope"/>
                <a:sym typeface="Manrope"/>
              </a:rPr>
              <a:t>Los hitos son la evidencia del avance</a:t>
            </a:r>
            <a:endParaRPr b="0" i="0" sz="5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1"/>
          <p:cNvSpPr/>
          <p:nvPr/>
        </p:nvSpPr>
        <p:spPr>
          <a:xfrm>
            <a:off x="952500" y="2982504"/>
            <a:ext cx="16383000" cy="1355229"/>
          </a:xfrm>
          <a:prstGeom prst="rect">
            <a:avLst/>
          </a:prstGeom>
          <a:solidFill>
            <a:srgbClr val="FFFFFF">
              <a:alpha val="7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11"/>
          <p:cNvSpPr/>
          <p:nvPr/>
        </p:nvSpPr>
        <p:spPr>
          <a:xfrm>
            <a:off x="1333500" y="3441043"/>
            <a:ext cx="7810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7F96"/>
              </a:buClr>
              <a:buSzPts val="2550"/>
              <a:buFont typeface="Manrope"/>
              <a:buNone/>
            </a:pPr>
            <a:r>
              <a:rPr b="1" i="0" lang="en-US" sz="2550" u="none" cap="none" strike="noStrike">
                <a:solidFill>
                  <a:srgbClr val="B07F96"/>
                </a:solidFill>
                <a:latin typeface="Manrope"/>
                <a:ea typeface="Manrope"/>
                <a:cs typeface="Manrope"/>
                <a:sym typeface="Manrope"/>
              </a:rPr>
              <a:t>01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1"/>
          <p:cNvSpPr/>
          <p:nvPr/>
        </p:nvSpPr>
        <p:spPr>
          <a:xfrm>
            <a:off x="2381250" y="3441043"/>
            <a:ext cx="6027018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460"/>
              </a:buClr>
              <a:buSzPts val="2550"/>
              <a:buFont typeface="Manrope"/>
              <a:buNone/>
            </a:pPr>
            <a:r>
              <a:rPr b="1" i="0" lang="en-US" sz="2550" u="none" cap="none" strike="noStrike">
                <a:solidFill>
                  <a:srgbClr val="0F3460"/>
                </a:solidFill>
                <a:latin typeface="Manrope"/>
                <a:ea typeface="Manrope"/>
                <a:cs typeface="Manrope"/>
                <a:sym typeface="Manrope"/>
              </a:rPr>
              <a:t>Diseño de la experiencia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1"/>
          <p:cNvSpPr/>
          <p:nvPr/>
        </p:nvSpPr>
        <p:spPr>
          <a:xfrm>
            <a:off x="8203257" y="3287304"/>
            <a:ext cx="6207905" cy="7837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811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2025"/>
              <a:buFont typeface="Manrope"/>
              <a:buNone/>
            </a:pPr>
            <a:r>
              <a:rPr b="0" i="0" lang="en-US" sz="2025" u="none" cap="none" strike="noStrike">
                <a:solidFill>
                  <a:srgbClr val="4A4A4A"/>
                </a:solidFill>
                <a:latin typeface="Manrope"/>
                <a:ea typeface="Manrope"/>
                <a:cs typeface="Manrope"/>
                <a:sym typeface="Manrope"/>
              </a:rPr>
              <a:t>Escenarios, recorrido, gamificación y paleta definidos.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1"/>
          <p:cNvSpPr/>
          <p:nvPr/>
        </p:nvSpPr>
        <p:spPr>
          <a:xfrm>
            <a:off x="14647664" y="3379131"/>
            <a:ext cx="2306836" cy="561975"/>
          </a:xfrm>
          <a:prstGeom prst="rect">
            <a:avLst/>
          </a:prstGeom>
          <a:solidFill>
            <a:srgbClr val="0F3460">
              <a:alpha val="9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11"/>
          <p:cNvSpPr/>
          <p:nvPr/>
        </p:nvSpPr>
        <p:spPr>
          <a:xfrm>
            <a:off x="14895314" y="3493431"/>
            <a:ext cx="1887736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EDDE9"/>
              </a:buClr>
              <a:buSzPts val="1875"/>
              <a:buFont typeface="Manrope"/>
              <a:buNone/>
            </a:pPr>
            <a:r>
              <a:rPr b="1" i="0" lang="en-US" sz="1875" u="none" cap="none" strike="noStrike">
                <a:solidFill>
                  <a:srgbClr val="FEDDE9"/>
                </a:solidFill>
                <a:latin typeface="Manrope"/>
                <a:ea typeface="Manrope"/>
                <a:cs typeface="Manrope"/>
                <a:sym typeface="Manrope"/>
              </a:rPr>
              <a:t>COMPLETADO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1"/>
          <p:cNvSpPr/>
          <p:nvPr/>
        </p:nvSpPr>
        <p:spPr>
          <a:xfrm>
            <a:off x="952500" y="4585383"/>
            <a:ext cx="16383000" cy="1355229"/>
          </a:xfrm>
          <a:prstGeom prst="rect">
            <a:avLst/>
          </a:prstGeom>
          <a:solidFill>
            <a:srgbClr val="FFFFFF">
              <a:alpha val="7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11"/>
          <p:cNvSpPr/>
          <p:nvPr/>
        </p:nvSpPr>
        <p:spPr>
          <a:xfrm>
            <a:off x="1333500" y="5043922"/>
            <a:ext cx="7810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7F96"/>
              </a:buClr>
              <a:buSzPts val="2550"/>
              <a:buFont typeface="Manrope"/>
              <a:buNone/>
            </a:pPr>
            <a:r>
              <a:rPr b="1" i="0" lang="en-US" sz="2550" u="none" cap="none" strike="noStrike">
                <a:solidFill>
                  <a:srgbClr val="B07F96"/>
                </a:solidFill>
                <a:latin typeface="Manrope"/>
                <a:ea typeface="Manrope"/>
                <a:cs typeface="Manrope"/>
                <a:sym typeface="Manrope"/>
              </a:rPr>
              <a:t>02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1"/>
          <p:cNvSpPr/>
          <p:nvPr/>
        </p:nvSpPr>
        <p:spPr>
          <a:xfrm>
            <a:off x="2381250" y="5043922"/>
            <a:ext cx="6027018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460"/>
              </a:buClr>
              <a:buSzPts val="2550"/>
              <a:buFont typeface="Manrope"/>
              <a:buNone/>
            </a:pPr>
            <a:r>
              <a:rPr b="1" i="0" lang="en-US" sz="2550" u="none" cap="none" strike="noStrike">
                <a:solidFill>
                  <a:srgbClr val="0F3460"/>
                </a:solidFill>
                <a:latin typeface="Manrope"/>
                <a:ea typeface="Manrope"/>
                <a:cs typeface="Manrope"/>
                <a:sym typeface="Manrope"/>
              </a:rPr>
              <a:t>Arquitectura de datos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1"/>
          <p:cNvSpPr/>
          <p:nvPr/>
        </p:nvSpPr>
        <p:spPr>
          <a:xfrm>
            <a:off x="8203257" y="4890183"/>
            <a:ext cx="6207905" cy="7837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811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2025"/>
              <a:buFont typeface="Manrope"/>
              <a:buNone/>
            </a:pPr>
            <a:r>
              <a:rPr b="0" i="0" lang="en-US" sz="2025" u="none" cap="none" strike="noStrike">
                <a:solidFill>
                  <a:srgbClr val="4A4A4A"/>
                </a:solidFill>
                <a:latin typeface="Manrope"/>
                <a:ea typeface="Manrope"/>
                <a:cs typeface="Manrope"/>
                <a:sym typeface="Manrope"/>
              </a:rPr>
              <a:t>Modelo de datos comportamentales definido y documentado.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1"/>
          <p:cNvSpPr/>
          <p:nvPr/>
        </p:nvSpPr>
        <p:spPr>
          <a:xfrm>
            <a:off x="14647664" y="4982010"/>
            <a:ext cx="2306836" cy="561975"/>
          </a:xfrm>
          <a:prstGeom prst="rect">
            <a:avLst/>
          </a:prstGeom>
          <a:solidFill>
            <a:srgbClr val="0F3460">
              <a:alpha val="9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11"/>
          <p:cNvSpPr/>
          <p:nvPr/>
        </p:nvSpPr>
        <p:spPr>
          <a:xfrm>
            <a:off x="14895314" y="5096310"/>
            <a:ext cx="1887736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EDDE9"/>
              </a:buClr>
              <a:buSzPts val="1875"/>
              <a:buFont typeface="Manrope"/>
              <a:buNone/>
            </a:pPr>
            <a:r>
              <a:rPr b="1" i="0" lang="en-US" sz="1875" u="none" cap="none" strike="noStrike">
                <a:solidFill>
                  <a:srgbClr val="FEDDE9"/>
                </a:solidFill>
                <a:latin typeface="Manrope"/>
                <a:ea typeface="Manrope"/>
                <a:cs typeface="Manrope"/>
                <a:sym typeface="Manrope"/>
              </a:rPr>
              <a:t>COMPLETADO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1"/>
          <p:cNvSpPr/>
          <p:nvPr/>
        </p:nvSpPr>
        <p:spPr>
          <a:xfrm>
            <a:off x="952500" y="6188262"/>
            <a:ext cx="16383000" cy="1355229"/>
          </a:xfrm>
          <a:prstGeom prst="rect">
            <a:avLst/>
          </a:prstGeom>
          <a:solidFill>
            <a:srgbClr val="FFFFFF">
              <a:alpha val="7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11"/>
          <p:cNvSpPr/>
          <p:nvPr/>
        </p:nvSpPr>
        <p:spPr>
          <a:xfrm>
            <a:off x="1333500" y="6646801"/>
            <a:ext cx="7810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7F96"/>
              </a:buClr>
              <a:buSzPts val="2550"/>
              <a:buFont typeface="Manrope"/>
              <a:buNone/>
            </a:pPr>
            <a:r>
              <a:rPr b="1" i="0" lang="en-US" sz="2550" u="none" cap="none" strike="noStrike">
                <a:solidFill>
                  <a:srgbClr val="B07F96"/>
                </a:solidFill>
                <a:latin typeface="Manrope"/>
                <a:ea typeface="Manrope"/>
                <a:cs typeface="Manrope"/>
                <a:sym typeface="Manrope"/>
              </a:rPr>
              <a:t>03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1"/>
          <p:cNvSpPr/>
          <p:nvPr/>
        </p:nvSpPr>
        <p:spPr>
          <a:xfrm>
            <a:off x="2381250" y="6646801"/>
            <a:ext cx="6027018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460"/>
              </a:buClr>
              <a:buSzPts val="2550"/>
              <a:buFont typeface="Manrope"/>
              <a:buNone/>
            </a:pPr>
            <a:r>
              <a:rPr b="1" i="0" lang="en-US" sz="2550" u="none" cap="none" strike="noStrike">
                <a:solidFill>
                  <a:srgbClr val="0F3460"/>
                </a:solidFill>
                <a:latin typeface="Manrope"/>
                <a:ea typeface="Manrope"/>
                <a:cs typeface="Manrope"/>
                <a:sym typeface="Manrope"/>
              </a:rPr>
              <a:t>Servicios en AWS operativos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1"/>
          <p:cNvSpPr/>
          <p:nvPr/>
        </p:nvSpPr>
        <p:spPr>
          <a:xfrm>
            <a:off x="8203257" y="6493062"/>
            <a:ext cx="6207905" cy="7837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811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2025"/>
              <a:buFont typeface="Manrope"/>
              <a:buNone/>
            </a:pPr>
            <a:r>
              <a:rPr b="0" i="0" lang="en-US" sz="2025" u="none" cap="none" strike="noStrike">
                <a:solidFill>
                  <a:srgbClr val="4A4A4A"/>
                </a:solidFill>
                <a:latin typeface="Manrope"/>
                <a:ea typeface="Manrope"/>
                <a:cs typeface="Manrope"/>
                <a:sym typeface="Manrope"/>
              </a:rPr>
              <a:t>Cuentas y servicios listos para el acoplamiento del equipo de IA.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1"/>
          <p:cNvSpPr/>
          <p:nvPr/>
        </p:nvSpPr>
        <p:spPr>
          <a:xfrm>
            <a:off x="15109329" y="6584889"/>
            <a:ext cx="1845171" cy="561975"/>
          </a:xfrm>
          <a:prstGeom prst="rect">
            <a:avLst/>
          </a:prstGeom>
          <a:solidFill>
            <a:srgbClr val="E82D7D">
              <a:alpha val="9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11"/>
          <p:cNvSpPr/>
          <p:nvPr/>
        </p:nvSpPr>
        <p:spPr>
          <a:xfrm>
            <a:off x="15356979" y="6699189"/>
            <a:ext cx="1426071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Manrope"/>
              <a:buNone/>
            </a:pPr>
            <a:r>
              <a:rPr b="1" i="0" lang="en-US" sz="1875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EN CURSO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1"/>
          <p:cNvSpPr/>
          <p:nvPr/>
        </p:nvSpPr>
        <p:spPr>
          <a:xfrm>
            <a:off x="952500" y="7791141"/>
            <a:ext cx="16383000" cy="1355229"/>
          </a:xfrm>
          <a:prstGeom prst="rect">
            <a:avLst/>
          </a:prstGeom>
          <a:solidFill>
            <a:srgbClr val="FFFFFF">
              <a:alpha val="7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11"/>
          <p:cNvSpPr/>
          <p:nvPr/>
        </p:nvSpPr>
        <p:spPr>
          <a:xfrm>
            <a:off x="1333500" y="8249680"/>
            <a:ext cx="7810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7F96"/>
              </a:buClr>
              <a:buSzPts val="2550"/>
              <a:buFont typeface="Manrope"/>
              <a:buNone/>
            </a:pPr>
            <a:r>
              <a:rPr b="1" i="0" lang="en-US" sz="2550" u="none" cap="none" strike="noStrike">
                <a:solidFill>
                  <a:srgbClr val="B07F96"/>
                </a:solidFill>
                <a:latin typeface="Manrope"/>
                <a:ea typeface="Manrope"/>
                <a:cs typeface="Manrope"/>
                <a:sym typeface="Manrope"/>
              </a:rPr>
              <a:t>04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1"/>
          <p:cNvSpPr/>
          <p:nvPr/>
        </p:nvSpPr>
        <p:spPr>
          <a:xfrm>
            <a:off x="2381250" y="8249680"/>
            <a:ext cx="6027018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460"/>
              </a:buClr>
              <a:buSzPts val="2550"/>
              <a:buFont typeface="Manrope"/>
              <a:buNone/>
            </a:pPr>
            <a:r>
              <a:rPr b="1" i="0" lang="en-US" sz="2550" u="none" cap="none" strike="noStrike">
                <a:solidFill>
                  <a:srgbClr val="0F3460"/>
                </a:solidFill>
                <a:latin typeface="Manrope"/>
                <a:ea typeface="Manrope"/>
                <a:cs typeface="Manrope"/>
                <a:sym typeface="Manrope"/>
              </a:rPr>
              <a:t>Documentación y tablero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1"/>
          <p:cNvSpPr/>
          <p:nvPr/>
        </p:nvSpPr>
        <p:spPr>
          <a:xfrm>
            <a:off x="8203257" y="8095941"/>
            <a:ext cx="6207905" cy="7837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811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2025"/>
              <a:buFont typeface="Manrope"/>
              <a:buNone/>
            </a:pPr>
            <a:r>
              <a:rPr b="0" i="0" lang="en-US" sz="2025" u="none" cap="none" strike="noStrike">
                <a:solidFill>
                  <a:srgbClr val="4A4A4A"/>
                </a:solidFill>
                <a:latin typeface="Manrope"/>
                <a:ea typeface="Manrope"/>
                <a:cs typeface="Manrope"/>
                <a:sym typeface="Manrope"/>
              </a:rPr>
              <a:t>Acta de constitución, especificación de requerimientos y Kanban con el avance.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1"/>
          <p:cNvSpPr/>
          <p:nvPr/>
        </p:nvSpPr>
        <p:spPr>
          <a:xfrm>
            <a:off x="15109329" y="8187768"/>
            <a:ext cx="1845171" cy="561975"/>
          </a:xfrm>
          <a:prstGeom prst="rect">
            <a:avLst/>
          </a:prstGeom>
          <a:solidFill>
            <a:srgbClr val="E82D7D">
              <a:alpha val="9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11"/>
          <p:cNvSpPr/>
          <p:nvPr/>
        </p:nvSpPr>
        <p:spPr>
          <a:xfrm>
            <a:off x="15356979" y="8302068"/>
            <a:ext cx="1426071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Manrope"/>
              <a:buNone/>
            </a:pPr>
            <a:r>
              <a:rPr b="1" i="0" lang="en-US" sz="1875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EN CURSO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1"/>
          <p:cNvSpPr/>
          <p:nvPr/>
        </p:nvSpPr>
        <p:spPr>
          <a:xfrm>
            <a:off x="952500" y="9248775"/>
            <a:ext cx="2992472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B92"/>
              </a:buClr>
              <a:buSzPts val="1800"/>
              <a:buFont typeface="Manrope"/>
              <a:buNone/>
            </a:pPr>
            <a:r>
              <a:rPr b="0" i="0" lang="en-US" sz="1800" u="none" cap="none" strike="noStrike">
                <a:solidFill>
                  <a:srgbClr val="9A8B92"/>
                </a:solidFill>
                <a:latin typeface="Manrope"/>
                <a:ea typeface="Manrope"/>
                <a:cs typeface="Manrope"/>
                <a:sym typeface="Manrope"/>
              </a:rPr>
              <a:t>EmotionLab · Capstone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1"/>
          <p:cNvSpPr/>
          <p:nvPr/>
        </p:nvSpPr>
        <p:spPr>
          <a:xfrm>
            <a:off x="17026682" y="9248775"/>
            <a:ext cx="385018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B92"/>
              </a:buClr>
              <a:buSzPts val="1800"/>
              <a:buFont typeface="Manrope"/>
              <a:buNone/>
            </a:pPr>
            <a:r>
              <a:rPr b="0" i="0" lang="en-US" sz="1800" u="none" cap="none" strike="noStrike">
                <a:solidFill>
                  <a:srgbClr val="9A8B92"/>
                </a:solidFill>
                <a:latin typeface="Manrope"/>
                <a:ea typeface="Manrope"/>
                <a:cs typeface="Manrope"/>
                <a:sym typeface="Manrope"/>
              </a:rPr>
              <a:t>09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6F2"/>
        </a:solidFill>
      </p:bgPr>
    </p:bg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12"/>
          <p:cNvSpPr/>
          <p:nvPr/>
        </p:nvSpPr>
        <p:spPr>
          <a:xfrm>
            <a:off x="952500" y="914400"/>
            <a:ext cx="114300" cy="114300"/>
          </a:xfrm>
          <a:prstGeom prst="ellipse">
            <a:avLst/>
          </a:prstGeom>
          <a:solidFill>
            <a:srgbClr val="6E2B4E">
              <a:alpha val="8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12"/>
          <p:cNvSpPr/>
          <p:nvPr/>
        </p:nvSpPr>
        <p:spPr>
          <a:xfrm>
            <a:off x="1257300" y="800100"/>
            <a:ext cx="9777308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2B4E"/>
              </a:buClr>
              <a:buSzPts val="1950"/>
              <a:buFont typeface="Manrope"/>
              <a:buNone/>
            </a:pPr>
            <a:r>
              <a:rPr b="1" i="0" lang="en-US" sz="1950" u="none" cap="none" strike="noStrike">
                <a:solidFill>
                  <a:srgbClr val="6E2B4E"/>
                </a:solidFill>
                <a:latin typeface="Manrope"/>
                <a:ea typeface="Manrope"/>
                <a:cs typeface="Manrope"/>
                <a:sym typeface="Manrope"/>
              </a:rPr>
              <a:t>PERFIL DE EGRESO E INTERESES PROFESIONALES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2"/>
          <p:cNvSpPr/>
          <p:nvPr/>
        </p:nvSpPr>
        <p:spPr>
          <a:xfrm>
            <a:off x="952500" y="1436669"/>
            <a:ext cx="13735050" cy="15192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8545"/>
              </a:lnSpc>
              <a:spcBef>
                <a:spcPts val="0"/>
              </a:spcBef>
              <a:spcAft>
                <a:spcPts val="0"/>
              </a:spcAft>
              <a:buClr>
                <a:srgbClr val="0F3460"/>
              </a:buClr>
              <a:buSzPts val="5400"/>
              <a:buFont typeface="Manrope"/>
              <a:buNone/>
            </a:pPr>
            <a:r>
              <a:rPr b="1" i="0" lang="en-US" sz="5400" u="none" cap="none" strike="noStrike">
                <a:solidFill>
                  <a:srgbClr val="0F3460"/>
                </a:solidFill>
                <a:latin typeface="Manrope"/>
                <a:ea typeface="Manrope"/>
                <a:cs typeface="Manrope"/>
                <a:sym typeface="Manrope"/>
              </a:rPr>
              <a:t>Cada interés, una tarea concreta del proyecto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2"/>
          <p:cNvSpPr/>
          <p:nvPr/>
        </p:nvSpPr>
        <p:spPr>
          <a:xfrm>
            <a:off x="952500" y="3317856"/>
            <a:ext cx="7338343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2B4E"/>
              </a:buClr>
              <a:buSzPts val="1800"/>
              <a:buFont typeface="Manrope"/>
              <a:buNone/>
            </a:pPr>
            <a:r>
              <a:rPr b="1" i="0" lang="en-US" sz="1800" u="none" cap="none" strike="noStrike">
                <a:solidFill>
                  <a:srgbClr val="6E2B4E"/>
                </a:solidFill>
                <a:latin typeface="Manrope"/>
                <a:ea typeface="Manrope"/>
                <a:cs typeface="Manrope"/>
                <a:sym typeface="Manrope"/>
              </a:rPr>
              <a:t>COMPETENCIAS DEL PERFIL DE EGRESO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2"/>
          <p:cNvSpPr/>
          <p:nvPr/>
        </p:nvSpPr>
        <p:spPr>
          <a:xfrm>
            <a:off x="952500" y="3860781"/>
            <a:ext cx="6671221" cy="809625"/>
          </a:xfrm>
          <a:prstGeom prst="rect">
            <a:avLst/>
          </a:prstGeom>
          <a:solidFill>
            <a:srgbClr val="F3E6EC">
              <a:alpha val="9686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12"/>
          <p:cNvSpPr/>
          <p:nvPr/>
        </p:nvSpPr>
        <p:spPr>
          <a:xfrm>
            <a:off x="952500" y="3860781"/>
            <a:ext cx="38100" cy="809625"/>
          </a:xfrm>
          <a:prstGeom prst="rect">
            <a:avLst/>
          </a:prstGeom>
          <a:solidFill>
            <a:srgbClr val="0F3460">
              <a:alpha val="9686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12"/>
          <p:cNvSpPr/>
          <p:nvPr/>
        </p:nvSpPr>
        <p:spPr>
          <a:xfrm>
            <a:off x="1257300" y="4098906"/>
            <a:ext cx="33724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7F96"/>
              </a:buClr>
              <a:buSzPts val="1875"/>
              <a:buFont typeface="Manrope"/>
              <a:buNone/>
            </a:pPr>
            <a:r>
              <a:rPr b="1" i="0" lang="en-US" sz="1875" u="none" cap="none" strike="noStrike">
                <a:solidFill>
                  <a:srgbClr val="B07F96"/>
                </a:solidFill>
                <a:latin typeface="Manrope"/>
                <a:ea typeface="Manrope"/>
                <a:cs typeface="Manrope"/>
                <a:sym typeface="Manrope"/>
              </a:rPr>
              <a:t>01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2"/>
          <p:cNvSpPr/>
          <p:nvPr/>
        </p:nvSpPr>
        <p:spPr>
          <a:xfrm>
            <a:off x="1727895" y="4070331"/>
            <a:ext cx="5163116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460"/>
              </a:buClr>
              <a:buSzPts val="2250"/>
              <a:buFont typeface="Manrope"/>
              <a:buNone/>
            </a:pPr>
            <a:r>
              <a:rPr b="1" i="0" lang="en-US" sz="2250" u="none" cap="none" strike="noStrike">
                <a:solidFill>
                  <a:srgbClr val="0F3460"/>
                </a:solidFill>
                <a:latin typeface="Manrope"/>
                <a:ea typeface="Manrope"/>
                <a:cs typeface="Manrope"/>
                <a:sym typeface="Manrope"/>
              </a:rPr>
              <a:t>Gestión de proyectos informáticos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2"/>
          <p:cNvSpPr/>
          <p:nvPr/>
        </p:nvSpPr>
        <p:spPr>
          <a:xfrm>
            <a:off x="952500" y="4822806"/>
            <a:ext cx="6671221" cy="809625"/>
          </a:xfrm>
          <a:prstGeom prst="rect">
            <a:avLst/>
          </a:prstGeom>
          <a:solidFill>
            <a:srgbClr val="F3E6EC">
              <a:alpha val="9686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12"/>
          <p:cNvSpPr/>
          <p:nvPr/>
        </p:nvSpPr>
        <p:spPr>
          <a:xfrm>
            <a:off x="952500" y="4822806"/>
            <a:ext cx="38100" cy="809625"/>
          </a:xfrm>
          <a:prstGeom prst="rect">
            <a:avLst/>
          </a:prstGeom>
          <a:solidFill>
            <a:srgbClr val="0F3460">
              <a:alpha val="9686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12"/>
          <p:cNvSpPr/>
          <p:nvPr/>
        </p:nvSpPr>
        <p:spPr>
          <a:xfrm>
            <a:off x="1257300" y="5060932"/>
            <a:ext cx="374749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7F96"/>
              </a:buClr>
              <a:buSzPts val="1875"/>
              <a:buFont typeface="Manrope"/>
              <a:buNone/>
            </a:pPr>
            <a:r>
              <a:rPr b="1" i="0" lang="en-US" sz="1875" u="none" cap="none" strike="noStrike">
                <a:solidFill>
                  <a:srgbClr val="B07F96"/>
                </a:solidFill>
                <a:latin typeface="Manrope"/>
                <a:ea typeface="Manrope"/>
                <a:cs typeface="Manrope"/>
                <a:sym typeface="Manrope"/>
              </a:rPr>
              <a:t>02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2"/>
          <p:cNvSpPr/>
          <p:nvPr/>
        </p:nvSpPr>
        <p:spPr>
          <a:xfrm>
            <a:off x="1765399" y="5032357"/>
            <a:ext cx="5982816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460"/>
              </a:buClr>
              <a:buSzPts val="2250"/>
              <a:buFont typeface="Manrope"/>
              <a:buNone/>
            </a:pPr>
            <a:r>
              <a:rPr b="1" i="0" lang="en-US" sz="2250" u="none" cap="none" strike="noStrike">
                <a:solidFill>
                  <a:srgbClr val="0F3460"/>
                </a:solidFill>
                <a:latin typeface="Manrope"/>
                <a:ea typeface="Manrope"/>
                <a:cs typeface="Manrope"/>
                <a:sym typeface="Manrope"/>
              </a:rPr>
              <a:t>Arquitectura y gestión de la información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2"/>
          <p:cNvSpPr/>
          <p:nvPr/>
        </p:nvSpPr>
        <p:spPr>
          <a:xfrm>
            <a:off x="952500" y="5784832"/>
            <a:ext cx="6671221" cy="809625"/>
          </a:xfrm>
          <a:prstGeom prst="rect">
            <a:avLst/>
          </a:prstGeom>
          <a:solidFill>
            <a:srgbClr val="F3E6EC">
              <a:alpha val="9686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12"/>
          <p:cNvSpPr/>
          <p:nvPr/>
        </p:nvSpPr>
        <p:spPr>
          <a:xfrm>
            <a:off x="952500" y="5784832"/>
            <a:ext cx="38100" cy="809625"/>
          </a:xfrm>
          <a:prstGeom prst="rect">
            <a:avLst/>
          </a:prstGeom>
          <a:solidFill>
            <a:srgbClr val="0F3460">
              <a:alpha val="9686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12"/>
          <p:cNvSpPr/>
          <p:nvPr/>
        </p:nvSpPr>
        <p:spPr>
          <a:xfrm>
            <a:off x="1257300" y="6022957"/>
            <a:ext cx="37147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7F96"/>
              </a:buClr>
              <a:buSzPts val="1875"/>
              <a:buFont typeface="Manrope"/>
              <a:buNone/>
            </a:pPr>
            <a:r>
              <a:rPr b="1" i="0" lang="en-US" sz="1875" u="none" cap="none" strike="noStrike">
                <a:solidFill>
                  <a:srgbClr val="B07F96"/>
                </a:solidFill>
                <a:latin typeface="Manrope"/>
                <a:ea typeface="Manrope"/>
                <a:cs typeface="Manrope"/>
                <a:sym typeface="Manrope"/>
              </a:rPr>
              <a:t>03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2"/>
          <p:cNvSpPr/>
          <p:nvPr/>
        </p:nvSpPr>
        <p:spPr>
          <a:xfrm>
            <a:off x="1762125" y="5994382"/>
            <a:ext cx="3971136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460"/>
              </a:buClr>
              <a:buSzPts val="2250"/>
              <a:buFont typeface="Manrope"/>
              <a:buNone/>
            </a:pPr>
            <a:r>
              <a:rPr b="1" i="0" lang="en-US" sz="2250" u="none" cap="none" strike="noStrike">
                <a:solidFill>
                  <a:srgbClr val="0F3460"/>
                </a:solidFill>
                <a:latin typeface="Manrope"/>
                <a:ea typeface="Manrope"/>
                <a:cs typeface="Manrope"/>
                <a:sym typeface="Manrope"/>
              </a:rPr>
              <a:t>Análisis de requerimientos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2"/>
          <p:cNvSpPr/>
          <p:nvPr/>
        </p:nvSpPr>
        <p:spPr>
          <a:xfrm>
            <a:off x="952500" y="6746857"/>
            <a:ext cx="6671221" cy="809625"/>
          </a:xfrm>
          <a:prstGeom prst="rect">
            <a:avLst/>
          </a:prstGeom>
          <a:solidFill>
            <a:srgbClr val="F3E6EC">
              <a:alpha val="9686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12"/>
          <p:cNvSpPr/>
          <p:nvPr/>
        </p:nvSpPr>
        <p:spPr>
          <a:xfrm>
            <a:off x="952500" y="6746857"/>
            <a:ext cx="38100" cy="809625"/>
          </a:xfrm>
          <a:prstGeom prst="rect">
            <a:avLst/>
          </a:prstGeom>
          <a:solidFill>
            <a:srgbClr val="0F3460">
              <a:alpha val="9686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12"/>
          <p:cNvSpPr/>
          <p:nvPr/>
        </p:nvSpPr>
        <p:spPr>
          <a:xfrm>
            <a:off x="1257300" y="6984982"/>
            <a:ext cx="37787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7F96"/>
              </a:buClr>
              <a:buSzPts val="1875"/>
              <a:buFont typeface="Manrope"/>
              <a:buNone/>
            </a:pPr>
            <a:r>
              <a:rPr b="1" i="0" lang="en-US" sz="1875" u="none" cap="none" strike="noStrike">
                <a:solidFill>
                  <a:srgbClr val="B07F96"/>
                </a:solidFill>
                <a:latin typeface="Manrope"/>
                <a:ea typeface="Manrope"/>
                <a:cs typeface="Manrope"/>
                <a:sym typeface="Manrope"/>
              </a:rPr>
              <a:t>04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2"/>
          <p:cNvSpPr/>
          <p:nvPr/>
        </p:nvSpPr>
        <p:spPr>
          <a:xfrm>
            <a:off x="1768525" y="6956407"/>
            <a:ext cx="5688137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460"/>
              </a:buClr>
              <a:buSzPts val="2250"/>
              <a:buFont typeface="Manrope"/>
              <a:buNone/>
            </a:pPr>
            <a:r>
              <a:rPr b="1" i="0" lang="en-US" sz="2250" u="none" cap="none" strike="noStrike">
                <a:solidFill>
                  <a:srgbClr val="0F3460"/>
                </a:solidFill>
                <a:latin typeface="Manrope"/>
                <a:ea typeface="Manrope"/>
                <a:cs typeface="Manrope"/>
                <a:sym typeface="Manrope"/>
              </a:rPr>
              <a:t>Desarrollo de soluciones tecnológicas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2"/>
          <p:cNvSpPr/>
          <p:nvPr/>
        </p:nvSpPr>
        <p:spPr>
          <a:xfrm>
            <a:off x="8309521" y="3317856"/>
            <a:ext cx="9928577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2B4E"/>
              </a:buClr>
              <a:buSzPts val="1800"/>
              <a:buFont typeface="Manrope"/>
              <a:buNone/>
            </a:pPr>
            <a:r>
              <a:rPr b="1" i="0" lang="en-US" sz="1800" u="none" cap="none" strike="noStrike">
                <a:solidFill>
                  <a:srgbClr val="6E2B4E"/>
                </a:solidFill>
                <a:latin typeface="Manrope"/>
                <a:ea typeface="Manrope"/>
                <a:cs typeface="Manrope"/>
                <a:sym typeface="Manrope"/>
              </a:rPr>
              <a:t>INTERESES PROFESIONALES · TAREA EN ESTE PROYECTO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2"/>
          <p:cNvSpPr/>
          <p:nvPr/>
        </p:nvSpPr>
        <p:spPr>
          <a:xfrm>
            <a:off x="8309521" y="3860781"/>
            <a:ext cx="9025979" cy="1698129"/>
          </a:xfrm>
          <a:prstGeom prst="rect">
            <a:avLst/>
          </a:prstGeom>
          <a:solidFill>
            <a:srgbClr val="FEDDE9">
              <a:alpha val="9686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12"/>
          <p:cNvSpPr/>
          <p:nvPr/>
        </p:nvSpPr>
        <p:spPr>
          <a:xfrm>
            <a:off x="8309521" y="3860781"/>
            <a:ext cx="9025979" cy="38100"/>
          </a:xfrm>
          <a:prstGeom prst="rect">
            <a:avLst/>
          </a:prstGeom>
          <a:solidFill>
            <a:srgbClr val="6E2B4E">
              <a:alpha val="9686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12"/>
          <p:cNvSpPr/>
          <p:nvPr/>
        </p:nvSpPr>
        <p:spPr>
          <a:xfrm>
            <a:off x="8614321" y="4108431"/>
            <a:ext cx="925801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460"/>
              </a:buClr>
              <a:buSzPts val="2400"/>
              <a:buFont typeface="Manrope"/>
              <a:buNone/>
            </a:pPr>
            <a:r>
              <a:rPr b="1" i="0" lang="en-US" sz="2400" u="none" cap="none" strike="noStrike">
                <a:solidFill>
                  <a:srgbClr val="0F3460"/>
                </a:solidFill>
                <a:latin typeface="Manrope"/>
                <a:ea typeface="Manrope"/>
                <a:cs typeface="Manrope"/>
                <a:sym typeface="Manrope"/>
              </a:rPr>
              <a:t>Ciencia y arquitectura de datos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2"/>
          <p:cNvSpPr/>
          <p:nvPr/>
        </p:nvSpPr>
        <p:spPr>
          <a:xfrm>
            <a:off x="8614321" y="4603731"/>
            <a:ext cx="8668871" cy="7837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811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2025"/>
              <a:buFont typeface="Manrope"/>
              <a:buNone/>
            </a:pPr>
            <a:r>
              <a:rPr b="0" i="0" lang="en-US" sz="2025" u="none" cap="none" strike="noStrike">
                <a:solidFill>
                  <a:srgbClr val="4A4A4A"/>
                </a:solidFill>
                <a:latin typeface="Manrope"/>
                <a:ea typeface="Manrope"/>
                <a:cs typeface="Manrope"/>
                <a:sym typeface="Manrope"/>
              </a:rPr>
              <a:t>Diseñar el modelo de datos comportamentales y su transmisión a la nube.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2"/>
          <p:cNvSpPr/>
          <p:nvPr/>
        </p:nvSpPr>
        <p:spPr>
          <a:xfrm>
            <a:off x="8309521" y="5749411"/>
            <a:ext cx="9025979" cy="1325314"/>
          </a:xfrm>
          <a:prstGeom prst="rect">
            <a:avLst/>
          </a:prstGeom>
          <a:solidFill>
            <a:srgbClr val="FEDDE9">
              <a:alpha val="9686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12"/>
          <p:cNvSpPr/>
          <p:nvPr/>
        </p:nvSpPr>
        <p:spPr>
          <a:xfrm>
            <a:off x="8309521" y="5749411"/>
            <a:ext cx="9025979" cy="38100"/>
          </a:xfrm>
          <a:prstGeom prst="rect">
            <a:avLst/>
          </a:prstGeom>
          <a:solidFill>
            <a:srgbClr val="6E2B4E">
              <a:alpha val="9686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12"/>
          <p:cNvSpPr/>
          <p:nvPr/>
        </p:nvSpPr>
        <p:spPr>
          <a:xfrm>
            <a:off x="8614321" y="5997061"/>
            <a:ext cx="925801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460"/>
              </a:buClr>
              <a:buSzPts val="2400"/>
              <a:buFont typeface="Manrope"/>
              <a:buNone/>
            </a:pPr>
            <a:r>
              <a:rPr b="1" i="0" lang="en-US" sz="2400" u="none" cap="none" strike="noStrike">
                <a:solidFill>
                  <a:srgbClr val="0F3460"/>
                </a:solidFill>
                <a:latin typeface="Manrope"/>
                <a:ea typeface="Manrope"/>
                <a:cs typeface="Manrope"/>
                <a:sym typeface="Manrope"/>
              </a:rPr>
              <a:t>Ingeniería de software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2"/>
          <p:cNvSpPr/>
          <p:nvPr/>
        </p:nvSpPr>
        <p:spPr>
          <a:xfrm>
            <a:off x="8614321" y="6492361"/>
            <a:ext cx="9258017" cy="41091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811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2025"/>
              <a:buFont typeface="Manrope"/>
              <a:buNone/>
            </a:pPr>
            <a:r>
              <a:rPr b="0" i="0" lang="en-US" sz="2025" u="none" cap="none" strike="noStrike">
                <a:solidFill>
                  <a:srgbClr val="4A4A4A"/>
                </a:solidFill>
                <a:latin typeface="Manrope"/>
                <a:ea typeface="Manrope"/>
                <a:cs typeface="Manrope"/>
                <a:sym typeface="Manrope"/>
              </a:rPr>
              <a:t>Desarrollar y probar una aplicación VR real, usada en un colegio.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12"/>
          <p:cNvSpPr/>
          <p:nvPr/>
        </p:nvSpPr>
        <p:spPr>
          <a:xfrm>
            <a:off x="8309521" y="7265225"/>
            <a:ext cx="9025979" cy="1698129"/>
          </a:xfrm>
          <a:prstGeom prst="rect">
            <a:avLst/>
          </a:prstGeom>
          <a:solidFill>
            <a:srgbClr val="FEDDE9">
              <a:alpha val="9686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12"/>
          <p:cNvSpPr/>
          <p:nvPr/>
        </p:nvSpPr>
        <p:spPr>
          <a:xfrm>
            <a:off x="8309521" y="7265225"/>
            <a:ext cx="9025979" cy="38100"/>
          </a:xfrm>
          <a:prstGeom prst="rect">
            <a:avLst/>
          </a:prstGeom>
          <a:solidFill>
            <a:srgbClr val="6E2B4E">
              <a:alpha val="9686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12"/>
          <p:cNvSpPr/>
          <p:nvPr/>
        </p:nvSpPr>
        <p:spPr>
          <a:xfrm>
            <a:off x="8614321" y="7512875"/>
            <a:ext cx="925801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460"/>
              </a:buClr>
              <a:buSzPts val="2400"/>
              <a:buFont typeface="Manrope"/>
              <a:buNone/>
            </a:pPr>
            <a:r>
              <a:rPr b="1" i="0" lang="en-US" sz="2400" u="none" cap="none" strike="noStrike">
                <a:solidFill>
                  <a:srgbClr val="0F3460"/>
                </a:solidFill>
                <a:latin typeface="Manrope"/>
                <a:ea typeface="Manrope"/>
                <a:cs typeface="Manrope"/>
                <a:sym typeface="Manrope"/>
              </a:rPr>
              <a:t>Gestión de proyectos e infraestructura cloud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12"/>
          <p:cNvSpPr/>
          <p:nvPr/>
        </p:nvSpPr>
        <p:spPr>
          <a:xfrm>
            <a:off x="8614321" y="8008175"/>
            <a:ext cx="8668871" cy="7837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811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2025"/>
              <a:buFont typeface="Manrope"/>
              <a:buNone/>
            </a:pPr>
            <a:r>
              <a:rPr b="0" i="0" lang="en-US" sz="2025" u="none" cap="none" strike="noStrike">
                <a:solidFill>
                  <a:srgbClr val="4A4A4A"/>
                </a:solidFill>
                <a:latin typeface="Manrope"/>
                <a:ea typeface="Manrope"/>
                <a:cs typeface="Manrope"/>
                <a:sym typeface="Manrope"/>
              </a:rPr>
              <a:t>Coordinar equipo, cliente externo y 13 semanas, y levantar infraestructura con Terraform y Lambda.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12"/>
          <p:cNvSpPr/>
          <p:nvPr/>
        </p:nvSpPr>
        <p:spPr>
          <a:xfrm>
            <a:off x="952500" y="9286875"/>
            <a:ext cx="2992472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Manrope"/>
              <a:buNone/>
            </a:pPr>
            <a:r>
              <a:rPr b="0" i="0" lang="en-US" sz="1800" u="none" cap="none" strike="noStrike">
                <a:solidFill>
                  <a:srgbClr val="8C8C8C"/>
                </a:solidFill>
                <a:latin typeface="Manrope"/>
                <a:ea typeface="Manrope"/>
                <a:cs typeface="Manrope"/>
                <a:sym typeface="Manrope"/>
              </a:rPr>
              <a:t>EmotionLab · Capstone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2"/>
          <p:cNvSpPr/>
          <p:nvPr/>
        </p:nvSpPr>
        <p:spPr>
          <a:xfrm>
            <a:off x="17079367" y="9286875"/>
            <a:ext cx="332333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Manrope"/>
              <a:buNone/>
            </a:pPr>
            <a:r>
              <a:rPr b="0" i="0" lang="en-US" sz="1800" u="none" cap="none" strike="noStrike">
                <a:solidFill>
                  <a:srgbClr val="8C8C8C"/>
                </a:solidFill>
                <a:latin typeface="Manrope"/>
                <a:ea typeface="Manrope"/>
                <a:cs typeface="Manrope"/>
                <a:sym typeface="Manrope"/>
              </a:rPr>
              <a:t>10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DDE9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13"/>
          <p:cNvSpPr/>
          <p:nvPr/>
        </p:nvSpPr>
        <p:spPr>
          <a:xfrm>
            <a:off x="3867838" y="-132662"/>
            <a:ext cx="10552323" cy="10552323"/>
          </a:xfrm>
          <a:prstGeom prst="ellipse">
            <a:avLst/>
          </a:prstGeom>
          <a:gradFill>
            <a:gsLst>
              <a:gs pos="0">
                <a:srgbClr val="E82D7D">
                  <a:alpha val="14902"/>
                </a:srgbClr>
              </a:gs>
              <a:gs pos="68000">
                <a:srgbClr val="E82D7D">
                  <a:alpha val="0"/>
                </a:srgbClr>
              </a:gs>
              <a:gs pos="100000">
                <a:srgbClr val="E82D7D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13"/>
          <p:cNvSpPr/>
          <p:nvPr/>
        </p:nvSpPr>
        <p:spPr>
          <a:xfrm>
            <a:off x="6600922" y="1537395"/>
            <a:ext cx="5086008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2B4E"/>
              </a:buClr>
              <a:buSzPts val="1950"/>
              <a:buFont typeface="Manrope"/>
              <a:buNone/>
            </a:pPr>
            <a:r>
              <a:rPr b="1" i="0" lang="en-US" sz="1950" u="none" cap="none" strike="noStrike">
                <a:solidFill>
                  <a:srgbClr val="6E2B4E"/>
                </a:solidFill>
                <a:latin typeface="Manrope"/>
                <a:ea typeface="Manrope"/>
                <a:cs typeface="Manrope"/>
                <a:sym typeface="Manrope"/>
              </a:rPr>
              <a:t>EMOTIONLAB · CAPSTONE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13"/>
          <p:cNvSpPr/>
          <p:nvPr/>
        </p:nvSpPr>
        <p:spPr>
          <a:xfrm>
            <a:off x="1785938" y="2345524"/>
            <a:ext cx="14716125" cy="216381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87529"/>
              </a:lnSpc>
              <a:spcBef>
                <a:spcPts val="0"/>
              </a:spcBef>
              <a:spcAft>
                <a:spcPts val="0"/>
              </a:spcAft>
              <a:buClr>
                <a:srgbClr val="0F3460"/>
              </a:buClr>
              <a:buSzPts val="4650"/>
              <a:buFont typeface="Manrope"/>
              <a:buNone/>
            </a:pPr>
            <a:r>
              <a:rPr b="1" i="0" lang="en-US" sz="4650" u="none" cap="none" strike="noStrike">
                <a:solidFill>
                  <a:srgbClr val="0F3460"/>
                </a:solidFill>
                <a:latin typeface="Manrope"/>
                <a:ea typeface="Manrope"/>
                <a:cs typeface="Manrope"/>
                <a:sym typeface="Manrope"/>
              </a:rPr>
              <a:t>EmotionLab entrega datos comportamentales que ayudan al docente y al psicopedagogo a acompañar mejor a sus estudiantes.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13"/>
          <p:cNvSpPr/>
          <p:nvPr/>
        </p:nvSpPr>
        <p:spPr>
          <a:xfrm>
            <a:off x="7524750" y="4996607"/>
            <a:ext cx="3003903" cy="28575"/>
          </a:xfrm>
          <a:prstGeom prst="rect">
            <a:avLst/>
          </a:prstGeom>
          <a:solidFill>
            <a:srgbClr val="6E2B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13"/>
          <p:cNvSpPr/>
          <p:nvPr/>
        </p:nvSpPr>
        <p:spPr>
          <a:xfrm>
            <a:off x="4784698" y="5566611"/>
            <a:ext cx="287427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3460"/>
              </a:buClr>
              <a:buSzPts val="2400"/>
              <a:buFont typeface="Manrope"/>
              <a:buNone/>
            </a:pPr>
            <a:r>
              <a:rPr b="1" i="0" lang="en-US" sz="2400" u="none" cap="none" strike="noStrike">
                <a:solidFill>
                  <a:srgbClr val="0F3460"/>
                </a:solidFill>
                <a:latin typeface="Manrope"/>
                <a:ea typeface="Manrope"/>
                <a:cs typeface="Manrope"/>
                <a:sym typeface="Manrope"/>
              </a:rPr>
              <a:t>Constanza Quiero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13"/>
          <p:cNvSpPr/>
          <p:nvPr/>
        </p:nvSpPr>
        <p:spPr>
          <a:xfrm>
            <a:off x="7957572" y="5566611"/>
            <a:ext cx="229129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3460"/>
              </a:buClr>
              <a:buSzPts val="2400"/>
              <a:buFont typeface="Manrope"/>
              <a:buNone/>
            </a:pPr>
            <a:r>
              <a:rPr b="1" i="0" lang="en-US" sz="2400" u="none" cap="none" strike="noStrike">
                <a:solidFill>
                  <a:srgbClr val="0F3460"/>
                </a:solidFill>
                <a:latin typeface="Manrope"/>
                <a:ea typeface="Manrope"/>
                <a:cs typeface="Manrope"/>
                <a:sym typeface="Manrope"/>
              </a:rPr>
              <a:t>Katalina Pérez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13"/>
          <p:cNvSpPr/>
          <p:nvPr/>
        </p:nvSpPr>
        <p:spPr>
          <a:xfrm>
            <a:off x="10543394" y="5566611"/>
            <a:ext cx="296398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3460"/>
              </a:buClr>
              <a:buSzPts val="2400"/>
              <a:buFont typeface="Manrope"/>
              <a:buNone/>
            </a:pPr>
            <a:r>
              <a:rPr b="1" i="0" lang="en-US" sz="2400" u="none" cap="none" strike="noStrike">
                <a:solidFill>
                  <a:srgbClr val="0F3460"/>
                </a:solidFill>
                <a:latin typeface="Manrope"/>
                <a:ea typeface="Manrope"/>
                <a:cs typeface="Manrope"/>
                <a:sym typeface="Manrope"/>
              </a:rPr>
              <a:t>Kathleen Ampuero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13"/>
          <p:cNvSpPr/>
          <p:nvPr/>
        </p:nvSpPr>
        <p:spPr>
          <a:xfrm>
            <a:off x="5823124" y="6519111"/>
            <a:ext cx="664175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2B4E"/>
              </a:buClr>
              <a:buSzPts val="2100"/>
              <a:buFont typeface="Manrope"/>
              <a:buNone/>
            </a:pPr>
            <a:r>
              <a:rPr b="1" i="0" lang="en-US" sz="2100" u="none" cap="none" strike="noStrike">
                <a:solidFill>
                  <a:srgbClr val="6E2B4E"/>
                </a:solidFill>
                <a:latin typeface="Manrope"/>
                <a:ea typeface="Manrope"/>
                <a:cs typeface="Manrope"/>
                <a:sym typeface="Manrope"/>
              </a:rPr>
              <a:t>Para indagar más sobre el proyecto, ingresa a: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13"/>
          <p:cNvSpPr/>
          <p:nvPr/>
        </p:nvSpPr>
        <p:spPr>
          <a:xfrm>
            <a:off x="4372161" y="8416082"/>
            <a:ext cx="9543529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2B4E"/>
              </a:buClr>
              <a:buSzPts val="1875"/>
              <a:buFont typeface="Manrope"/>
              <a:buNone/>
            </a:pPr>
            <a:r>
              <a:rPr b="1" i="0" lang="en-US" sz="1875" u="none" cap="none" strike="noStrike">
                <a:solidFill>
                  <a:srgbClr val="6E2B4E"/>
                </a:solidFill>
                <a:latin typeface="Manrope"/>
                <a:ea typeface="Manrope"/>
                <a:cs typeface="Manrope"/>
                <a:sym typeface="Manrope"/>
              </a:rPr>
              <a:t>DUOC UC · INGENIERÍA EN INFORMÁTICA · SEDE VIÑA DEL MAR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35" name="Google Shape;535;p13" title="github.png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69337" y="6935700"/>
            <a:ext cx="3949175" cy="146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